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65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5353" autoAdjust="0"/>
  </p:normalViewPr>
  <p:slideViewPr>
    <p:cSldViewPr snapToGrid="0" snapToObjects="1">
      <p:cViewPr varScale="1">
        <p:scale>
          <a:sx n="109" d="100"/>
          <a:sy n="109" d="100"/>
        </p:scale>
        <p:origin x="16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1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0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01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0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3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7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9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9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3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34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C34A4-D079-2E46-A144-794B2EF4B5A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7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638649"/>
            <a:ext cx="3513180" cy="17410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 Neue Light"/>
                <a:cs typeface="Helvetica Neue Light"/>
              </a:rPr>
              <a:t>Real-time Software Engineering</a:t>
            </a:r>
          </a:p>
          <a:p>
            <a:pPr algn="ctr"/>
            <a:r>
              <a:rPr lang="en-US" dirty="0">
                <a:latin typeface="Helvetica Neue Light"/>
                <a:cs typeface="Helvetica Neue Light"/>
              </a:rPr>
              <a:t>(RTSE)</a:t>
            </a:r>
          </a:p>
          <a:p>
            <a:pPr algn="ctr"/>
            <a:r>
              <a:rPr lang="en-US" dirty="0">
                <a:latin typeface="Helvetica Neue Light"/>
                <a:cs typeface="Helvetica Neue Light"/>
              </a:rPr>
              <a:t>Week 2</a:t>
            </a:r>
          </a:p>
          <a:p>
            <a:pPr algn="ct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91612" y="5028603"/>
            <a:ext cx="4043230" cy="1829397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 Neue Light"/>
                <a:cs typeface="Helvetica Neue Light"/>
              </a:rPr>
              <a:t>Department of software engineering</a:t>
            </a:r>
          </a:p>
          <a:p>
            <a:pPr algn="ctr"/>
            <a:r>
              <a:rPr lang="en-US" dirty="0">
                <a:latin typeface="Helvetica Neue Light"/>
                <a:cs typeface="Helvetica Neue Light"/>
              </a:rPr>
              <a:t>Faculty of Computing</a:t>
            </a:r>
          </a:p>
          <a:p>
            <a:pPr algn="ctr"/>
            <a:r>
              <a:rPr lang="en-US" dirty="0">
                <a:latin typeface="Helvetica Neue Light"/>
                <a:cs typeface="Helvetica Neue Light"/>
              </a:rPr>
              <a:t>UTM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180" y="-1"/>
            <a:ext cx="5630819" cy="502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364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78" y="539298"/>
            <a:ext cx="34547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1400" dirty="0">
                <a:latin typeface="Helvetica Neue Light"/>
                <a:cs typeface="Helvetica Neue Light"/>
              </a:rPr>
              <a:t>Challenges in ERT systems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>
                <a:latin typeface="Helvetica Neue Light"/>
                <a:cs typeface="Helvetica Neue Light"/>
              </a:rPr>
              <a:t>Software development lifecycle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>
                <a:latin typeface="Helvetica Neue Light"/>
                <a:cs typeface="Helvetica Neue Light"/>
              </a:rPr>
              <a:t>Software engineering essential for ERT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>
                <a:latin typeface="Helvetica Neue Light"/>
                <a:cs typeface="Helvetica Neue Light"/>
              </a:rPr>
              <a:t>Conclusion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85" y="2338535"/>
            <a:ext cx="86995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2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364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78" y="539298"/>
            <a:ext cx="50577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1400" dirty="0">
                <a:latin typeface="Helvetica Neue Light"/>
                <a:cs typeface="Helvetica Neue Light"/>
              </a:rPr>
              <a:t>Survey (2005) on embedded systems design completions –</a:t>
            </a:r>
          </a:p>
          <a:p>
            <a:r>
              <a:rPr lang="en-US" sz="1400" dirty="0">
                <a:latin typeface="Helvetica Neue Light"/>
                <a:cs typeface="Helvetica Neue Light"/>
              </a:rPr>
              <a:t>        in all applications,</a:t>
            </a:r>
            <a:r>
              <a:rPr lang="en-US" sz="1400" dirty="0">
                <a:solidFill>
                  <a:srgbClr val="CC3300"/>
                </a:solidFill>
                <a:latin typeface="Helvetica Neue Light"/>
                <a:cs typeface="Helvetica Neue Light"/>
              </a:rPr>
              <a:t> &gt; 51% are behind schedule!</a:t>
            </a:r>
          </a:p>
          <a:p>
            <a:pPr marL="285750" indent="-285750">
              <a:buFont typeface="Wingdings" charset="2"/>
              <a:buChar char="ü"/>
            </a:pPr>
            <a:endParaRPr lang="en-US" sz="1400" dirty="0">
              <a:latin typeface="Helvetica Neue Light"/>
              <a:cs typeface="Helvetica Neue Light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lum bright="-2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283" y="1277962"/>
            <a:ext cx="6324600" cy="422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498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364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8" name="Oval 7"/>
          <p:cNvSpPr/>
          <p:nvPr/>
        </p:nvSpPr>
        <p:spPr>
          <a:xfrm>
            <a:off x="1968100" y="2553967"/>
            <a:ext cx="1827212" cy="1827213"/>
          </a:xfrm>
          <a:prstGeom prst="ellipse">
            <a:avLst/>
          </a:prstGeom>
          <a:solidFill>
            <a:srgbClr val="CC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Product</a:t>
            </a:r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398604" y="2553967"/>
            <a:ext cx="1827212" cy="182721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FFFFFF"/>
                </a:solidFill>
              </a:rPr>
              <a:t>Development</a:t>
            </a:r>
            <a:endParaRPr lang="bg-BG" sz="1400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72858" y="1230220"/>
            <a:ext cx="1921657" cy="53734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Challenges</a:t>
            </a:r>
          </a:p>
        </p:txBody>
      </p:sp>
      <p:sp>
        <p:nvSpPr>
          <p:cNvPr id="2" name="Left Arrow 1"/>
          <p:cNvSpPr/>
          <p:nvPr/>
        </p:nvSpPr>
        <p:spPr>
          <a:xfrm rot="18427590">
            <a:off x="3230245" y="2100797"/>
            <a:ext cx="1015216" cy="360636"/>
          </a:xfrm>
          <a:prstGeom prst="lef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Arrow 12"/>
          <p:cNvSpPr/>
          <p:nvPr/>
        </p:nvSpPr>
        <p:spPr>
          <a:xfrm rot="14045228">
            <a:off x="4890997" y="2104127"/>
            <a:ext cx="1015216" cy="360636"/>
          </a:xfrm>
          <a:prstGeom prst="lef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 bwMode="auto">
          <a:xfrm>
            <a:off x="3727657" y="4285352"/>
            <a:ext cx="1827212" cy="18272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FFFFFF"/>
                </a:solidFill>
              </a:rPr>
              <a:t>Software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FFFFFF"/>
                </a:solidFill>
              </a:rPr>
              <a:t>Engineer</a:t>
            </a:r>
            <a:endParaRPr lang="bg-BG" sz="1400" dirty="0">
              <a:solidFill>
                <a:srgbClr val="FFFFFF"/>
              </a:solidFill>
            </a:endParaRPr>
          </a:p>
        </p:txBody>
      </p:sp>
      <p:sp>
        <p:nvSpPr>
          <p:cNvPr id="15" name="Left Arrow 14"/>
          <p:cNvSpPr/>
          <p:nvPr/>
        </p:nvSpPr>
        <p:spPr>
          <a:xfrm rot="16200000">
            <a:off x="3462322" y="2856497"/>
            <a:ext cx="2336885" cy="360636"/>
          </a:xfrm>
          <a:prstGeom prst="lef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6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Product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8" name="Oval 7"/>
          <p:cNvSpPr/>
          <p:nvPr/>
        </p:nvSpPr>
        <p:spPr>
          <a:xfrm>
            <a:off x="3421072" y="1902072"/>
            <a:ext cx="1827212" cy="1827213"/>
          </a:xfrm>
          <a:prstGeom prst="ellipse">
            <a:avLst/>
          </a:prstGeom>
          <a:solidFill>
            <a:srgbClr val="CC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Product</a:t>
            </a:r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43734" y="2547008"/>
            <a:ext cx="1921657" cy="537341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>
                <a:latin typeface="Helvetica Neue Light"/>
                <a:cs typeface="Helvetica Neue Light"/>
              </a:rPr>
              <a:t>Memory</a:t>
            </a:r>
          </a:p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373235" y="4078238"/>
            <a:ext cx="1921657" cy="537341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>
                <a:latin typeface="Helvetica Neue Light"/>
                <a:cs typeface="Helvetica Neue Light"/>
              </a:rPr>
              <a:t>Processing</a:t>
            </a:r>
          </a:p>
          <a:p>
            <a:pPr algn="ctr"/>
            <a:r>
              <a:rPr lang="en-US" sz="1600" dirty="0">
                <a:latin typeface="Helvetica Neue Light"/>
                <a:cs typeface="Helvetica Neue Light"/>
              </a:rPr>
              <a:t>power</a:t>
            </a:r>
          </a:p>
          <a:p>
            <a:pPr algn="ctr"/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5704582" y="2547008"/>
            <a:ext cx="1921657" cy="537341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8194" y="1308610"/>
            <a:ext cx="15820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Helvetica Neue Light"/>
                <a:cs typeface="Helvetica Neue Light"/>
              </a:rPr>
              <a:t>Resource</a:t>
            </a:r>
          </a:p>
          <a:p>
            <a:pPr algn="ctr"/>
            <a:r>
              <a:rPr lang="en-US" dirty="0">
                <a:latin typeface="Helvetica Neue Light"/>
                <a:cs typeface="Helvetica Neue Light"/>
              </a:rPr>
              <a:t>constraint</a:t>
            </a:r>
          </a:p>
        </p:txBody>
      </p:sp>
      <p:cxnSp>
        <p:nvCxnSpPr>
          <p:cNvPr id="13" name="Straight Arrow Connector 12"/>
          <p:cNvCxnSpPr>
            <a:stCxn id="8" idx="2"/>
            <a:endCxn id="9" idx="3"/>
          </p:cNvCxnSpPr>
          <p:nvPr/>
        </p:nvCxnSpPr>
        <p:spPr>
          <a:xfrm flipH="1">
            <a:off x="2965391" y="2815679"/>
            <a:ext cx="45568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6"/>
            <a:endCxn id="11" idx="1"/>
          </p:cNvCxnSpPr>
          <p:nvPr/>
        </p:nvCxnSpPr>
        <p:spPr>
          <a:xfrm>
            <a:off x="5248284" y="2815679"/>
            <a:ext cx="45629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4"/>
            <a:endCxn id="10" idx="0"/>
          </p:cNvCxnSpPr>
          <p:nvPr/>
        </p:nvCxnSpPr>
        <p:spPr>
          <a:xfrm flipH="1">
            <a:off x="4334064" y="3729285"/>
            <a:ext cx="614" cy="3489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67" y="3127202"/>
            <a:ext cx="1902072" cy="190207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308" y="4936067"/>
            <a:ext cx="1847528" cy="123773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027" y="4936067"/>
            <a:ext cx="1584520" cy="158452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320" y="3127202"/>
            <a:ext cx="2761552" cy="19358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3560" y="607594"/>
            <a:ext cx="7199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dirty="0">
                <a:latin typeface="Helvetica Neue Light"/>
                <a:cs typeface="Helvetica Neue Light"/>
              </a:rPr>
              <a:t>Many ERTS have </a:t>
            </a:r>
            <a:r>
              <a:rPr lang="en-US" dirty="0">
                <a:solidFill>
                  <a:srgbClr val="A50021"/>
                </a:solidFill>
                <a:latin typeface="Helvetica Neue Light"/>
                <a:cs typeface="Helvetica Neue Light"/>
              </a:rPr>
              <a:t>complex life-cycle</a:t>
            </a:r>
            <a:r>
              <a:rPr lang="en-US" dirty="0">
                <a:latin typeface="Helvetica Neue Light"/>
                <a:cs typeface="Helvetica Neue Light"/>
              </a:rPr>
              <a:t> &amp; require </a:t>
            </a:r>
            <a:r>
              <a:rPr lang="en-US" dirty="0">
                <a:solidFill>
                  <a:srgbClr val="A50021"/>
                </a:solidFill>
                <a:latin typeface="Helvetica Neue Light"/>
                <a:cs typeface="Helvetica Neue Light"/>
              </a:rPr>
              <a:t>multi-disciplinary </a:t>
            </a:r>
            <a:r>
              <a:rPr lang="en-US" dirty="0">
                <a:latin typeface="Helvetica Neue Light"/>
                <a:cs typeface="Helvetica Neue Light"/>
              </a:rPr>
              <a:t>skills</a:t>
            </a:r>
          </a:p>
        </p:txBody>
      </p:sp>
    </p:spTree>
    <p:extLst>
      <p:ext uri="{BB962C8B-B14F-4D97-AF65-F5344CB8AC3E}">
        <p14:creationId xmlns:p14="http://schemas.microsoft.com/office/powerpoint/2010/main" val="91755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097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Software engineer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3430198" y="2431761"/>
            <a:ext cx="1827212" cy="18272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FFFFFF"/>
                </a:solidFill>
              </a:rPr>
              <a:t>Software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FFFFFF"/>
                </a:solidFill>
              </a:rPr>
              <a:t>Engineer</a:t>
            </a:r>
            <a:endParaRPr lang="bg-BG" sz="140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7213" y="2009667"/>
            <a:ext cx="1921657" cy="53734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>
                <a:latin typeface="Helvetica Neue Light"/>
                <a:cs typeface="Helvetica Neue Light"/>
              </a:rPr>
              <a:t>Complex team</a:t>
            </a:r>
          </a:p>
          <a:p>
            <a:pPr algn="ctr"/>
            <a:r>
              <a:rPr lang="en-US" sz="1600" dirty="0">
                <a:latin typeface="Helvetica Neue Light"/>
                <a:cs typeface="Helvetica Neue Light"/>
              </a:rPr>
              <a:t>members</a:t>
            </a:r>
          </a:p>
          <a:p>
            <a:pPr algn="ctr"/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927213" y="3886398"/>
            <a:ext cx="1921657" cy="53734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>
                <a:latin typeface="Helvetica Neue Light"/>
                <a:cs typeface="Helvetica Neue Light"/>
              </a:rPr>
              <a:t>Large team</a:t>
            </a:r>
          </a:p>
          <a:p>
            <a:pPr algn="ctr"/>
            <a:r>
              <a:rPr lang="en-US" sz="1600" dirty="0">
                <a:latin typeface="Helvetica Neue Light"/>
                <a:cs typeface="Helvetica Neue Light"/>
              </a:rPr>
              <a:t>members</a:t>
            </a:r>
          </a:p>
          <a:p>
            <a:pPr algn="ctr"/>
            <a:endParaRPr lang="en-US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803997" y="4447041"/>
            <a:ext cx="37497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dirty="0">
                <a:latin typeface="Helvetica Neue Light"/>
                <a:cs typeface="Helvetica Neue Light"/>
              </a:rPr>
              <a:t>team of s/w engineers is required </a:t>
            </a:r>
          </a:p>
          <a:p>
            <a:r>
              <a:rPr lang="en-US" dirty="0">
                <a:latin typeface="Helvetica Neue Light"/>
                <a:cs typeface="Helvetica Neue Light"/>
              </a:rPr>
              <a:t>to complete the work in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740" y="1211691"/>
            <a:ext cx="3982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dirty="0">
                <a:latin typeface="Helvetica Neue Light"/>
                <a:cs typeface="Helvetica Neue Light"/>
              </a:rPr>
              <a:t>not many s/w engineers have the </a:t>
            </a:r>
          </a:p>
          <a:p>
            <a:r>
              <a:rPr lang="en-US" dirty="0">
                <a:latin typeface="Helvetica Neue Light"/>
                <a:cs typeface="Helvetica Neue Light"/>
              </a:rPr>
              <a:t>multi-disciplinary skill required in ERTS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135" y="2175247"/>
            <a:ext cx="3298522" cy="224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51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53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Software development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7096565" y="1395148"/>
            <a:ext cx="1827212" cy="182721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FFFFFF"/>
                </a:solidFill>
              </a:rPr>
              <a:t>Development</a:t>
            </a:r>
            <a:endParaRPr lang="bg-BG" sz="1400" dirty="0">
              <a:solidFill>
                <a:srgbClr val="FFFFFF"/>
              </a:solidFill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lum bright="-2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29" y="731048"/>
            <a:ext cx="6865694" cy="350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09248" y="5025026"/>
            <a:ext cx="499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ja-JP" altLang="en-US" dirty="0">
                <a:solidFill>
                  <a:srgbClr val="990033"/>
                </a:solidFill>
                <a:latin typeface="Helvetica Neue Light"/>
                <a:cs typeface="Helvetica Neue Light"/>
              </a:rPr>
              <a:t>“</a:t>
            </a:r>
            <a:r>
              <a:rPr lang="en-US" altLang="ja-JP" dirty="0">
                <a:solidFill>
                  <a:srgbClr val="990033"/>
                </a:solidFill>
                <a:latin typeface="Helvetica Neue Light"/>
                <a:cs typeface="Helvetica Neue Light"/>
              </a:rPr>
              <a:t>One size fits all</a:t>
            </a:r>
            <a:r>
              <a:rPr lang="ja-JP" altLang="en-US" dirty="0">
                <a:solidFill>
                  <a:srgbClr val="990033"/>
                </a:solidFill>
                <a:latin typeface="Helvetica Neue Light"/>
                <a:cs typeface="Helvetica Neue Light"/>
              </a:rPr>
              <a:t>”</a:t>
            </a:r>
            <a:r>
              <a:rPr lang="en-US" altLang="ja-JP" dirty="0">
                <a:latin typeface="Helvetica Neue Light"/>
                <a:cs typeface="Helvetica Neue Light"/>
              </a:rPr>
              <a:t> technology no longer works</a:t>
            </a:r>
            <a:endParaRPr lang="en-US" dirty="0"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4751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25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Software Development for 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905000"/>
            <a:ext cx="88900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51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25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Software Development for 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6" y="665856"/>
            <a:ext cx="4023477" cy="21946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666" y="656929"/>
            <a:ext cx="3755319" cy="23650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80" y="3021981"/>
            <a:ext cx="3505951" cy="34644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3653" y="3343318"/>
            <a:ext cx="2946805" cy="31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25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Software Development for 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963" y="5463730"/>
            <a:ext cx="1921657" cy="53734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/>
              <a:t>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7430" y="5463730"/>
            <a:ext cx="1921657" cy="5373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/>
              <a:t>Architecture &amp;</a:t>
            </a:r>
          </a:p>
          <a:p>
            <a:pPr algn="ctr"/>
            <a:r>
              <a:rPr lang="en-US" sz="1600" dirty="0"/>
              <a:t>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4218" y="5463730"/>
            <a:ext cx="1921657" cy="53734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/>
              <a:t>Implementation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2343" y="5458223"/>
            <a:ext cx="1921657" cy="53734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/>
              <a:t>Verification &amp;</a:t>
            </a:r>
          </a:p>
          <a:p>
            <a:pPr algn="ctr"/>
            <a:r>
              <a:rPr lang="en-US" sz="1600" dirty="0"/>
              <a:t>Validation</a:t>
            </a:r>
          </a:p>
        </p:txBody>
      </p:sp>
      <p:cxnSp>
        <p:nvCxnSpPr>
          <p:cNvPr id="14" name="Straight Arrow Connector 13"/>
          <p:cNvCxnSpPr>
            <a:stCxn id="10" idx="3"/>
            <a:endCxn id="11" idx="1"/>
          </p:cNvCxnSpPr>
          <p:nvPr/>
        </p:nvCxnSpPr>
        <p:spPr>
          <a:xfrm>
            <a:off x="2196620" y="5732401"/>
            <a:ext cx="4008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3"/>
            <a:endCxn id="12" idx="1"/>
          </p:cNvCxnSpPr>
          <p:nvPr/>
        </p:nvCxnSpPr>
        <p:spPr>
          <a:xfrm>
            <a:off x="4519087" y="5732401"/>
            <a:ext cx="43513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3"/>
            <a:endCxn id="13" idx="1"/>
          </p:cNvCxnSpPr>
          <p:nvPr/>
        </p:nvCxnSpPr>
        <p:spPr>
          <a:xfrm flipV="1">
            <a:off x="6875875" y="5726894"/>
            <a:ext cx="346468" cy="55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90" y="557251"/>
            <a:ext cx="5478463" cy="333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29887" y="4054507"/>
            <a:ext cx="32496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dirty="0">
                <a:latin typeface="Helvetica Neue Light"/>
                <a:cs typeface="Helvetica Neue Light"/>
              </a:rPr>
              <a:t>Clear software development</a:t>
            </a:r>
          </a:p>
          <a:p>
            <a:r>
              <a:rPr lang="en-US" dirty="0">
                <a:solidFill>
                  <a:srgbClr val="FF0000"/>
                </a:solidFill>
                <a:latin typeface="Helvetica Neue Light"/>
                <a:cs typeface="Helvetica Neue Light"/>
              </a:rPr>
              <a:t>Framework</a:t>
            </a:r>
            <a:r>
              <a:rPr lang="en-US" dirty="0">
                <a:latin typeface="Helvetica Neue Light"/>
                <a:cs typeface="Helvetica Neue Light"/>
              </a:rPr>
              <a:t> will ensure the</a:t>
            </a:r>
          </a:p>
          <a:p>
            <a:r>
              <a:rPr lang="en-US" dirty="0">
                <a:latin typeface="Helvetica Neue Light"/>
                <a:cs typeface="Helvetica Neue Light"/>
              </a:rPr>
              <a:t>Successful of ERT system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883" y="1101421"/>
            <a:ext cx="3424117" cy="237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2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7296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Software Development for ERT…example for requirements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123702" y="649329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/>
              <a:t>Autonomous Mobile Robot Requirement</a:t>
            </a:r>
          </a:p>
          <a:p>
            <a:pPr algn="ctr"/>
            <a:r>
              <a:rPr lang="en-US" dirty="0"/>
              <a:t>The AMR</a:t>
            </a:r>
            <a:r>
              <a:rPr lang="en-US" b="1" dirty="0"/>
              <a:t> </a:t>
            </a:r>
            <a:r>
              <a:rPr lang="en-US" dirty="0"/>
              <a:t>consists of a body and a pair of wheels. Each drive wheel is move by a </a:t>
            </a:r>
            <a:r>
              <a:rPr lang="en-US" dirty="0">
                <a:solidFill>
                  <a:schemeClr val="hlink"/>
                </a:solidFill>
              </a:rPr>
              <a:t>direct-current (DC)</a:t>
            </a:r>
            <a:r>
              <a:rPr lang="en-US" dirty="0"/>
              <a:t> motor. The speeds of the motors are sensed using </a:t>
            </a:r>
            <a:r>
              <a:rPr lang="en-US" dirty="0">
                <a:solidFill>
                  <a:schemeClr val="hlink"/>
                </a:solidFill>
              </a:rPr>
              <a:t>shaft encoders</a:t>
            </a:r>
            <a:r>
              <a:rPr lang="en-US" dirty="0"/>
              <a:t> and fed back to the embedded controller for computation of control signal to the DC motor every </a:t>
            </a:r>
            <a:r>
              <a:rPr lang="en-US" dirty="0">
                <a:solidFill>
                  <a:srgbClr val="FF3300"/>
                </a:solidFill>
              </a:rPr>
              <a:t>100 milliseconds</a:t>
            </a:r>
            <a:r>
              <a:rPr lang="en-US" dirty="0"/>
              <a:t> using the proportional-integral (PI) control algorithm.  The embedded controller also monitors the robot environment using </a:t>
            </a:r>
            <a:r>
              <a:rPr lang="en-US" dirty="0">
                <a:solidFill>
                  <a:schemeClr val="hlink"/>
                </a:solidFill>
              </a:rPr>
              <a:t>four infrared (IR)</a:t>
            </a:r>
            <a:r>
              <a:rPr lang="en-US" dirty="0"/>
              <a:t> proximity sensors and </a:t>
            </a:r>
            <a:r>
              <a:rPr lang="en-US" dirty="0">
                <a:solidFill>
                  <a:srgbClr val="009900"/>
                </a:solidFill>
              </a:rPr>
              <a:t>communicates with human using Liquid Crystal Display (LCD)</a:t>
            </a:r>
            <a:r>
              <a:rPr lang="en-US" dirty="0"/>
              <a:t> </a:t>
            </a:r>
            <a:r>
              <a:rPr lang="en-US" dirty="0">
                <a:solidFill>
                  <a:srgbClr val="009900"/>
                </a:solidFill>
              </a:rPr>
              <a:t>and switches</a:t>
            </a:r>
            <a:r>
              <a:rPr lang="en-US" dirty="0"/>
              <a:t>. </a:t>
            </a:r>
          </a:p>
        </p:txBody>
      </p:sp>
      <p:pic>
        <p:nvPicPr>
          <p:cNvPr id="7" name="Picture 8" descr="P93000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060" y="649329"/>
            <a:ext cx="2971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775787" y="2943859"/>
            <a:ext cx="4233070" cy="236834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Issues that must be addressed in the requirement specification phase for ERT system are :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/>
              <a:t>functional modeling, 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/>
              <a:t>behavior modeling, 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solidFill>
                  <a:srgbClr val="FF3300"/>
                </a:solidFill>
              </a:rPr>
              <a:t>timing</a:t>
            </a:r>
            <a:r>
              <a:rPr lang="en-US" dirty="0"/>
              <a:t>, 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solidFill>
                  <a:srgbClr val="009900"/>
                </a:solidFill>
              </a:rPr>
              <a:t>man-machine interface</a:t>
            </a:r>
            <a:r>
              <a:rPr lang="en-US" dirty="0"/>
              <a:t> and 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solidFill>
                  <a:schemeClr val="hlink"/>
                </a:solidFill>
              </a:rPr>
              <a:t>hardware-software interface</a:t>
            </a:r>
            <a:r>
              <a:rPr lang="en-US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2343" y="6070581"/>
            <a:ext cx="1921657" cy="53734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/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38084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25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Software Development for 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2343" y="6064646"/>
            <a:ext cx="1921657" cy="5373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/>
              <a:t>Architecture &amp;</a:t>
            </a:r>
          </a:p>
          <a:p>
            <a:pPr algn="ctr"/>
            <a:r>
              <a:rPr lang="en-US" sz="1600" dirty="0"/>
              <a:t>Design</a:t>
            </a:r>
          </a:p>
        </p:txBody>
      </p:sp>
      <p:sp>
        <p:nvSpPr>
          <p:cNvPr id="11" name="Arc 10"/>
          <p:cNvSpPr/>
          <p:nvPr/>
        </p:nvSpPr>
        <p:spPr>
          <a:xfrm rot="8095012">
            <a:off x="3156035" y="1475007"/>
            <a:ext cx="1119187" cy="1152525"/>
          </a:xfrm>
          <a:prstGeom prst="arc">
            <a:avLst/>
          </a:prstGeom>
          <a:ln w="19050">
            <a:solidFill>
              <a:srgbClr val="FF99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bg-BG"/>
          </a:p>
        </p:txBody>
      </p:sp>
      <p:sp>
        <p:nvSpPr>
          <p:cNvPr id="12" name="Arc 11"/>
          <p:cNvSpPr/>
          <p:nvPr/>
        </p:nvSpPr>
        <p:spPr>
          <a:xfrm rot="8095012">
            <a:off x="5422985" y="1475007"/>
            <a:ext cx="1119187" cy="1152525"/>
          </a:xfrm>
          <a:prstGeom prst="arc">
            <a:avLst/>
          </a:prstGeom>
          <a:ln w="19050">
            <a:solidFill>
              <a:srgbClr val="FF99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bg-BG"/>
          </a:p>
        </p:txBody>
      </p:sp>
      <p:sp>
        <p:nvSpPr>
          <p:cNvPr id="13" name="Arc 12"/>
          <p:cNvSpPr/>
          <p:nvPr/>
        </p:nvSpPr>
        <p:spPr>
          <a:xfrm rot="18636742">
            <a:off x="5464260" y="860645"/>
            <a:ext cx="1120775" cy="1150937"/>
          </a:xfrm>
          <a:prstGeom prst="arc">
            <a:avLst>
              <a:gd name="adj1" fmla="val 16200000"/>
              <a:gd name="adj2" fmla="val 406277"/>
            </a:avLst>
          </a:prstGeom>
          <a:ln w="19050">
            <a:solidFill>
              <a:srgbClr val="CC33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bg-BG"/>
          </a:p>
        </p:txBody>
      </p:sp>
      <p:sp>
        <p:nvSpPr>
          <p:cNvPr id="14" name="Arc 13"/>
          <p:cNvSpPr/>
          <p:nvPr/>
        </p:nvSpPr>
        <p:spPr>
          <a:xfrm rot="18636742">
            <a:off x="3179847" y="860645"/>
            <a:ext cx="1120775" cy="1150938"/>
          </a:xfrm>
          <a:prstGeom prst="arc">
            <a:avLst>
              <a:gd name="adj1" fmla="val 16200000"/>
              <a:gd name="adj2" fmla="val 406277"/>
            </a:avLst>
          </a:prstGeom>
          <a:ln w="19050">
            <a:solidFill>
              <a:srgbClr val="CC33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bg-BG"/>
          </a:p>
        </p:txBody>
      </p:sp>
      <p:sp>
        <p:nvSpPr>
          <p:cNvPr id="15" name="Oval 14"/>
          <p:cNvSpPr/>
          <p:nvPr/>
        </p:nvSpPr>
        <p:spPr>
          <a:xfrm>
            <a:off x="1637862" y="842388"/>
            <a:ext cx="1827212" cy="1827213"/>
          </a:xfrm>
          <a:prstGeom prst="ellipse">
            <a:avLst/>
          </a:prstGeom>
          <a:solidFill>
            <a:srgbClr val="CC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Modeling</a:t>
            </a:r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3955341" y="842388"/>
            <a:ext cx="1827213" cy="18272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FFFFF"/>
                </a:solidFill>
              </a:rPr>
              <a:t>Object Oriented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FFFFF"/>
                </a:solidFill>
              </a:rPr>
              <a:t>Technology</a:t>
            </a:r>
            <a:endParaRPr lang="bg-BG" dirty="0">
              <a:solidFill>
                <a:srgbClr val="FFFFFF"/>
              </a:solidFill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6223879" y="842388"/>
            <a:ext cx="1827212" cy="1827213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FFFFF"/>
                </a:solidFill>
              </a:rPr>
              <a:t>Scheduling</a:t>
            </a:r>
            <a:endParaRPr lang="bg-BG" dirty="0">
              <a:solidFill>
                <a:srgbClr val="FFFF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34" y="2761217"/>
            <a:ext cx="2817255" cy="22565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347" y="2809861"/>
            <a:ext cx="2441714" cy="220793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41" y="5113079"/>
            <a:ext cx="1624872" cy="115509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728" y="2761217"/>
            <a:ext cx="2614717" cy="150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252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Software Development for ERT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2343" y="6070581"/>
            <a:ext cx="1921657" cy="53734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/>
              <a:t>Implementation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364657" y="651430"/>
            <a:ext cx="6944662" cy="3670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90000"/>
              </a:lnSpc>
              <a:spcBef>
                <a:spcPct val="20000"/>
              </a:spcBef>
              <a:buFont typeface="Wingdings" charset="2"/>
              <a:buChar char="ü"/>
            </a:pPr>
            <a:r>
              <a:rPr lang="en-US" dirty="0">
                <a:latin typeface="Helvetica Neue Light"/>
                <a:cs typeface="Helvetica Neue Light"/>
              </a:rPr>
              <a:t>ERT can be implemented on a </a:t>
            </a:r>
            <a:r>
              <a:rPr lang="en-US" dirty="0">
                <a:solidFill>
                  <a:srgbClr val="FF3300"/>
                </a:solidFill>
                <a:latin typeface="Helvetica Neue Light"/>
                <a:cs typeface="Helvetica Neue Light"/>
              </a:rPr>
              <a:t>single</a:t>
            </a:r>
            <a:r>
              <a:rPr lang="en-US" dirty="0">
                <a:latin typeface="Helvetica Neue Light"/>
                <a:cs typeface="Helvetica Neue Light"/>
              </a:rPr>
              <a:t> or </a:t>
            </a:r>
            <a:r>
              <a:rPr lang="en-US" dirty="0">
                <a:solidFill>
                  <a:srgbClr val="FF3300"/>
                </a:solidFill>
                <a:latin typeface="Helvetica Neue Light"/>
                <a:cs typeface="Helvetica Neue Light"/>
              </a:rPr>
              <a:t>multi processor</a:t>
            </a:r>
            <a:r>
              <a:rPr lang="en-US" dirty="0">
                <a:latin typeface="Helvetica Neue Light"/>
                <a:cs typeface="Helvetica Neue Light"/>
              </a:rPr>
              <a:t> and multi tasks are designed to run on one single processor.</a:t>
            </a:r>
          </a:p>
          <a:p>
            <a:pPr marL="495300" indent="-495300" algn="just">
              <a:lnSpc>
                <a:spcPct val="90000"/>
              </a:lnSpc>
              <a:spcBef>
                <a:spcPct val="20000"/>
              </a:spcBef>
              <a:buFont typeface="Wingdings" charset="0"/>
              <a:buChar char="v"/>
            </a:pPr>
            <a:endParaRPr lang="en-US" dirty="0">
              <a:latin typeface="Helvetica Neue Light"/>
              <a:cs typeface="Helvetica Neue Light"/>
            </a:endParaRPr>
          </a:p>
          <a:p>
            <a:pPr marL="285750" indent="-285750" algn="just">
              <a:lnSpc>
                <a:spcPct val="90000"/>
              </a:lnSpc>
              <a:spcBef>
                <a:spcPct val="20000"/>
              </a:spcBef>
              <a:buFont typeface="Wingdings" charset="2"/>
              <a:buChar char="ü"/>
            </a:pPr>
            <a:r>
              <a:rPr lang="en-US" dirty="0">
                <a:latin typeface="Helvetica Neue Light"/>
                <a:cs typeface="Helvetica Neue Light"/>
              </a:rPr>
              <a:t>To implement multitasking or concurrency in ERTS, 2 software engineering principles need to be considered (Burn and Welling, 1996) are: </a:t>
            </a:r>
          </a:p>
          <a:p>
            <a:pPr marL="952500" lvl="1" indent="-4953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solidFill>
                  <a:srgbClr val="FF3300"/>
                </a:solidFill>
                <a:latin typeface="Helvetica Neue Light"/>
                <a:cs typeface="Helvetica Neue Light"/>
              </a:rPr>
              <a:t>real-time design methodology</a:t>
            </a:r>
            <a:r>
              <a:rPr lang="en-US" dirty="0">
                <a:latin typeface="Helvetica Neue Light"/>
                <a:cs typeface="Helvetica Neue Light"/>
              </a:rPr>
              <a:t>, which leads naturally into multitasking or concurrency implementation.</a:t>
            </a:r>
          </a:p>
          <a:p>
            <a:pPr marL="952500" lvl="1" indent="-4953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latin typeface="Helvetica Neue Light"/>
                <a:cs typeface="Helvetica Neue Light"/>
              </a:rPr>
              <a:t>how to undertake or </a:t>
            </a:r>
            <a:r>
              <a:rPr lang="en-US" dirty="0">
                <a:solidFill>
                  <a:srgbClr val="FF3300"/>
                </a:solidFill>
                <a:latin typeface="Helvetica Neue Light"/>
                <a:cs typeface="Helvetica Neue Light"/>
              </a:rPr>
              <a:t>support multitasking and concurrency in the implementation stage</a:t>
            </a:r>
            <a:r>
              <a:rPr lang="en-US" dirty="0">
                <a:latin typeface="Helvetica Neue Light"/>
                <a:cs typeface="Helvetica Neue Light"/>
              </a:rPr>
              <a:t>. There are 2 ways to support the factor either </a:t>
            </a:r>
          </a:p>
          <a:p>
            <a:pPr marL="1409700" lvl="2" indent="-4953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romanLcPeriod"/>
            </a:pPr>
            <a:r>
              <a:rPr lang="en-US" dirty="0">
                <a:latin typeface="Helvetica Neue Light"/>
                <a:cs typeface="Helvetica Neue Light"/>
              </a:rPr>
              <a:t>using concurrent real-time language (e.g. ADA) or </a:t>
            </a:r>
          </a:p>
          <a:p>
            <a:pPr marL="1409700" lvl="2" indent="-4953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romanLcPeriod"/>
            </a:pPr>
            <a:r>
              <a:rPr lang="en-US" dirty="0">
                <a:latin typeface="Helvetica Neue Light"/>
                <a:cs typeface="Helvetica Neue Light"/>
              </a:rPr>
              <a:t>use a sequential language together with a RTOS.</a:t>
            </a:r>
          </a:p>
        </p:txBody>
      </p:sp>
    </p:spTree>
    <p:extLst>
      <p:ext uri="{BB962C8B-B14F-4D97-AF65-F5344CB8AC3E}">
        <p14:creationId xmlns:p14="http://schemas.microsoft.com/office/powerpoint/2010/main" val="325787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252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Software Development for ERT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2343" y="6065074"/>
            <a:ext cx="1921657" cy="53734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600" dirty="0"/>
              <a:t>Verification &amp;</a:t>
            </a:r>
          </a:p>
          <a:p>
            <a:pPr algn="ctr"/>
            <a:r>
              <a:rPr lang="en-US" sz="1600" dirty="0"/>
              <a:t>Validation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62" y="1087561"/>
            <a:ext cx="2374795" cy="13358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519" y="630896"/>
            <a:ext cx="1484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 Light"/>
                <a:cs typeface="Helvetica Neue Light"/>
              </a:rPr>
              <a:t>Programmer</a:t>
            </a:r>
          </a:p>
        </p:txBody>
      </p:sp>
      <p:sp>
        <p:nvSpPr>
          <p:cNvPr id="9" name="Plus 8"/>
          <p:cNvSpPr/>
          <p:nvPr/>
        </p:nvSpPr>
        <p:spPr>
          <a:xfrm>
            <a:off x="3134420" y="1293247"/>
            <a:ext cx="914400" cy="914400"/>
          </a:xfrm>
          <a:prstGeom prst="mathPlus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679" y="1087561"/>
            <a:ext cx="4319727" cy="19438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8983" y="630896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 Light"/>
                <a:cs typeface="Helvetica Neue Light"/>
              </a:rPr>
              <a:t>simulator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4999" y="3487500"/>
            <a:ext cx="6235360" cy="2008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90000"/>
              </a:lnSpc>
              <a:spcBef>
                <a:spcPct val="20000"/>
              </a:spcBef>
              <a:buFont typeface="Wingdings" charset="2"/>
              <a:buChar char="ü"/>
            </a:pPr>
            <a:r>
              <a:rPr lang="en-US" dirty="0">
                <a:latin typeface="Helvetica Neue Light"/>
                <a:cs typeface="Helvetica Neue Light"/>
              </a:rPr>
              <a:t>Main advantages of the proposed simulation strategy are: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latin typeface="Helvetica Neue Light"/>
                <a:cs typeface="Helvetica Neue Light"/>
              </a:rPr>
              <a:t>Testing can be done concurrently with the dev. of robot H/W.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latin typeface="Helvetica Neue Light"/>
                <a:cs typeface="Helvetica Neue Light"/>
              </a:rPr>
              <a:t>Communication through the H/W interface provides isolation between dev. of simulation.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latin typeface="Helvetica Neue Light"/>
                <a:cs typeface="Helvetica Neue Light"/>
              </a:rPr>
              <a:t>Code for H/W interface is similar and provide realistic timing to the actual robot H/W interface.</a:t>
            </a:r>
          </a:p>
        </p:txBody>
      </p:sp>
    </p:spTree>
    <p:extLst>
      <p:ext uri="{BB962C8B-B14F-4D97-AF65-F5344CB8AC3E}">
        <p14:creationId xmlns:p14="http://schemas.microsoft.com/office/powerpoint/2010/main" val="424903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4483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Interest of software engineer in ERT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1009455" y="3240726"/>
            <a:ext cx="5970164" cy="108681"/>
          </a:xfrm>
          <a:custGeom>
            <a:avLst/>
            <a:gdLst>
              <a:gd name="T0" fmla="*/ 4253 w 4253"/>
              <a:gd name="T1" fmla="*/ 0 h 53"/>
              <a:gd name="T2" fmla="*/ 4253 w 4253"/>
              <a:gd name="T3" fmla="*/ 53 h 53"/>
              <a:gd name="T4" fmla="*/ 0 w 4253"/>
              <a:gd name="T5" fmla="*/ 53 h 53"/>
              <a:gd name="T6" fmla="*/ 0 w 4253"/>
              <a:gd name="T7" fmla="*/ 0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253" h="53">
                <a:moveTo>
                  <a:pt x="4253" y="0"/>
                </a:moveTo>
                <a:lnTo>
                  <a:pt x="4253" y="53"/>
                </a:lnTo>
                <a:lnTo>
                  <a:pt x="0" y="53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320294" y="3097890"/>
            <a:ext cx="339098" cy="375255"/>
            <a:chOff x="1557337" y="3478212"/>
            <a:chExt cx="285750" cy="2905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1576387" y="3498850"/>
              <a:ext cx="246063" cy="250825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557337" y="3478212"/>
              <a:ext cx="285750" cy="290513"/>
            </a:xfrm>
            <a:custGeom>
              <a:avLst/>
              <a:gdLst>
                <a:gd name="T0" fmla="*/ 29 w 58"/>
                <a:gd name="T1" fmla="*/ 8 h 59"/>
                <a:gd name="T2" fmla="*/ 50 w 58"/>
                <a:gd name="T3" fmla="*/ 29 h 59"/>
                <a:gd name="T4" fmla="*/ 29 w 58"/>
                <a:gd name="T5" fmla="*/ 51 h 59"/>
                <a:gd name="T6" fmla="*/ 8 w 58"/>
                <a:gd name="T7" fmla="*/ 29 h 59"/>
                <a:gd name="T8" fmla="*/ 29 w 58"/>
                <a:gd name="T9" fmla="*/ 8 h 59"/>
                <a:gd name="T10" fmla="*/ 29 w 58"/>
                <a:gd name="T11" fmla="*/ 0 h 59"/>
                <a:gd name="T12" fmla="*/ 0 w 58"/>
                <a:gd name="T13" fmla="*/ 29 h 59"/>
                <a:gd name="T14" fmla="*/ 29 w 58"/>
                <a:gd name="T15" fmla="*/ 59 h 59"/>
                <a:gd name="T16" fmla="*/ 58 w 58"/>
                <a:gd name="T17" fmla="*/ 29 h 59"/>
                <a:gd name="T18" fmla="*/ 29 w 58"/>
                <a:gd name="T1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9">
                  <a:moveTo>
                    <a:pt x="29" y="8"/>
                  </a:moveTo>
                  <a:cubicBezTo>
                    <a:pt x="41" y="8"/>
                    <a:pt x="50" y="18"/>
                    <a:pt x="50" y="29"/>
                  </a:cubicBezTo>
                  <a:cubicBezTo>
                    <a:pt x="50" y="41"/>
                    <a:pt x="41" y="51"/>
                    <a:pt x="29" y="51"/>
                  </a:cubicBezTo>
                  <a:cubicBezTo>
                    <a:pt x="18" y="51"/>
                    <a:pt x="8" y="41"/>
                    <a:pt x="8" y="29"/>
                  </a:cubicBezTo>
                  <a:cubicBezTo>
                    <a:pt x="8" y="18"/>
                    <a:pt x="18" y="8"/>
                    <a:pt x="29" y="8"/>
                  </a:cubicBezTo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6"/>
                    <a:pt x="13" y="59"/>
                    <a:pt x="29" y="59"/>
                  </a:cubicBezTo>
                  <a:cubicBezTo>
                    <a:pt x="45" y="59"/>
                    <a:pt x="58" y="46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922274" y="3097890"/>
            <a:ext cx="339098" cy="375255"/>
            <a:chOff x="4592637" y="3478212"/>
            <a:chExt cx="285750" cy="290513"/>
          </a:xfrm>
          <a:solidFill>
            <a:srgbClr val="003366"/>
          </a:solidFill>
        </p:grpSpPr>
        <p:sp>
          <p:nvSpPr>
            <p:cNvPr id="15" name="Oval 11"/>
            <p:cNvSpPr>
              <a:spLocks noChangeArrowheads="1"/>
            </p:cNvSpPr>
            <p:nvPr/>
          </p:nvSpPr>
          <p:spPr bwMode="auto">
            <a:xfrm>
              <a:off x="4611687" y="3498850"/>
              <a:ext cx="246063" cy="250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2"/>
            <p:cNvSpPr>
              <a:spLocks noEditPoints="1"/>
            </p:cNvSpPr>
            <p:nvPr/>
          </p:nvSpPr>
          <p:spPr bwMode="auto">
            <a:xfrm>
              <a:off x="4592637" y="3478212"/>
              <a:ext cx="285750" cy="290513"/>
            </a:xfrm>
            <a:custGeom>
              <a:avLst/>
              <a:gdLst>
                <a:gd name="T0" fmla="*/ 29 w 58"/>
                <a:gd name="T1" fmla="*/ 8 h 59"/>
                <a:gd name="T2" fmla="*/ 50 w 58"/>
                <a:gd name="T3" fmla="*/ 29 h 59"/>
                <a:gd name="T4" fmla="*/ 29 w 58"/>
                <a:gd name="T5" fmla="*/ 51 h 59"/>
                <a:gd name="T6" fmla="*/ 8 w 58"/>
                <a:gd name="T7" fmla="*/ 29 h 59"/>
                <a:gd name="T8" fmla="*/ 29 w 58"/>
                <a:gd name="T9" fmla="*/ 8 h 59"/>
                <a:gd name="T10" fmla="*/ 29 w 58"/>
                <a:gd name="T11" fmla="*/ 0 h 59"/>
                <a:gd name="T12" fmla="*/ 0 w 58"/>
                <a:gd name="T13" fmla="*/ 29 h 59"/>
                <a:gd name="T14" fmla="*/ 29 w 58"/>
                <a:gd name="T15" fmla="*/ 59 h 59"/>
                <a:gd name="T16" fmla="*/ 58 w 58"/>
                <a:gd name="T17" fmla="*/ 29 h 59"/>
                <a:gd name="T18" fmla="*/ 29 w 58"/>
                <a:gd name="T1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9">
                  <a:moveTo>
                    <a:pt x="29" y="8"/>
                  </a:moveTo>
                  <a:cubicBezTo>
                    <a:pt x="41" y="8"/>
                    <a:pt x="50" y="18"/>
                    <a:pt x="50" y="29"/>
                  </a:cubicBezTo>
                  <a:cubicBezTo>
                    <a:pt x="50" y="41"/>
                    <a:pt x="41" y="51"/>
                    <a:pt x="29" y="51"/>
                  </a:cubicBezTo>
                  <a:cubicBezTo>
                    <a:pt x="18" y="51"/>
                    <a:pt x="8" y="41"/>
                    <a:pt x="8" y="29"/>
                  </a:cubicBezTo>
                  <a:cubicBezTo>
                    <a:pt x="8" y="18"/>
                    <a:pt x="18" y="8"/>
                    <a:pt x="29" y="8"/>
                  </a:cubicBezTo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6"/>
                    <a:pt x="13" y="59"/>
                    <a:pt x="29" y="59"/>
                  </a:cubicBezTo>
                  <a:cubicBezTo>
                    <a:pt x="45" y="59"/>
                    <a:pt x="58" y="46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22460" y="3117615"/>
            <a:ext cx="339098" cy="375255"/>
            <a:chOff x="5519737" y="3493483"/>
            <a:chExt cx="285750" cy="290513"/>
          </a:xfrm>
          <a:solidFill>
            <a:srgbClr val="7030A0"/>
          </a:solidFill>
        </p:grpSpPr>
        <p:sp>
          <p:nvSpPr>
            <p:cNvPr id="18" name="Oval 13"/>
            <p:cNvSpPr>
              <a:spLocks noChangeArrowheads="1"/>
            </p:cNvSpPr>
            <p:nvPr/>
          </p:nvSpPr>
          <p:spPr bwMode="auto">
            <a:xfrm>
              <a:off x="5545070" y="3498850"/>
              <a:ext cx="247650" cy="250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4"/>
            <p:cNvSpPr>
              <a:spLocks noEditPoints="1"/>
            </p:cNvSpPr>
            <p:nvPr/>
          </p:nvSpPr>
          <p:spPr bwMode="auto">
            <a:xfrm>
              <a:off x="5519737" y="3493483"/>
              <a:ext cx="285750" cy="290513"/>
            </a:xfrm>
            <a:custGeom>
              <a:avLst/>
              <a:gdLst>
                <a:gd name="T0" fmla="*/ 29 w 58"/>
                <a:gd name="T1" fmla="*/ 8 h 59"/>
                <a:gd name="T2" fmla="*/ 50 w 58"/>
                <a:gd name="T3" fmla="*/ 29 h 59"/>
                <a:gd name="T4" fmla="*/ 29 w 58"/>
                <a:gd name="T5" fmla="*/ 51 h 59"/>
                <a:gd name="T6" fmla="*/ 8 w 58"/>
                <a:gd name="T7" fmla="*/ 29 h 59"/>
                <a:gd name="T8" fmla="*/ 29 w 58"/>
                <a:gd name="T9" fmla="*/ 8 h 59"/>
                <a:gd name="T10" fmla="*/ 29 w 58"/>
                <a:gd name="T11" fmla="*/ 0 h 59"/>
                <a:gd name="T12" fmla="*/ 0 w 58"/>
                <a:gd name="T13" fmla="*/ 29 h 59"/>
                <a:gd name="T14" fmla="*/ 29 w 58"/>
                <a:gd name="T15" fmla="*/ 59 h 59"/>
                <a:gd name="T16" fmla="*/ 58 w 58"/>
                <a:gd name="T17" fmla="*/ 29 h 59"/>
                <a:gd name="T18" fmla="*/ 29 w 58"/>
                <a:gd name="T1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9">
                  <a:moveTo>
                    <a:pt x="29" y="8"/>
                  </a:moveTo>
                  <a:cubicBezTo>
                    <a:pt x="40" y="8"/>
                    <a:pt x="50" y="18"/>
                    <a:pt x="50" y="29"/>
                  </a:cubicBezTo>
                  <a:cubicBezTo>
                    <a:pt x="50" y="41"/>
                    <a:pt x="40" y="51"/>
                    <a:pt x="29" y="51"/>
                  </a:cubicBezTo>
                  <a:cubicBezTo>
                    <a:pt x="17" y="51"/>
                    <a:pt x="8" y="41"/>
                    <a:pt x="8" y="29"/>
                  </a:cubicBezTo>
                  <a:cubicBezTo>
                    <a:pt x="8" y="18"/>
                    <a:pt x="17" y="8"/>
                    <a:pt x="29" y="8"/>
                  </a:cubicBezTo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6"/>
                    <a:pt x="13" y="59"/>
                    <a:pt x="29" y="59"/>
                  </a:cubicBezTo>
                  <a:cubicBezTo>
                    <a:pt x="45" y="59"/>
                    <a:pt x="58" y="46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29592" y="3097890"/>
            <a:ext cx="339098" cy="375255"/>
            <a:chOff x="2660650" y="3478212"/>
            <a:chExt cx="285750" cy="290513"/>
          </a:xfrm>
          <a:solidFill>
            <a:srgbClr val="953735"/>
          </a:solidFill>
        </p:grpSpPr>
        <p:sp>
          <p:nvSpPr>
            <p:cNvPr id="21" name="Oval 17"/>
            <p:cNvSpPr>
              <a:spLocks noChangeArrowheads="1"/>
            </p:cNvSpPr>
            <p:nvPr/>
          </p:nvSpPr>
          <p:spPr bwMode="auto">
            <a:xfrm>
              <a:off x="2679700" y="3498850"/>
              <a:ext cx="246063" cy="250825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8"/>
            <p:cNvSpPr>
              <a:spLocks noEditPoints="1"/>
            </p:cNvSpPr>
            <p:nvPr/>
          </p:nvSpPr>
          <p:spPr bwMode="auto">
            <a:xfrm>
              <a:off x="2660650" y="3478212"/>
              <a:ext cx="285750" cy="290513"/>
            </a:xfrm>
            <a:custGeom>
              <a:avLst/>
              <a:gdLst>
                <a:gd name="T0" fmla="*/ 29 w 58"/>
                <a:gd name="T1" fmla="*/ 8 h 59"/>
                <a:gd name="T2" fmla="*/ 50 w 58"/>
                <a:gd name="T3" fmla="*/ 29 h 59"/>
                <a:gd name="T4" fmla="*/ 29 w 58"/>
                <a:gd name="T5" fmla="*/ 51 h 59"/>
                <a:gd name="T6" fmla="*/ 8 w 58"/>
                <a:gd name="T7" fmla="*/ 29 h 59"/>
                <a:gd name="T8" fmla="*/ 29 w 58"/>
                <a:gd name="T9" fmla="*/ 8 h 59"/>
                <a:gd name="T10" fmla="*/ 29 w 58"/>
                <a:gd name="T11" fmla="*/ 0 h 59"/>
                <a:gd name="T12" fmla="*/ 0 w 58"/>
                <a:gd name="T13" fmla="*/ 29 h 59"/>
                <a:gd name="T14" fmla="*/ 29 w 58"/>
                <a:gd name="T15" fmla="*/ 59 h 59"/>
                <a:gd name="T16" fmla="*/ 58 w 58"/>
                <a:gd name="T17" fmla="*/ 29 h 59"/>
                <a:gd name="T18" fmla="*/ 29 w 58"/>
                <a:gd name="T1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9">
                  <a:moveTo>
                    <a:pt x="29" y="8"/>
                  </a:moveTo>
                  <a:cubicBezTo>
                    <a:pt x="41" y="8"/>
                    <a:pt x="50" y="18"/>
                    <a:pt x="50" y="29"/>
                  </a:cubicBezTo>
                  <a:cubicBezTo>
                    <a:pt x="50" y="41"/>
                    <a:pt x="41" y="51"/>
                    <a:pt x="29" y="51"/>
                  </a:cubicBezTo>
                  <a:cubicBezTo>
                    <a:pt x="17" y="51"/>
                    <a:pt x="8" y="41"/>
                    <a:pt x="8" y="29"/>
                  </a:cubicBezTo>
                  <a:cubicBezTo>
                    <a:pt x="8" y="18"/>
                    <a:pt x="17" y="8"/>
                    <a:pt x="29" y="8"/>
                  </a:cubicBezTo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6"/>
                    <a:pt x="13" y="59"/>
                    <a:pt x="29" y="59"/>
                  </a:cubicBezTo>
                  <a:cubicBezTo>
                    <a:pt x="45" y="59"/>
                    <a:pt x="58" y="46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512450" y="3512105"/>
            <a:ext cx="958896" cy="1041690"/>
            <a:chOff x="1719262" y="3798887"/>
            <a:chExt cx="808038" cy="806450"/>
          </a:xfrm>
          <a:solidFill>
            <a:srgbClr val="93CDDD"/>
          </a:solidFill>
        </p:grpSpPr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1719262" y="3798887"/>
              <a:ext cx="808038" cy="806450"/>
            </a:xfrm>
            <a:custGeom>
              <a:avLst/>
              <a:gdLst>
                <a:gd name="T0" fmla="*/ 140 w 509"/>
                <a:gd name="T1" fmla="*/ 124 h 508"/>
                <a:gd name="T2" fmla="*/ 0 w 509"/>
                <a:gd name="T3" fmla="*/ 0 h 508"/>
                <a:gd name="T4" fmla="*/ 0 w 509"/>
                <a:gd name="T5" fmla="*/ 124 h 508"/>
                <a:gd name="T6" fmla="*/ 0 w 509"/>
                <a:gd name="T7" fmla="*/ 508 h 508"/>
                <a:gd name="T8" fmla="*/ 509 w 509"/>
                <a:gd name="T9" fmla="*/ 508 h 508"/>
                <a:gd name="T10" fmla="*/ 509 w 509"/>
                <a:gd name="T11" fmla="*/ 124 h 508"/>
                <a:gd name="T12" fmla="*/ 140 w 509"/>
                <a:gd name="T13" fmla="*/ 12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9" h="508">
                  <a:moveTo>
                    <a:pt x="140" y="124"/>
                  </a:moveTo>
                  <a:lnTo>
                    <a:pt x="0" y="0"/>
                  </a:lnTo>
                  <a:lnTo>
                    <a:pt x="0" y="124"/>
                  </a:lnTo>
                  <a:lnTo>
                    <a:pt x="0" y="508"/>
                  </a:lnTo>
                  <a:lnTo>
                    <a:pt x="509" y="508"/>
                  </a:lnTo>
                  <a:lnTo>
                    <a:pt x="509" y="124"/>
                  </a:lnTo>
                  <a:lnTo>
                    <a:pt x="140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1887537" y="4089400"/>
              <a:ext cx="473075" cy="398463"/>
              <a:chOff x="1887537" y="4089400"/>
              <a:chExt cx="473075" cy="398463"/>
            </a:xfrm>
            <a:grpFill/>
          </p:grpSpPr>
          <p:sp>
            <p:nvSpPr>
              <p:cNvPr id="26" name="Freeform 24"/>
              <p:cNvSpPr>
                <a:spLocks/>
              </p:cNvSpPr>
              <p:nvPr/>
            </p:nvSpPr>
            <p:spPr bwMode="auto">
              <a:xfrm>
                <a:off x="1897062" y="4089400"/>
                <a:ext cx="452438" cy="398463"/>
              </a:xfrm>
              <a:custGeom>
                <a:avLst/>
                <a:gdLst>
                  <a:gd name="T0" fmla="*/ 5 w 92"/>
                  <a:gd name="T1" fmla="*/ 52 h 81"/>
                  <a:gd name="T2" fmla="*/ 46 w 92"/>
                  <a:gd name="T3" fmla="*/ 0 h 81"/>
                  <a:gd name="T4" fmla="*/ 87 w 92"/>
                  <a:gd name="T5" fmla="*/ 52 h 81"/>
                  <a:gd name="T6" fmla="*/ 89 w 92"/>
                  <a:gd name="T7" fmla="*/ 58 h 81"/>
                  <a:gd name="T8" fmla="*/ 89 w 92"/>
                  <a:gd name="T9" fmla="*/ 66 h 81"/>
                  <a:gd name="T10" fmla="*/ 80 w 92"/>
                  <a:gd name="T11" fmla="*/ 80 h 81"/>
                  <a:gd name="T12" fmla="*/ 80 w 92"/>
                  <a:gd name="T13" fmla="*/ 37 h 81"/>
                  <a:gd name="T14" fmla="*/ 46 w 92"/>
                  <a:gd name="T15" fmla="*/ 8 h 81"/>
                  <a:gd name="T16" fmla="*/ 12 w 92"/>
                  <a:gd name="T17" fmla="*/ 37 h 81"/>
                  <a:gd name="T18" fmla="*/ 12 w 92"/>
                  <a:gd name="T19" fmla="*/ 80 h 81"/>
                  <a:gd name="T20" fmla="*/ 3 w 92"/>
                  <a:gd name="T21" fmla="*/ 69 h 81"/>
                  <a:gd name="T22" fmla="*/ 3 w 92"/>
                  <a:gd name="T23" fmla="*/ 58 h 81"/>
                  <a:gd name="T24" fmla="*/ 5 w 92"/>
                  <a:gd name="T25" fmla="*/ 5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2" h="81">
                    <a:moveTo>
                      <a:pt x="5" y="52"/>
                    </a:moveTo>
                    <a:cubicBezTo>
                      <a:pt x="5" y="52"/>
                      <a:pt x="0" y="0"/>
                      <a:pt x="46" y="0"/>
                    </a:cubicBezTo>
                    <a:cubicBezTo>
                      <a:pt x="92" y="0"/>
                      <a:pt x="87" y="52"/>
                      <a:pt x="87" y="52"/>
                    </a:cubicBezTo>
                    <a:cubicBezTo>
                      <a:pt x="87" y="52"/>
                      <a:pt x="89" y="53"/>
                      <a:pt x="89" y="58"/>
                    </a:cubicBezTo>
                    <a:cubicBezTo>
                      <a:pt x="89" y="66"/>
                      <a:pt x="89" y="66"/>
                      <a:pt x="89" y="66"/>
                    </a:cubicBezTo>
                    <a:cubicBezTo>
                      <a:pt x="89" y="66"/>
                      <a:pt x="89" y="79"/>
                      <a:pt x="80" y="80"/>
                    </a:cubicBezTo>
                    <a:cubicBezTo>
                      <a:pt x="80" y="37"/>
                      <a:pt x="80" y="37"/>
                      <a:pt x="80" y="37"/>
                    </a:cubicBezTo>
                    <a:cubicBezTo>
                      <a:pt x="80" y="37"/>
                      <a:pt x="74" y="8"/>
                      <a:pt x="46" y="8"/>
                    </a:cubicBezTo>
                    <a:cubicBezTo>
                      <a:pt x="18" y="8"/>
                      <a:pt x="12" y="37"/>
                      <a:pt x="12" y="37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2" y="80"/>
                      <a:pt x="5" y="81"/>
                      <a:pt x="3" y="69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3"/>
                      <a:pt x="5" y="5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Freeform 27"/>
              <p:cNvSpPr>
                <a:spLocks/>
              </p:cNvSpPr>
              <p:nvPr/>
            </p:nvSpPr>
            <p:spPr bwMode="auto">
              <a:xfrm>
                <a:off x="1887537" y="4364037"/>
                <a:ext cx="19050" cy="60325"/>
              </a:xfrm>
              <a:custGeom>
                <a:avLst/>
                <a:gdLst>
                  <a:gd name="T0" fmla="*/ 4 w 4"/>
                  <a:gd name="T1" fmla="*/ 0 h 12"/>
                  <a:gd name="T2" fmla="*/ 4 w 4"/>
                  <a:gd name="T3" fmla="*/ 12 h 12"/>
                  <a:gd name="T4" fmla="*/ 0 w 4"/>
                  <a:gd name="T5" fmla="*/ 6 h 12"/>
                  <a:gd name="T6" fmla="*/ 4 w 4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12">
                    <a:moveTo>
                      <a:pt x="4" y="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0" y="10"/>
                      <a:pt x="0" y="6"/>
                    </a:cubicBezTo>
                    <a:cubicBezTo>
                      <a:pt x="0" y="1"/>
                      <a:pt x="4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Freeform 28"/>
              <p:cNvSpPr>
                <a:spLocks/>
              </p:cNvSpPr>
              <p:nvPr/>
            </p:nvSpPr>
            <p:spPr bwMode="auto">
              <a:xfrm>
                <a:off x="2335212" y="4364037"/>
                <a:ext cx="25400" cy="60325"/>
              </a:xfrm>
              <a:custGeom>
                <a:avLst/>
                <a:gdLst>
                  <a:gd name="T0" fmla="*/ 0 w 5"/>
                  <a:gd name="T1" fmla="*/ 0 h 12"/>
                  <a:gd name="T2" fmla="*/ 0 w 5"/>
                  <a:gd name="T3" fmla="*/ 12 h 12"/>
                  <a:gd name="T4" fmla="*/ 5 w 5"/>
                  <a:gd name="T5" fmla="*/ 6 h 12"/>
                  <a:gd name="T6" fmla="*/ 0 w 5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5" y="10"/>
                      <a:pt x="5" y="6"/>
                    </a:cubicBezTo>
                    <a:cubicBezTo>
                      <a:pt x="5" y="1"/>
                      <a:pt x="0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9" name="Freeform 31"/>
          <p:cNvSpPr>
            <a:spLocks/>
          </p:cNvSpPr>
          <p:nvPr/>
        </p:nvSpPr>
        <p:spPr bwMode="auto">
          <a:xfrm>
            <a:off x="1793149" y="1974177"/>
            <a:ext cx="958896" cy="1041690"/>
          </a:xfrm>
          <a:custGeom>
            <a:avLst/>
            <a:gdLst>
              <a:gd name="T0" fmla="*/ 366 w 509"/>
              <a:gd name="T1" fmla="*/ 384 h 508"/>
              <a:gd name="T2" fmla="*/ 509 w 509"/>
              <a:gd name="T3" fmla="*/ 508 h 508"/>
              <a:gd name="T4" fmla="*/ 509 w 509"/>
              <a:gd name="T5" fmla="*/ 384 h 508"/>
              <a:gd name="T6" fmla="*/ 509 w 509"/>
              <a:gd name="T7" fmla="*/ 0 h 508"/>
              <a:gd name="T8" fmla="*/ 0 w 509"/>
              <a:gd name="T9" fmla="*/ 0 h 508"/>
              <a:gd name="T10" fmla="*/ 0 w 509"/>
              <a:gd name="T11" fmla="*/ 384 h 508"/>
              <a:gd name="T12" fmla="*/ 366 w 509"/>
              <a:gd name="T13" fmla="*/ 384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9" h="508">
                <a:moveTo>
                  <a:pt x="366" y="384"/>
                </a:moveTo>
                <a:lnTo>
                  <a:pt x="509" y="508"/>
                </a:lnTo>
                <a:lnTo>
                  <a:pt x="509" y="384"/>
                </a:lnTo>
                <a:lnTo>
                  <a:pt x="509" y="0"/>
                </a:lnTo>
                <a:lnTo>
                  <a:pt x="0" y="0"/>
                </a:lnTo>
                <a:lnTo>
                  <a:pt x="0" y="384"/>
                </a:lnTo>
                <a:lnTo>
                  <a:pt x="366" y="38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4132928" y="1974177"/>
            <a:ext cx="958896" cy="1041690"/>
            <a:chOff x="3927475" y="2608262"/>
            <a:chExt cx="808038" cy="806450"/>
          </a:xfrm>
        </p:grpSpPr>
        <p:sp>
          <p:nvSpPr>
            <p:cNvPr id="31" name="Freeform 34"/>
            <p:cNvSpPr>
              <a:spLocks/>
            </p:cNvSpPr>
            <p:nvPr/>
          </p:nvSpPr>
          <p:spPr bwMode="auto">
            <a:xfrm>
              <a:off x="3927475" y="2608262"/>
              <a:ext cx="808038" cy="806450"/>
            </a:xfrm>
            <a:custGeom>
              <a:avLst/>
              <a:gdLst>
                <a:gd name="T0" fmla="*/ 369 w 509"/>
                <a:gd name="T1" fmla="*/ 384 h 508"/>
                <a:gd name="T2" fmla="*/ 509 w 509"/>
                <a:gd name="T3" fmla="*/ 508 h 508"/>
                <a:gd name="T4" fmla="*/ 509 w 509"/>
                <a:gd name="T5" fmla="*/ 384 h 508"/>
                <a:gd name="T6" fmla="*/ 509 w 509"/>
                <a:gd name="T7" fmla="*/ 0 h 508"/>
                <a:gd name="T8" fmla="*/ 0 w 509"/>
                <a:gd name="T9" fmla="*/ 0 h 508"/>
                <a:gd name="T10" fmla="*/ 0 w 509"/>
                <a:gd name="T11" fmla="*/ 384 h 508"/>
                <a:gd name="T12" fmla="*/ 369 w 509"/>
                <a:gd name="T13" fmla="*/ 38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9" h="508">
                  <a:moveTo>
                    <a:pt x="369" y="384"/>
                  </a:moveTo>
                  <a:lnTo>
                    <a:pt x="509" y="508"/>
                  </a:lnTo>
                  <a:lnTo>
                    <a:pt x="509" y="384"/>
                  </a:lnTo>
                  <a:lnTo>
                    <a:pt x="509" y="0"/>
                  </a:lnTo>
                  <a:lnTo>
                    <a:pt x="0" y="0"/>
                  </a:lnTo>
                  <a:lnTo>
                    <a:pt x="0" y="384"/>
                  </a:lnTo>
                  <a:lnTo>
                    <a:pt x="369" y="384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5"/>
            <p:cNvSpPr>
              <a:spLocks noEditPoints="1"/>
            </p:cNvSpPr>
            <p:nvPr/>
          </p:nvSpPr>
          <p:spPr bwMode="auto">
            <a:xfrm>
              <a:off x="4108450" y="2711450"/>
              <a:ext cx="454025" cy="407988"/>
            </a:xfrm>
            <a:custGeom>
              <a:avLst/>
              <a:gdLst>
                <a:gd name="T0" fmla="*/ 84 w 92"/>
                <a:gd name="T1" fmla="*/ 0 h 83"/>
                <a:gd name="T2" fmla="*/ 7 w 92"/>
                <a:gd name="T3" fmla="*/ 0 h 83"/>
                <a:gd name="T4" fmla="*/ 0 w 92"/>
                <a:gd name="T5" fmla="*/ 8 h 83"/>
                <a:gd name="T6" fmla="*/ 0 w 92"/>
                <a:gd name="T7" fmla="*/ 61 h 83"/>
                <a:gd name="T8" fmla="*/ 7 w 92"/>
                <a:gd name="T9" fmla="*/ 68 h 83"/>
                <a:gd name="T10" fmla="*/ 39 w 92"/>
                <a:gd name="T11" fmla="*/ 68 h 83"/>
                <a:gd name="T12" fmla="*/ 39 w 92"/>
                <a:gd name="T13" fmla="*/ 80 h 83"/>
                <a:gd name="T14" fmla="*/ 9 w 92"/>
                <a:gd name="T15" fmla="*/ 80 h 83"/>
                <a:gd name="T16" fmla="*/ 9 w 92"/>
                <a:gd name="T17" fmla="*/ 83 h 83"/>
                <a:gd name="T18" fmla="*/ 80 w 92"/>
                <a:gd name="T19" fmla="*/ 83 h 83"/>
                <a:gd name="T20" fmla="*/ 80 w 92"/>
                <a:gd name="T21" fmla="*/ 80 h 83"/>
                <a:gd name="T22" fmla="*/ 50 w 92"/>
                <a:gd name="T23" fmla="*/ 80 h 83"/>
                <a:gd name="T24" fmla="*/ 50 w 92"/>
                <a:gd name="T25" fmla="*/ 68 h 83"/>
                <a:gd name="T26" fmla="*/ 84 w 92"/>
                <a:gd name="T27" fmla="*/ 68 h 83"/>
                <a:gd name="T28" fmla="*/ 92 w 92"/>
                <a:gd name="T29" fmla="*/ 61 h 83"/>
                <a:gd name="T30" fmla="*/ 92 w 92"/>
                <a:gd name="T31" fmla="*/ 8 h 83"/>
                <a:gd name="T32" fmla="*/ 84 w 92"/>
                <a:gd name="T33" fmla="*/ 0 h 83"/>
                <a:gd name="T34" fmla="*/ 41 w 92"/>
                <a:gd name="T35" fmla="*/ 62 h 83"/>
                <a:gd name="T36" fmla="*/ 45 w 92"/>
                <a:gd name="T37" fmla="*/ 59 h 83"/>
                <a:gd name="T38" fmla="*/ 48 w 92"/>
                <a:gd name="T39" fmla="*/ 62 h 83"/>
                <a:gd name="T40" fmla="*/ 45 w 92"/>
                <a:gd name="T41" fmla="*/ 66 h 83"/>
                <a:gd name="T42" fmla="*/ 41 w 92"/>
                <a:gd name="T43" fmla="*/ 62 h 83"/>
                <a:gd name="T44" fmla="*/ 87 w 92"/>
                <a:gd name="T45" fmla="*/ 56 h 83"/>
                <a:gd name="T46" fmla="*/ 4 w 92"/>
                <a:gd name="T47" fmla="*/ 56 h 83"/>
                <a:gd name="T48" fmla="*/ 4 w 92"/>
                <a:gd name="T49" fmla="*/ 8 h 83"/>
                <a:gd name="T50" fmla="*/ 87 w 92"/>
                <a:gd name="T51" fmla="*/ 8 h 83"/>
                <a:gd name="T52" fmla="*/ 87 w 92"/>
                <a:gd name="T53" fmla="*/ 5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2" h="83">
                  <a:moveTo>
                    <a:pt x="84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5"/>
                    <a:pt x="3" y="68"/>
                    <a:pt x="7" y="68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39" y="80"/>
                    <a:pt x="39" y="80"/>
                    <a:pt x="39" y="80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50" y="80"/>
                    <a:pt x="50" y="80"/>
                    <a:pt x="50" y="80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84" y="68"/>
                    <a:pt x="84" y="68"/>
                    <a:pt x="84" y="68"/>
                  </a:cubicBezTo>
                  <a:cubicBezTo>
                    <a:pt x="88" y="68"/>
                    <a:pt x="92" y="65"/>
                    <a:pt x="92" y="61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4"/>
                    <a:pt x="88" y="0"/>
                    <a:pt x="84" y="0"/>
                  </a:cubicBezTo>
                  <a:moveTo>
                    <a:pt x="41" y="62"/>
                  </a:moveTo>
                  <a:cubicBezTo>
                    <a:pt x="41" y="60"/>
                    <a:pt x="43" y="59"/>
                    <a:pt x="45" y="59"/>
                  </a:cubicBezTo>
                  <a:cubicBezTo>
                    <a:pt x="46" y="59"/>
                    <a:pt x="48" y="60"/>
                    <a:pt x="48" y="62"/>
                  </a:cubicBezTo>
                  <a:cubicBezTo>
                    <a:pt x="48" y="64"/>
                    <a:pt x="46" y="66"/>
                    <a:pt x="45" y="66"/>
                  </a:cubicBezTo>
                  <a:cubicBezTo>
                    <a:pt x="43" y="66"/>
                    <a:pt x="41" y="64"/>
                    <a:pt x="41" y="62"/>
                  </a:cubicBezTo>
                  <a:moveTo>
                    <a:pt x="87" y="56"/>
                  </a:moveTo>
                  <a:cubicBezTo>
                    <a:pt x="4" y="56"/>
                    <a:pt x="4" y="56"/>
                    <a:pt x="4" y="56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87" y="8"/>
                    <a:pt x="87" y="8"/>
                    <a:pt x="87" y="8"/>
                  </a:cubicBezTo>
                  <a:lnTo>
                    <a:pt x="87" y="56"/>
                  </a:lnTo>
                  <a:close/>
                </a:path>
              </a:pathLst>
            </a:custGeom>
            <a:solidFill>
              <a:srgbClr val="F9EEC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203313" y="3520307"/>
            <a:ext cx="960779" cy="1043741"/>
            <a:chOff x="5672137" y="3805237"/>
            <a:chExt cx="809625" cy="808038"/>
          </a:xfrm>
        </p:grpSpPr>
        <p:sp>
          <p:nvSpPr>
            <p:cNvPr id="34" name="Freeform 36"/>
            <p:cNvSpPr>
              <a:spLocks/>
            </p:cNvSpPr>
            <p:nvPr/>
          </p:nvSpPr>
          <p:spPr bwMode="auto">
            <a:xfrm>
              <a:off x="5672137" y="3805237"/>
              <a:ext cx="809625" cy="808038"/>
            </a:xfrm>
            <a:custGeom>
              <a:avLst/>
              <a:gdLst>
                <a:gd name="T0" fmla="*/ 140 w 510"/>
                <a:gd name="T1" fmla="*/ 124 h 509"/>
                <a:gd name="T2" fmla="*/ 0 w 510"/>
                <a:gd name="T3" fmla="*/ 0 h 509"/>
                <a:gd name="T4" fmla="*/ 0 w 510"/>
                <a:gd name="T5" fmla="*/ 124 h 509"/>
                <a:gd name="T6" fmla="*/ 0 w 510"/>
                <a:gd name="T7" fmla="*/ 509 h 509"/>
                <a:gd name="T8" fmla="*/ 510 w 510"/>
                <a:gd name="T9" fmla="*/ 509 h 509"/>
                <a:gd name="T10" fmla="*/ 510 w 510"/>
                <a:gd name="T11" fmla="*/ 124 h 509"/>
                <a:gd name="T12" fmla="*/ 140 w 510"/>
                <a:gd name="T13" fmla="*/ 124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0" h="509">
                  <a:moveTo>
                    <a:pt x="140" y="124"/>
                  </a:moveTo>
                  <a:lnTo>
                    <a:pt x="0" y="0"/>
                  </a:lnTo>
                  <a:lnTo>
                    <a:pt x="0" y="124"/>
                  </a:lnTo>
                  <a:lnTo>
                    <a:pt x="0" y="509"/>
                  </a:lnTo>
                  <a:lnTo>
                    <a:pt x="510" y="509"/>
                  </a:lnTo>
                  <a:lnTo>
                    <a:pt x="510" y="124"/>
                  </a:lnTo>
                  <a:lnTo>
                    <a:pt x="140" y="124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7"/>
            <p:cNvSpPr>
              <a:spLocks noEditPoints="1"/>
            </p:cNvSpPr>
            <p:nvPr/>
          </p:nvSpPr>
          <p:spPr bwMode="auto">
            <a:xfrm>
              <a:off x="5976937" y="4069093"/>
              <a:ext cx="257175" cy="471488"/>
            </a:xfrm>
            <a:custGeom>
              <a:avLst/>
              <a:gdLst>
                <a:gd name="T0" fmla="*/ 45 w 52"/>
                <a:gd name="T1" fmla="*/ 0 h 96"/>
                <a:gd name="T2" fmla="*/ 7 w 52"/>
                <a:gd name="T3" fmla="*/ 0 h 96"/>
                <a:gd name="T4" fmla="*/ 0 w 52"/>
                <a:gd name="T5" fmla="*/ 6 h 96"/>
                <a:gd name="T6" fmla="*/ 0 w 52"/>
                <a:gd name="T7" fmla="*/ 89 h 96"/>
                <a:gd name="T8" fmla="*/ 7 w 52"/>
                <a:gd name="T9" fmla="*/ 96 h 96"/>
                <a:gd name="T10" fmla="*/ 45 w 52"/>
                <a:gd name="T11" fmla="*/ 96 h 96"/>
                <a:gd name="T12" fmla="*/ 52 w 52"/>
                <a:gd name="T13" fmla="*/ 89 h 96"/>
                <a:gd name="T14" fmla="*/ 52 w 52"/>
                <a:gd name="T15" fmla="*/ 6 h 96"/>
                <a:gd name="T16" fmla="*/ 45 w 52"/>
                <a:gd name="T17" fmla="*/ 0 h 96"/>
                <a:gd name="T18" fmla="*/ 20 w 52"/>
                <a:gd name="T19" fmla="*/ 7 h 96"/>
                <a:gd name="T20" fmla="*/ 33 w 52"/>
                <a:gd name="T21" fmla="*/ 7 h 96"/>
                <a:gd name="T22" fmla="*/ 34 w 52"/>
                <a:gd name="T23" fmla="*/ 9 h 96"/>
                <a:gd name="T24" fmla="*/ 33 w 52"/>
                <a:gd name="T25" fmla="*/ 11 h 96"/>
                <a:gd name="T26" fmla="*/ 20 w 52"/>
                <a:gd name="T27" fmla="*/ 11 h 96"/>
                <a:gd name="T28" fmla="*/ 18 w 52"/>
                <a:gd name="T29" fmla="*/ 9 h 96"/>
                <a:gd name="T30" fmla="*/ 20 w 52"/>
                <a:gd name="T31" fmla="*/ 7 h 96"/>
                <a:gd name="T32" fmla="*/ 26 w 52"/>
                <a:gd name="T33" fmla="*/ 93 h 96"/>
                <a:gd name="T34" fmla="*/ 21 w 52"/>
                <a:gd name="T35" fmla="*/ 88 h 96"/>
                <a:gd name="T36" fmla="*/ 26 w 52"/>
                <a:gd name="T37" fmla="*/ 82 h 96"/>
                <a:gd name="T38" fmla="*/ 31 w 52"/>
                <a:gd name="T39" fmla="*/ 88 h 96"/>
                <a:gd name="T40" fmla="*/ 26 w 52"/>
                <a:gd name="T41" fmla="*/ 93 h 96"/>
                <a:gd name="T42" fmla="*/ 48 w 52"/>
                <a:gd name="T43" fmla="*/ 81 h 96"/>
                <a:gd name="T44" fmla="*/ 4 w 52"/>
                <a:gd name="T45" fmla="*/ 81 h 96"/>
                <a:gd name="T46" fmla="*/ 4 w 52"/>
                <a:gd name="T47" fmla="*/ 15 h 96"/>
                <a:gd name="T48" fmla="*/ 48 w 52"/>
                <a:gd name="T49" fmla="*/ 15 h 96"/>
                <a:gd name="T50" fmla="*/ 48 w 52"/>
                <a:gd name="T51" fmla="*/ 8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2" h="96">
                  <a:moveTo>
                    <a:pt x="45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3"/>
                    <a:pt x="0" y="6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93"/>
                    <a:pt x="4" y="96"/>
                    <a:pt x="7" y="96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49" y="96"/>
                    <a:pt x="52" y="93"/>
                    <a:pt x="52" y="89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3"/>
                    <a:pt x="49" y="0"/>
                    <a:pt x="45" y="0"/>
                  </a:cubicBezTo>
                  <a:moveTo>
                    <a:pt x="20" y="7"/>
                  </a:moveTo>
                  <a:cubicBezTo>
                    <a:pt x="33" y="7"/>
                    <a:pt x="33" y="7"/>
                    <a:pt x="33" y="7"/>
                  </a:cubicBezTo>
                  <a:cubicBezTo>
                    <a:pt x="34" y="7"/>
                    <a:pt x="34" y="8"/>
                    <a:pt x="34" y="9"/>
                  </a:cubicBezTo>
                  <a:cubicBezTo>
                    <a:pt x="34" y="10"/>
                    <a:pt x="34" y="11"/>
                    <a:pt x="33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8" y="8"/>
                    <a:pt x="19" y="7"/>
                    <a:pt x="20" y="7"/>
                  </a:cubicBezTo>
                  <a:moveTo>
                    <a:pt x="26" y="93"/>
                  </a:moveTo>
                  <a:cubicBezTo>
                    <a:pt x="23" y="93"/>
                    <a:pt x="21" y="90"/>
                    <a:pt x="21" y="88"/>
                  </a:cubicBezTo>
                  <a:cubicBezTo>
                    <a:pt x="21" y="85"/>
                    <a:pt x="23" y="82"/>
                    <a:pt x="26" y="82"/>
                  </a:cubicBezTo>
                  <a:cubicBezTo>
                    <a:pt x="29" y="82"/>
                    <a:pt x="31" y="85"/>
                    <a:pt x="31" y="88"/>
                  </a:cubicBezTo>
                  <a:cubicBezTo>
                    <a:pt x="31" y="90"/>
                    <a:pt x="29" y="93"/>
                    <a:pt x="26" y="93"/>
                  </a:cubicBezTo>
                  <a:moveTo>
                    <a:pt x="48" y="81"/>
                  </a:moveTo>
                  <a:cubicBezTo>
                    <a:pt x="4" y="81"/>
                    <a:pt x="4" y="81"/>
                    <a:pt x="4" y="81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8" y="15"/>
                    <a:pt x="48" y="15"/>
                    <a:pt x="48" y="15"/>
                  </a:cubicBezTo>
                  <a:lnTo>
                    <a:pt x="48" y="81"/>
                  </a:lnTo>
                  <a:close/>
                </a:path>
              </a:pathLst>
            </a:custGeom>
            <a:solidFill>
              <a:srgbClr val="F9EEC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945294" y="2036981"/>
            <a:ext cx="593423" cy="643879"/>
            <a:chOff x="6183313" y="3019425"/>
            <a:chExt cx="500063" cy="498475"/>
          </a:xfrm>
        </p:grpSpPr>
        <p:sp>
          <p:nvSpPr>
            <p:cNvPr id="39" name="Freeform 38"/>
            <p:cNvSpPr>
              <a:spLocks noEditPoints="1"/>
            </p:cNvSpPr>
            <p:nvPr/>
          </p:nvSpPr>
          <p:spPr bwMode="auto">
            <a:xfrm>
              <a:off x="6183313" y="3019425"/>
              <a:ext cx="500063" cy="498475"/>
            </a:xfrm>
            <a:custGeom>
              <a:avLst/>
              <a:gdLst>
                <a:gd name="T0" fmla="*/ 117 w 233"/>
                <a:gd name="T1" fmla="*/ 0 h 233"/>
                <a:gd name="T2" fmla="*/ 0 w 233"/>
                <a:gd name="T3" fmla="*/ 116 h 233"/>
                <a:gd name="T4" fmla="*/ 117 w 233"/>
                <a:gd name="T5" fmla="*/ 233 h 233"/>
                <a:gd name="T6" fmla="*/ 233 w 233"/>
                <a:gd name="T7" fmla="*/ 116 h 233"/>
                <a:gd name="T8" fmla="*/ 117 w 233"/>
                <a:gd name="T9" fmla="*/ 0 h 233"/>
                <a:gd name="T10" fmla="*/ 117 w 233"/>
                <a:gd name="T11" fmla="*/ 213 h 233"/>
                <a:gd name="T12" fmla="*/ 21 w 233"/>
                <a:gd name="T13" fmla="*/ 116 h 233"/>
                <a:gd name="T14" fmla="*/ 117 w 233"/>
                <a:gd name="T15" fmla="*/ 20 h 233"/>
                <a:gd name="T16" fmla="*/ 213 w 233"/>
                <a:gd name="T17" fmla="*/ 116 h 233"/>
                <a:gd name="T18" fmla="*/ 117 w 233"/>
                <a:gd name="T19" fmla="*/ 21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233">
                  <a:moveTo>
                    <a:pt x="117" y="0"/>
                  </a:moveTo>
                  <a:cubicBezTo>
                    <a:pt x="53" y="0"/>
                    <a:pt x="0" y="52"/>
                    <a:pt x="0" y="116"/>
                  </a:cubicBezTo>
                  <a:cubicBezTo>
                    <a:pt x="0" y="181"/>
                    <a:pt x="53" y="233"/>
                    <a:pt x="117" y="233"/>
                  </a:cubicBezTo>
                  <a:cubicBezTo>
                    <a:pt x="181" y="233"/>
                    <a:pt x="233" y="181"/>
                    <a:pt x="233" y="116"/>
                  </a:cubicBezTo>
                  <a:cubicBezTo>
                    <a:pt x="233" y="52"/>
                    <a:pt x="181" y="0"/>
                    <a:pt x="117" y="0"/>
                  </a:cubicBezTo>
                  <a:moveTo>
                    <a:pt x="117" y="213"/>
                  </a:moveTo>
                  <a:cubicBezTo>
                    <a:pt x="64" y="213"/>
                    <a:pt x="21" y="169"/>
                    <a:pt x="21" y="116"/>
                  </a:cubicBezTo>
                  <a:cubicBezTo>
                    <a:pt x="21" y="63"/>
                    <a:pt x="64" y="20"/>
                    <a:pt x="117" y="20"/>
                  </a:cubicBezTo>
                  <a:cubicBezTo>
                    <a:pt x="170" y="20"/>
                    <a:pt x="213" y="63"/>
                    <a:pt x="213" y="116"/>
                  </a:cubicBezTo>
                  <a:cubicBezTo>
                    <a:pt x="213" y="169"/>
                    <a:pt x="170" y="213"/>
                    <a:pt x="117" y="213"/>
                  </a:cubicBezTo>
                </a:path>
              </a:pathLst>
            </a:custGeom>
            <a:solidFill>
              <a:srgbClr val="68686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 noEditPoints="1"/>
            </p:cNvSpPr>
            <p:nvPr/>
          </p:nvSpPr>
          <p:spPr bwMode="auto">
            <a:xfrm>
              <a:off x="6242050" y="3074988"/>
              <a:ext cx="384175" cy="385763"/>
            </a:xfrm>
            <a:custGeom>
              <a:avLst/>
              <a:gdLst>
                <a:gd name="T0" fmla="*/ 90 w 180"/>
                <a:gd name="T1" fmla="*/ 0 h 180"/>
                <a:gd name="T2" fmla="*/ 0 w 180"/>
                <a:gd name="T3" fmla="*/ 90 h 180"/>
                <a:gd name="T4" fmla="*/ 90 w 180"/>
                <a:gd name="T5" fmla="*/ 180 h 180"/>
                <a:gd name="T6" fmla="*/ 180 w 180"/>
                <a:gd name="T7" fmla="*/ 90 h 180"/>
                <a:gd name="T8" fmla="*/ 90 w 180"/>
                <a:gd name="T9" fmla="*/ 0 h 180"/>
                <a:gd name="T10" fmla="*/ 83 w 180"/>
                <a:gd name="T11" fmla="*/ 14 h 180"/>
                <a:gd name="T12" fmla="*/ 96 w 180"/>
                <a:gd name="T13" fmla="*/ 14 h 180"/>
                <a:gd name="T14" fmla="*/ 96 w 180"/>
                <a:gd name="T15" fmla="*/ 36 h 180"/>
                <a:gd name="T16" fmla="*/ 83 w 180"/>
                <a:gd name="T17" fmla="*/ 36 h 180"/>
                <a:gd name="T18" fmla="*/ 83 w 180"/>
                <a:gd name="T19" fmla="*/ 14 h 180"/>
                <a:gd name="T20" fmla="*/ 36 w 180"/>
                <a:gd name="T21" fmla="*/ 97 h 180"/>
                <a:gd name="T22" fmla="*/ 13 w 180"/>
                <a:gd name="T23" fmla="*/ 97 h 180"/>
                <a:gd name="T24" fmla="*/ 13 w 180"/>
                <a:gd name="T25" fmla="*/ 84 h 180"/>
                <a:gd name="T26" fmla="*/ 36 w 180"/>
                <a:gd name="T27" fmla="*/ 84 h 180"/>
                <a:gd name="T28" fmla="*/ 36 w 180"/>
                <a:gd name="T29" fmla="*/ 97 h 180"/>
                <a:gd name="T30" fmla="*/ 96 w 180"/>
                <a:gd name="T31" fmla="*/ 167 h 180"/>
                <a:gd name="T32" fmla="*/ 83 w 180"/>
                <a:gd name="T33" fmla="*/ 167 h 180"/>
                <a:gd name="T34" fmla="*/ 83 w 180"/>
                <a:gd name="T35" fmla="*/ 145 h 180"/>
                <a:gd name="T36" fmla="*/ 96 w 180"/>
                <a:gd name="T37" fmla="*/ 145 h 180"/>
                <a:gd name="T38" fmla="*/ 96 w 180"/>
                <a:gd name="T39" fmla="*/ 167 h 180"/>
                <a:gd name="T40" fmla="*/ 98 w 180"/>
                <a:gd name="T41" fmla="*/ 89 h 180"/>
                <a:gd name="T42" fmla="*/ 92 w 180"/>
                <a:gd name="T43" fmla="*/ 131 h 180"/>
                <a:gd name="T44" fmla="*/ 81 w 180"/>
                <a:gd name="T45" fmla="*/ 80 h 180"/>
                <a:gd name="T46" fmla="*/ 81 w 180"/>
                <a:gd name="T47" fmla="*/ 80 h 180"/>
                <a:gd name="T48" fmla="*/ 81 w 180"/>
                <a:gd name="T49" fmla="*/ 80 h 180"/>
                <a:gd name="T50" fmla="*/ 81 w 180"/>
                <a:gd name="T51" fmla="*/ 80 h 180"/>
                <a:gd name="T52" fmla="*/ 81 w 180"/>
                <a:gd name="T53" fmla="*/ 80 h 180"/>
                <a:gd name="T54" fmla="*/ 126 w 180"/>
                <a:gd name="T55" fmla="*/ 48 h 180"/>
                <a:gd name="T56" fmla="*/ 98 w 180"/>
                <a:gd name="T57" fmla="*/ 89 h 180"/>
                <a:gd name="T58" fmla="*/ 144 w 180"/>
                <a:gd name="T59" fmla="*/ 84 h 180"/>
                <a:gd name="T60" fmla="*/ 166 w 180"/>
                <a:gd name="T61" fmla="*/ 84 h 180"/>
                <a:gd name="T62" fmla="*/ 166 w 180"/>
                <a:gd name="T63" fmla="*/ 97 h 180"/>
                <a:gd name="T64" fmla="*/ 144 w 180"/>
                <a:gd name="T65" fmla="*/ 97 h 180"/>
                <a:gd name="T66" fmla="*/ 144 w 180"/>
                <a:gd name="T67" fmla="*/ 8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0" h="180">
                  <a:moveTo>
                    <a:pt x="90" y="0"/>
                  </a:moveTo>
                  <a:cubicBezTo>
                    <a:pt x="40" y="0"/>
                    <a:pt x="0" y="41"/>
                    <a:pt x="0" y="90"/>
                  </a:cubicBezTo>
                  <a:cubicBezTo>
                    <a:pt x="0" y="140"/>
                    <a:pt x="40" y="180"/>
                    <a:pt x="90" y="180"/>
                  </a:cubicBezTo>
                  <a:cubicBezTo>
                    <a:pt x="140" y="180"/>
                    <a:pt x="180" y="140"/>
                    <a:pt x="180" y="90"/>
                  </a:cubicBezTo>
                  <a:cubicBezTo>
                    <a:pt x="180" y="41"/>
                    <a:pt x="140" y="0"/>
                    <a:pt x="90" y="0"/>
                  </a:cubicBezTo>
                  <a:moveTo>
                    <a:pt x="83" y="14"/>
                  </a:moveTo>
                  <a:cubicBezTo>
                    <a:pt x="96" y="14"/>
                    <a:pt x="96" y="14"/>
                    <a:pt x="96" y="14"/>
                  </a:cubicBezTo>
                  <a:cubicBezTo>
                    <a:pt x="96" y="36"/>
                    <a:pt x="96" y="36"/>
                    <a:pt x="96" y="36"/>
                  </a:cubicBezTo>
                  <a:cubicBezTo>
                    <a:pt x="83" y="36"/>
                    <a:pt x="83" y="36"/>
                    <a:pt x="83" y="36"/>
                  </a:cubicBezTo>
                  <a:lnTo>
                    <a:pt x="83" y="14"/>
                  </a:lnTo>
                  <a:close/>
                  <a:moveTo>
                    <a:pt x="36" y="97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36" y="84"/>
                    <a:pt x="36" y="84"/>
                    <a:pt x="36" y="84"/>
                  </a:cubicBezTo>
                  <a:cubicBezTo>
                    <a:pt x="36" y="97"/>
                    <a:pt x="36" y="97"/>
                    <a:pt x="36" y="97"/>
                  </a:cubicBezTo>
                  <a:close/>
                  <a:moveTo>
                    <a:pt x="96" y="167"/>
                  </a:moveTo>
                  <a:cubicBezTo>
                    <a:pt x="83" y="167"/>
                    <a:pt x="83" y="167"/>
                    <a:pt x="83" y="167"/>
                  </a:cubicBezTo>
                  <a:cubicBezTo>
                    <a:pt x="83" y="145"/>
                    <a:pt x="83" y="145"/>
                    <a:pt x="83" y="145"/>
                  </a:cubicBezTo>
                  <a:cubicBezTo>
                    <a:pt x="96" y="145"/>
                    <a:pt x="96" y="145"/>
                    <a:pt x="96" y="145"/>
                  </a:cubicBezTo>
                  <a:lnTo>
                    <a:pt x="96" y="167"/>
                  </a:lnTo>
                  <a:close/>
                  <a:moveTo>
                    <a:pt x="98" y="89"/>
                  </a:moveTo>
                  <a:cubicBezTo>
                    <a:pt x="92" y="131"/>
                    <a:pt x="92" y="131"/>
                    <a:pt x="92" y="131"/>
                  </a:cubicBezTo>
                  <a:cubicBezTo>
                    <a:pt x="81" y="80"/>
                    <a:pt x="81" y="80"/>
                    <a:pt x="81" y="80"/>
                  </a:cubicBezTo>
                  <a:cubicBezTo>
                    <a:pt x="81" y="80"/>
                    <a:pt x="81" y="80"/>
                    <a:pt x="81" y="80"/>
                  </a:cubicBezTo>
                  <a:cubicBezTo>
                    <a:pt x="81" y="80"/>
                    <a:pt x="81" y="80"/>
                    <a:pt x="81" y="80"/>
                  </a:cubicBezTo>
                  <a:cubicBezTo>
                    <a:pt x="81" y="80"/>
                    <a:pt x="81" y="80"/>
                    <a:pt x="81" y="80"/>
                  </a:cubicBezTo>
                  <a:cubicBezTo>
                    <a:pt x="81" y="80"/>
                    <a:pt x="81" y="80"/>
                    <a:pt x="81" y="80"/>
                  </a:cubicBezTo>
                  <a:cubicBezTo>
                    <a:pt x="126" y="48"/>
                    <a:pt x="126" y="48"/>
                    <a:pt x="126" y="48"/>
                  </a:cubicBezTo>
                  <a:lnTo>
                    <a:pt x="98" y="89"/>
                  </a:lnTo>
                  <a:close/>
                  <a:moveTo>
                    <a:pt x="144" y="84"/>
                  </a:moveTo>
                  <a:cubicBezTo>
                    <a:pt x="166" y="84"/>
                    <a:pt x="166" y="84"/>
                    <a:pt x="166" y="84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44" y="97"/>
                    <a:pt x="144" y="97"/>
                    <a:pt x="144" y="97"/>
                  </a:cubicBezTo>
                  <a:lnTo>
                    <a:pt x="144" y="84"/>
                  </a:lnTo>
                  <a:close/>
                </a:path>
              </a:pathLst>
            </a:custGeom>
            <a:solidFill>
              <a:srgbClr val="68686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661277" y="3797561"/>
            <a:ext cx="599074" cy="672588"/>
            <a:chOff x="1601791" y="5558390"/>
            <a:chExt cx="504825" cy="520701"/>
          </a:xfrm>
        </p:grpSpPr>
        <p:sp>
          <p:nvSpPr>
            <p:cNvPr id="42" name="Freeform 139"/>
            <p:cNvSpPr>
              <a:spLocks/>
            </p:cNvSpPr>
            <p:nvPr/>
          </p:nvSpPr>
          <p:spPr bwMode="auto">
            <a:xfrm>
              <a:off x="1601791" y="5558390"/>
              <a:ext cx="463550" cy="477838"/>
            </a:xfrm>
            <a:custGeom>
              <a:avLst/>
              <a:gdLst>
                <a:gd name="T0" fmla="*/ 208 w 212"/>
                <a:gd name="T1" fmla="*/ 153 h 218"/>
                <a:gd name="T2" fmla="*/ 166 w 212"/>
                <a:gd name="T3" fmla="*/ 111 h 218"/>
                <a:gd name="T4" fmla="*/ 159 w 212"/>
                <a:gd name="T5" fmla="*/ 103 h 218"/>
                <a:gd name="T6" fmla="*/ 117 w 212"/>
                <a:gd name="T7" fmla="*/ 55 h 218"/>
                <a:gd name="T8" fmla="*/ 100 w 212"/>
                <a:gd name="T9" fmla="*/ 14 h 218"/>
                <a:gd name="T10" fmla="*/ 76 w 212"/>
                <a:gd name="T11" fmla="*/ 12 h 218"/>
                <a:gd name="T12" fmla="*/ 69 w 212"/>
                <a:gd name="T13" fmla="*/ 30 h 218"/>
                <a:gd name="T14" fmla="*/ 82 w 212"/>
                <a:gd name="T15" fmla="*/ 62 h 218"/>
                <a:gd name="T16" fmla="*/ 83 w 212"/>
                <a:gd name="T17" fmla="*/ 83 h 218"/>
                <a:gd name="T18" fmla="*/ 20 w 212"/>
                <a:gd name="T19" fmla="*/ 83 h 218"/>
                <a:gd name="T20" fmla="*/ 5 w 212"/>
                <a:gd name="T21" fmla="*/ 104 h 218"/>
                <a:gd name="T22" fmla="*/ 37 w 212"/>
                <a:gd name="T23" fmla="*/ 194 h 218"/>
                <a:gd name="T24" fmla="*/ 50 w 212"/>
                <a:gd name="T25" fmla="*/ 203 h 218"/>
                <a:gd name="T26" fmla="*/ 127 w 212"/>
                <a:gd name="T27" fmla="*/ 203 h 218"/>
                <a:gd name="T28" fmla="*/ 143 w 212"/>
                <a:gd name="T29" fmla="*/ 210 h 218"/>
                <a:gd name="T30" fmla="*/ 147 w 212"/>
                <a:gd name="T31" fmla="*/ 214 h 218"/>
                <a:gd name="T32" fmla="*/ 161 w 212"/>
                <a:gd name="T33" fmla="*/ 214 h 218"/>
                <a:gd name="T34" fmla="*/ 208 w 212"/>
                <a:gd name="T35" fmla="*/ 166 h 218"/>
                <a:gd name="T36" fmla="*/ 208 w 212"/>
                <a:gd name="T37" fmla="*/ 15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2" h="218">
                  <a:moveTo>
                    <a:pt x="208" y="153"/>
                  </a:moveTo>
                  <a:cubicBezTo>
                    <a:pt x="166" y="111"/>
                    <a:pt x="166" y="111"/>
                    <a:pt x="166" y="111"/>
                  </a:cubicBezTo>
                  <a:cubicBezTo>
                    <a:pt x="162" y="107"/>
                    <a:pt x="159" y="104"/>
                    <a:pt x="159" y="103"/>
                  </a:cubicBezTo>
                  <a:cubicBezTo>
                    <a:pt x="159" y="103"/>
                    <a:pt x="142" y="71"/>
                    <a:pt x="117" y="55"/>
                  </a:cubicBezTo>
                  <a:cubicBezTo>
                    <a:pt x="93" y="39"/>
                    <a:pt x="100" y="27"/>
                    <a:pt x="100" y="14"/>
                  </a:cubicBezTo>
                  <a:cubicBezTo>
                    <a:pt x="100" y="2"/>
                    <a:pt x="86" y="0"/>
                    <a:pt x="76" y="12"/>
                  </a:cubicBezTo>
                  <a:cubicBezTo>
                    <a:pt x="73" y="16"/>
                    <a:pt x="70" y="25"/>
                    <a:pt x="69" y="30"/>
                  </a:cubicBezTo>
                  <a:cubicBezTo>
                    <a:pt x="67" y="46"/>
                    <a:pt x="78" y="56"/>
                    <a:pt x="82" y="62"/>
                  </a:cubicBezTo>
                  <a:cubicBezTo>
                    <a:pt x="85" y="66"/>
                    <a:pt x="86" y="74"/>
                    <a:pt x="83" y="83"/>
                  </a:cubicBezTo>
                  <a:cubicBezTo>
                    <a:pt x="20" y="83"/>
                    <a:pt x="20" y="83"/>
                    <a:pt x="20" y="83"/>
                  </a:cubicBezTo>
                  <a:cubicBezTo>
                    <a:pt x="7" y="83"/>
                    <a:pt x="0" y="92"/>
                    <a:pt x="5" y="104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9" y="199"/>
                    <a:pt x="45" y="203"/>
                    <a:pt x="50" y="203"/>
                  </a:cubicBezTo>
                  <a:cubicBezTo>
                    <a:pt x="127" y="203"/>
                    <a:pt x="127" y="203"/>
                    <a:pt x="127" y="203"/>
                  </a:cubicBezTo>
                  <a:cubicBezTo>
                    <a:pt x="132" y="203"/>
                    <a:pt x="140" y="207"/>
                    <a:pt x="143" y="210"/>
                  </a:cubicBezTo>
                  <a:cubicBezTo>
                    <a:pt x="147" y="214"/>
                    <a:pt x="147" y="214"/>
                    <a:pt x="147" y="214"/>
                  </a:cubicBezTo>
                  <a:cubicBezTo>
                    <a:pt x="151" y="218"/>
                    <a:pt x="157" y="218"/>
                    <a:pt x="161" y="214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12" y="163"/>
                    <a:pt x="212" y="156"/>
                    <a:pt x="208" y="153"/>
                  </a:cubicBezTo>
                </a:path>
              </a:pathLst>
            </a:custGeom>
            <a:solidFill>
              <a:srgbClr val="68686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40"/>
            <p:cNvSpPr>
              <a:spLocks/>
            </p:cNvSpPr>
            <p:nvPr/>
          </p:nvSpPr>
          <p:spPr bwMode="auto">
            <a:xfrm>
              <a:off x="1955803" y="5928278"/>
              <a:ext cx="150813" cy="150813"/>
            </a:xfrm>
            <a:custGeom>
              <a:avLst/>
              <a:gdLst>
                <a:gd name="T0" fmla="*/ 18 w 95"/>
                <a:gd name="T1" fmla="*/ 95 h 95"/>
                <a:gd name="T2" fmla="*/ 0 w 95"/>
                <a:gd name="T3" fmla="*/ 77 h 95"/>
                <a:gd name="T4" fmla="*/ 79 w 95"/>
                <a:gd name="T5" fmla="*/ 0 h 95"/>
                <a:gd name="T6" fmla="*/ 95 w 95"/>
                <a:gd name="T7" fmla="*/ 18 h 95"/>
                <a:gd name="T8" fmla="*/ 18 w 95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95">
                  <a:moveTo>
                    <a:pt x="18" y="95"/>
                  </a:moveTo>
                  <a:lnTo>
                    <a:pt x="0" y="77"/>
                  </a:lnTo>
                  <a:lnTo>
                    <a:pt x="79" y="0"/>
                  </a:lnTo>
                  <a:lnTo>
                    <a:pt x="95" y="18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68686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432906" y="2129976"/>
            <a:ext cx="1360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Well-trained</a:t>
            </a:r>
          </a:p>
          <a:p>
            <a:r>
              <a:rPr lang="en-US" dirty="0">
                <a:solidFill>
                  <a:srgbClr val="0000FF"/>
                </a:solidFill>
              </a:rPr>
              <a:t>programmer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20294" y="4580386"/>
            <a:ext cx="18028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Rich knowledge</a:t>
            </a:r>
          </a:p>
          <a:p>
            <a:r>
              <a:rPr lang="en-US" dirty="0">
                <a:solidFill>
                  <a:srgbClr val="0000FF"/>
                </a:solidFill>
              </a:rPr>
              <a:t>In programming</a:t>
            </a:r>
          </a:p>
          <a:p>
            <a:r>
              <a:rPr lang="en-US" dirty="0">
                <a:solidFill>
                  <a:srgbClr val="0000FF"/>
                </a:solidFill>
              </a:rPr>
              <a:t>Related language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9027" y="891514"/>
            <a:ext cx="25442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Well-trained</a:t>
            </a:r>
          </a:p>
          <a:p>
            <a:r>
              <a:rPr lang="en-US" dirty="0">
                <a:solidFill>
                  <a:srgbClr val="0000FF"/>
                </a:solidFill>
              </a:rPr>
              <a:t>In software development</a:t>
            </a:r>
          </a:p>
          <a:p>
            <a:r>
              <a:rPr lang="en-US" dirty="0">
                <a:solidFill>
                  <a:srgbClr val="0000FF"/>
                </a:solidFill>
              </a:rPr>
              <a:t>process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63402" y="4595087"/>
            <a:ext cx="114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Adaptable</a:t>
            </a:r>
          </a:p>
        </p:txBody>
      </p:sp>
    </p:spTree>
    <p:extLst>
      <p:ext uri="{BB962C8B-B14F-4D97-AF65-F5344CB8AC3E}">
        <p14:creationId xmlns:p14="http://schemas.microsoft.com/office/powerpoint/2010/main" val="424903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556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Task of software engineer in ERT system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512693" y="1008633"/>
            <a:ext cx="7620486" cy="3559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90000"/>
              </a:lnSpc>
              <a:spcBef>
                <a:spcPct val="20000"/>
              </a:spcBef>
              <a:buFont typeface="Wingdings" charset="2"/>
              <a:buChar char="ü"/>
            </a:pPr>
            <a:r>
              <a:rPr lang="en-US" dirty="0">
                <a:latin typeface="Helvetica Neue Light"/>
                <a:cs typeface="Helvetica Neue Light"/>
              </a:rPr>
              <a:t>To ensure the success of SE in addressing ERT systems problem, </a:t>
            </a:r>
            <a:r>
              <a:rPr lang="en-US" dirty="0" err="1">
                <a:latin typeface="Helvetica Neue Light"/>
                <a:cs typeface="Helvetica Neue Light"/>
              </a:rPr>
              <a:t>Stankovic</a:t>
            </a:r>
            <a:r>
              <a:rPr lang="en-US" dirty="0">
                <a:latin typeface="Helvetica Neue Light"/>
                <a:cs typeface="Helvetica Neue Light"/>
              </a:rPr>
              <a:t>, 1996, suggested SE will need to undergo a radical shift :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latin typeface="Helvetica Neue Light"/>
                <a:cs typeface="Helvetica Neue Light"/>
              </a:rPr>
              <a:t>Time, dependability, and other </a:t>
            </a:r>
            <a:r>
              <a:rPr lang="en-US" dirty="0" err="1">
                <a:latin typeface="Helvetica Neue Light"/>
                <a:cs typeface="Helvetica Neue Light"/>
              </a:rPr>
              <a:t>QoS</a:t>
            </a:r>
            <a:r>
              <a:rPr lang="en-US" dirty="0">
                <a:latin typeface="Helvetica Neue Light"/>
                <a:cs typeface="Helvetica Neue Light"/>
              </a:rPr>
              <a:t> constraints must become </a:t>
            </a:r>
            <a:r>
              <a:rPr lang="en-US" dirty="0">
                <a:solidFill>
                  <a:srgbClr val="FF3300"/>
                </a:solidFill>
                <a:latin typeface="Helvetica Neue Light"/>
                <a:cs typeface="Helvetica Neue Light"/>
              </a:rPr>
              <a:t>first-class concerns</a:t>
            </a:r>
            <a:r>
              <a:rPr lang="en-US" dirty="0">
                <a:latin typeface="Helvetica Neue Light"/>
                <a:cs typeface="Helvetica Neue Light"/>
              </a:rPr>
              <a:t>, coherently integrated with functionality at all levels from requirements specification through architecture, design, implementation, and execution.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 err="1">
                <a:latin typeface="Helvetica Neue Light"/>
                <a:cs typeface="Helvetica Neue Light"/>
              </a:rPr>
              <a:t>Evolvability</a:t>
            </a:r>
            <a:r>
              <a:rPr lang="en-US" dirty="0">
                <a:latin typeface="Helvetica Neue Light"/>
                <a:cs typeface="Helvetica Neue Light"/>
              </a:rPr>
              <a:t> must be ensured by separating </a:t>
            </a:r>
            <a:r>
              <a:rPr lang="en-US" dirty="0">
                <a:solidFill>
                  <a:srgbClr val="FF3300"/>
                </a:solidFill>
                <a:latin typeface="Helvetica Neue Light"/>
                <a:cs typeface="Helvetica Neue Light"/>
              </a:rPr>
              <a:t>platform-dependent</a:t>
            </a:r>
            <a:r>
              <a:rPr lang="en-US" dirty="0">
                <a:latin typeface="Helvetica Neue Light"/>
                <a:cs typeface="Helvetica Neue Light"/>
              </a:rPr>
              <a:t> concerns from application concerns .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latin typeface="Helvetica Neue Light"/>
                <a:cs typeface="Helvetica Neue Light"/>
              </a:rPr>
              <a:t>Software must be </a:t>
            </a:r>
            <a:r>
              <a:rPr lang="en-US" dirty="0">
                <a:solidFill>
                  <a:srgbClr val="FF3300"/>
                </a:solidFill>
                <a:latin typeface="Helvetica Neue Light"/>
                <a:cs typeface="Helvetica Neue Light"/>
              </a:rPr>
              <a:t>structured</a:t>
            </a:r>
            <a:r>
              <a:rPr lang="en-US" dirty="0">
                <a:latin typeface="Helvetica Neue Light"/>
                <a:cs typeface="Helvetica Neue Light"/>
              </a:rPr>
              <a:t> into compose-able modules in which interfaces capture not only functionality.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AutoNum type="arabicPeriod"/>
            </a:pPr>
            <a:r>
              <a:rPr lang="en-US" dirty="0">
                <a:latin typeface="Helvetica Neue Light"/>
                <a:cs typeface="Helvetica Neue Light"/>
              </a:rPr>
              <a:t>Timing constraints, in particular on individual components, must be dynamically derived and imposed on the basis of end-to-end requirements.</a:t>
            </a:r>
          </a:p>
        </p:txBody>
      </p:sp>
    </p:spTree>
    <p:extLst>
      <p:ext uri="{BB962C8B-B14F-4D97-AF65-F5344CB8AC3E}">
        <p14:creationId xmlns:p14="http://schemas.microsoft.com/office/powerpoint/2010/main" val="422280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485653" y="1384012"/>
            <a:ext cx="3505200" cy="3505200"/>
            <a:chOff x="2819400" y="1676400"/>
            <a:chExt cx="3505200" cy="3505200"/>
          </a:xfrm>
        </p:grpSpPr>
        <p:sp>
          <p:nvSpPr>
            <p:cNvPr id="8" name="Oval 7"/>
            <p:cNvSpPr/>
            <p:nvPr/>
          </p:nvSpPr>
          <p:spPr>
            <a:xfrm>
              <a:off x="2819400" y="1676400"/>
              <a:ext cx="3505200" cy="3505200"/>
            </a:xfrm>
            <a:prstGeom prst="ellipse">
              <a:avLst/>
            </a:prstGeom>
            <a:solidFill>
              <a:srgbClr val="CC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548674" y="3136612"/>
              <a:ext cx="194053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Thank You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33" y="1275918"/>
            <a:ext cx="3903520" cy="31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0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762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Problem solving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86" y="460868"/>
            <a:ext cx="2427434" cy="171538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0" y="533336"/>
            <a:ext cx="67676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 typeface="Wingdings" charset="2"/>
              <a:buChar char="ü"/>
            </a:pPr>
            <a:r>
              <a:rPr lang="en-US" sz="2000" dirty="0">
                <a:latin typeface="Helvetica Neue Light"/>
                <a:cs typeface="Helvetica Neue Light"/>
              </a:rPr>
              <a:t>Start with your group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 typeface="Wingdings" charset="2"/>
              <a:buChar char="ü"/>
            </a:pPr>
            <a:r>
              <a:rPr lang="en-US" sz="2000" dirty="0">
                <a:latin typeface="Helvetica Neue Light"/>
                <a:cs typeface="Helvetica Neue Light"/>
              </a:rPr>
              <a:t>Refer e-Learning</a:t>
            </a:r>
          </a:p>
        </p:txBody>
      </p:sp>
    </p:spTree>
    <p:extLst>
      <p:ext uri="{BB962C8B-B14F-4D97-AF65-F5344CB8AC3E}">
        <p14:creationId xmlns:p14="http://schemas.microsoft.com/office/powerpoint/2010/main" val="422280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736</Words>
  <Application>Microsoft Office PowerPoint</Application>
  <PresentationFormat>On-screen Show (4:3)</PresentationFormat>
  <Paragraphs>127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Helvetica Neue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utm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adham isa</dc:creator>
  <cp:lastModifiedBy>mohd adham isa</cp:lastModifiedBy>
  <cp:revision>23</cp:revision>
  <dcterms:created xsi:type="dcterms:W3CDTF">2015-03-04T03:06:40Z</dcterms:created>
  <dcterms:modified xsi:type="dcterms:W3CDTF">2021-03-21T09:53:11Z</dcterms:modified>
</cp:coreProperties>
</file>