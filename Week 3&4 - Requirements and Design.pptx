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4" r:id="rId18"/>
    <p:sldId id="277" r:id="rId19"/>
    <p:sldId id="276" r:id="rId20"/>
    <p:sldId id="259" r:id="rId21"/>
    <p:sldId id="26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78"/>
  </p:normalViewPr>
  <p:slideViewPr>
    <p:cSldViewPr snapToGrid="0" snapToObjects="1">
      <p:cViewPr>
        <p:scale>
          <a:sx n="100" d="100"/>
          <a:sy n="100" d="100"/>
        </p:scale>
        <p:origin x="142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0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2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9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3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9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6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8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6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13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0EB02-F633-C548-9162-72D8B19E9A72}" type="datetimeFigureOut">
              <a:rPr lang="en-US" smtClean="0"/>
              <a:t>2/27/18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07A1F-B2C1-E84D-904C-5CDA26564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2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638649"/>
            <a:ext cx="3513180" cy="174106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 Neue Light"/>
                <a:cs typeface="Helvetica Neue Light"/>
              </a:rPr>
              <a:t>Real-time Software </a:t>
            </a:r>
            <a:r>
              <a:rPr lang="en-US" dirty="0" smtClean="0">
                <a:latin typeface="Helvetica Neue Light"/>
                <a:cs typeface="Helvetica Neue Light"/>
              </a:rPr>
              <a:t>Engineering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(RTSE)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Week 3- Requirement Analysis and Design</a:t>
            </a:r>
            <a:endParaRPr lang="en-US" dirty="0">
              <a:latin typeface="Helvetica Neue Light"/>
              <a:cs typeface="Helvetica Neue Light"/>
            </a:endParaRPr>
          </a:p>
          <a:p>
            <a:pPr algn="ct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1612" y="5028603"/>
            <a:ext cx="4043230" cy="1829397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Department of software engineering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Faculty of Computing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UTM</a:t>
            </a:r>
            <a:endParaRPr lang="en-US" dirty="0">
              <a:latin typeface="Helvetica Neue Light"/>
              <a:cs typeface="Helvetica Neue Ligh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80" y="0"/>
            <a:ext cx="5630819" cy="50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0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364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Introduction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278" y="539298"/>
            <a:ext cx="49680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What is requirements analysis and design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Why this process is very important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What is the challenge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Practical approaches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What is a suitable Software process model for ERT system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Summary 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Problem Solving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717800"/>
            <a:ext cx="8890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5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5038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Requirement analysis and design for ERT system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460867"/>
            <a:ext cx="8013700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0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Why this process is important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grpSp>
        <p:nvGrpSpPr>
          <p:cNvPr id="7" name="Group 83"/>
          <p:cNvGrpSpPr>
            <a:grpSpLocks/>
          </p:cNvGrpSpPr>
          <p:nvPr/>
        </p:nvGrpSpPr>
        <p:grpSpPr bwMode="auto">
          <a:xfrm>
            <a:off x="444500" y="1499367"/>
            <a:ext cx="4267200" cy="2438400"/>
            <a:chOff x="912" y="2256"/>
            <a:chExt cx="2400" cy="1428"/>
          </a:xfrm>
        </p:grpSpPr>
        <p:sp>
          <p:nvSpPr>
            <p:cNvPr id="8" name="Freeform 64"/>
            <p:cNvSpPr>
              <a:spLocks/>
            </p:cNvSpPr>
            <p:nvPr/>
          </p:nvSpPr>
          <p:spPr bwMode="auto">
            <a:xfrm>
              <a:off x="1608" y="2802"/>
              <a:ext cx="384" cy="312"/>
            </a:xfrm>
            <a:custGeom>
              <a:avLst/>
              <a:gdLst>
                <a:gd name="T0" fmla="*/ 384 w 384"/>
                <a:gd name="T1" fmla="*/ 132 h 312"/>
                <a:gd name="T2" fmla="*/ 0 w 384"/>
                <a:gd name="T3" fmla="*/ 0 h 312"/>
                <a:gd name="T4" fmla="*/ 0 w 384"/>
                <a:gd name="T5" fmla="*/ 180 h 312"/>
                <a:gd name="T6" fmla="*/ 384 w 384"/>
                <a:gd name="T7" fmla="*/ 312 h 312"/>
                <a:gd name="T8" fmla="*/ 384 w 384"/>
                <a:gd name="T9" fmla="*/ 132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312"/>
                <a:gd name="T17" fmla="*/ 384 w 384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312">
                  <a:moveTo>
                    <a:pt x="384" y="132"/>
                  </a:moveTo>
                  <a:lnTo>
                    <a:pt x="0" y="0"/>
                  </a:lnTo>
                  <a:lnTo>
                    <a:pt x="0" y="180"/>
                  </a:lnTo>
                  <a:lnTo>
                    <a:pt x="384" y="312"/>
                  </a:lnTo>
                  <a:lnTo>
                    <a:pt x="384" y="132"/>
                  </a:lnTo>
                  <a:close/>
                </a:path>
              </a:pathLst>
            </a:custGeom>
            <a:solidFill>
              <a:srgbClr val="66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5"/>
            <p:cNvSpPr>
              <a:spLocks/>
            </p:cNvSpPr>
            <p:nvPr/>
          </p:nvSpPr>
          <p:spPr bwMode="auto">
            <a:xfrm>
              <a:off x="1608" y="2766"/>
              <a:ext cx="384" cy="168"/>
            </a:xfrm>
            <a:custGeom>
              <a:avLst/>
              <a:gdLst>
                <a:gd name="T0" fmla="*/ 0 w 384"/>
                <a:gd name="T1" fmla="*/ 30 h 168"/>
                <a:gd name="T2" fmla="*/ 24 w 384"/>
                <a:gd name="T3" fmla="*/ 30 h 168"/>
                <a:gd name="T4" fmla="*/ 42 w 384"/>
                <a:gd name="T5" fmla="*/ 24 h 168"/>
                <a:gd name="T6" fmla="*/ 60 w 384"/>
                <a:gd name="T7" fmla="*/ 24 h 168"/>
                <a:gd name="T8" fmla="*/ 78 w 384"/>
                <a:gd name="T9" fmla="*/ 18 h 168"/>
                <a:gd name="T10" fmla="*/ 102 w 384"/>
                <a:gd name="T11" fmla="*/ 18 h 168"/>
                <a:gd name="T12" fmla="*/ 120 w 384"/>
                <a:gd name="T13" fmla="*/ 12 h 168"/>
                <a:gd name="T14" fmla="*/ 144 w 384"/>
                <a:gd name="T15" fmla="*/ 12 h 168"/>
                <a:gd name="T16" fmla="*/ 162 w 384"/>
                <a:gd name="T17" fmla="*/ 6 h 168"/>
                <a:gd name="T18" fmla="*/ 186 w 384"/>
                <a:gd name="T19" fmla="*/ 6 h 168"/>
                <a:gd name="T20" fmla="*/ 204 w 384"/>
                <a:gd name="T21" fmla="*/ 6 h 168"/>
                <a:gd name="T22" fmla="*/ 228 w 384"/>
                <a:gd name="T23" fmla="*/ 6 h 168"/>
                <a:gd name="T24" fmla="*/ 252 w 384"/>
                <a:gd name="T25" fmla="*/ 0 h 168"/>
                <a:gd name="T26" fmla="*/ 270 w 384"/>
                <a:gd name="T27" fmla="*/ 0 h 168"/>
                <a:gd name="T28" fmla="*/ 294 w 384"/>
                <a:gd name="T29" fmla="*/ 0 h 168"/>
                <a:gd name="T30" fmla="*/ 318 w 384"/>
                <a:gd name="T31" fmla="*/ 0 h 168"/>
                <a:gd name="T32" fmla="*/ 342 w 384"/>
                <a:gd name="T33" fmla="*/ 0 h 168"/>
                <a:gd name="T34" fmla="*/ 360 w 384"/>
                <a:gd name="T35" fmla="*/ 0 h 168"/>
                <a:gd name="T36" fmla="*/ 384 w 384"/>
                <a:gd name="T37" fmla="*/ 0 h 168"/>
                <a:gd name="T38" fmla="*/ 384 w 384"/>
                <a:gd name="T39" fmla="*/ 168 h 168"/>
                <a:gd name="T40" fmla="*/ 0 w 384"/>
                <a:gd name="T41" fmla="*/ 30 h 1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84"/>
                <a:gd name="T64" fmla="*/ 0 h 168"/>
                <a:gd name="T65" fmla="*/ 384 w 384"/>
                <a:gd name="T66" fmla="*/ 168 h 16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84" h="168">
                  <a:moveTo>
                    <a:pt x="0" y="30"/>
                  </a:moveTo>
                  <a:lnTo>
                    <a:pt x="24" y="30"/>
                  </a:lnTo>
                  <a:lnTo>
                    <a:pt x="42" y="24"/>
                  </a:lnTo>
                  <a:lnTo>
                    <a:pt x="60" y="24"/>
                  </a:lnTo>
                  <a:lnTo>
                    <a:pt x="78" y="18"/>
                  </a:lnTo>
                  <a:lnTo>
                    <a:pt x="102" y="18"/>
                  </a:lnTo>
                  <a:lnTo>
                    <a:pt x="120" y="12"/>
                  </a:lnTo>
                  <a:lnTo>
                    <a:pt x="144" y="12"/>
                  </a:lnTo>
                  <a:lnTo>
                    <a:pt x="162" y="6"/>
                  </a:lnTo>
                  <a:lnTo>
                    <a:pt x="186" y="6"/>
                  </a:lnTo>
                  <a:lnTo>
                    <a:pt x="204" y="6"/>
                  </a:lnTo>
                  <a:lnTo>
                    <a:pt x="228" y="6"/>
                  </a:lnTo>
                  <a:lnTo>
                    <a:pt x="252" y="0"/>
                  </a:lnTo>
                  <a:lnTo>
                    <a:pt x="270" y="0"/>
                  </a:lnTo>
                  <a:lnTo>
                    <a:pt x="294" y="0"/>
                  </a:lnTo>
                  <a:lnTo>
                    <a:pt x="318" y="0"/>
                  </a:lnTo>
                  <a:lnTo>
                    <a:pt x="342" y="0"/>
                  </a:lnTo>
                  <a:lnTo>
                    <a:pt x="360" y="0"/>
                  </a:lnTo>
                  <a:lnTo>
                    <a:pt x="384" y="0"/>
                  </a:lnTo>
                  <a:lnTo>
                    <a:pt x="384" y="16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6"/>
            <p:cNvSpPr>
              <a:spLocks/>
            </p:cNvSpPr>
            <p:nvPr/>
          </p:nvSpPr>
          <p:spPr bwMode="auto">
            <a:xfrm>
              <a:off x="1422" y="2856"/>
              <a:ext cx="570" cy="258"/>
            </a:xfrm>
            <a:custGeom>
              <a:avLst/>
              <a:gdLst>
                <a:gd name="T0" fmla="*/ 570 w 570"/>
                <a:gd name="T1" fmla="*/ 78 h 258"/>
                <a:gd name="T2" fmla="*/ 0 w 570"/>
                <a:gd name="T3" fmla="*/ 0 h 258"/>
                <a:gd name="T4" fmla="*/ 0 w 570"/>
                <a:gd name="T5" fmla="*/ 180 h 258"/>
                <a:gd name="T6" fmla="*/ 570 w 570"/>
                <a:gd name="T7" fmla="*/ 258 h 258"/>
                <a:gd name="T8" fmla="*/ 570 w 570"/>
                <a:gd name="T9" fmla="*/ 78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0"/>
                <a:gd name="T16" fmla="*/ 0 h 258"/>
                <a:gd name="T17" fmla="*/ 570 w 570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0" h="258">
                  <a:moveTo>
                    <a:pt x="570" y="78"/>
                  </a:moveTo>
                  <a:lnTo>
                    <a:pt x="0" y="0"/>
                  </a:lnTo>
                  <a:lnTo>
                    <a:pt x="0" y="180"/>
                  </a:lnTo>
                  <a:lnTo>
                    <a:pt x="570" y="258"/>
                  </a:lnTo>
                  <a:lnTo>
                    <a:pt x="570" y="78"/>
                  </a:lnTo>
                  <a:close/>
                </a:path>
              </a:pathLst>
            </a:custGeom>
            <a:solidFill>
              <a:srgbClr val="8080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7"/>
            <p:cNvSpPr>
              <a:spLocks/>
            </p:cNvSpPr>
            <p:nvPr/>
          </p:nvSpPr>
          <p:spPr bwMode="auto">
            <a:xfrm>
              <a:off x="1422" y="2796"/>
              <a:ext cx="570" cy="138"/>
            </a:xfrm>
            <a:custGeom>
              <a:avLst/>
              <a:gdLst>
                <a:gd name="T0" fmla="*/ 0 w 570"/>
                <a:gd name="T1" fmla="*/ 54 h 138"/>
                <a:gd name="T2" fmla="*/ 12 w 570"/>
                <a:gd name="T3" fmla="*/ 48 h 138"/>
                <a:gd name="T4" fmla="*/ 24 w 570"/>
                <a:gd name="T5" fmla="*/ 48 h 138"/>
                <a:gd name="T6" fmla="*/ 36 w 570"/>
                <a:gd name="T7" fmla="*/ 42 h 138"/>
                <a:gd name="T8" fmla="*/ 54 w 570"/>
                <a:gd name="T9" fmla="*/ 36 h 138"/>
                <a:gd name="T10" fmla="*/ 66 w 570"/>
                <a:gd name="T11" fmla="*/ 30 h 138"/>
                <a:gd name="T12" fmla="*/ 90 w 570"/>
                <a:gd name="T13" fmla="*/ 24 h 138"/>
                <a:gd name="T14" fmla="*/ 102 w 570"/>
                <a:gd name="T15" fmla="*/ 18 h 138"/>
                <a:gd name="T16" fmla="*/ 120 w 570"/>
                <a:gd name="T17" fmla="*/ 18 h 138"/>
                <a:gd name="T18" fmla="*/ 138 w 570"/>
                <a:gd name="T19" fmla="*/ 12 h 138"/>
                <a:gd name="T20" fmla="*/ 156 w 570"/>
                <a:gd name="T21" fmla="*/ 6 h 138"/>
                <a:gd name="T22" fmla="*/ 168 w 570"/>
                <a:gd name="T23" fmla="*/ 6 h 138"/>
                <a:gd name="T24" fmla="*/ 186 w 570"/>
                <a:gd name="T25" fmla="*/ 0 h 138"/>
                <a:gd name="T26" fmla="*/ 570 w 570"/>
                <a:gd name="T27" fmla="*/ 138 h 138"/>
                <a:gd name="T28" fmla="*/ 0 w 570"/>
                <a:gd name="T29" fmla="*/ 54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70"/>
                <a:gd name="T46" fmla="*/ 0 h 138"/>
                <a:gd name="T47" fmla="*/ 570 w 570"/>
                <a:gd name="T48" fmla="*/ 138 h 1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70" h="138">
                  <a:moveTo>
                    <a:pt x="0" y="54"/>
                  </a:moveTo>
                  <a:lnTo>
                    <a:pt x="12" y="48"/>
                  </a:lnTo>
                  <a:lnTo>
                    <a:pt x="24" y="48"/>
                  </a:lnTo>
                  <a:lnTo>
                    <a:pt x="36" y="42"/>
                  </a:lnTo>
                  <a:lnTo>
                    <a:pt x="54" y="36"/>
                  </a:lnTo>
                  <a:lnTo>
                    <a:pt x="66" y="30"/>
                  </a:lnTo>
                  <a:lnTo>
                    <a:pt x="90" y="24"/>
                  </a:lnTo>
                  <a:lnTo>
                    <a:pt x="102" y="18"/>
                  </a:lnTo>
                  <a:lnTo>
                    <a:pt x="120" y="18"/>
                  </a:lnTo>
                  <a:lnTo>
                    <a:pt x="138" y="12"/>
                  </a:lnTo>
                  <a:lnTo>
                    <a:pt x="156" y="6"/>
                  </a:lnTo>
                  <a:lnTo>
                    <a:pt x="168" y="6"/>
                  </a:lnTo>
                  <a:lnTo>
                    <a:pt x="186" y="0"/>
                  </a:lnTo>
                  <a:lnTo>
                    <a:pt x="570" y="138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8"/>
            <p:cNvSpPr>
              <a:spLocks/>
            </p:cNvSpPr>
            <p:nvPr/>
          </p:nvSpPr>
          <p:spPr bwMode="auto">
            <a:xfrm>
              <a:off x="1344" y="2934"/>
              <a:ext cx="408" cy="336"/>
            </a:xfrm>
            <a:custGeom>
              <a:avLst/>
              <a:gdLst>
                <a:gd name="T0" fmla="*/ 408 w 408"/>
                <a:gd name="T1" fmla="*/ 156 h 336"/>
                <a:gd name="T2" fmla="*/ 384 w 408"/>
                <a:gd name="T3" fmla="*/ 150 h 336"/>
                <a:gd name="T4" fmla="*/ 354 w 408"/>
                <a:gd name="T5" fmla="*/ 150 h 336"/>
                <a:gd name="T6" fmla="*/ 336 w 408"/>
                <a:gd name="T7" fmla="*/ 144 h 336"/>
                <a:gd name="T8" fmla="*/ 312 w 408"/>
                <a:gd name="T9" fmla="*/ 144 h 336"/>
                <a:gd name="T10" fmla="*/ 294 w 408"/>
                <a:gd name="T11" fmla="*/ 138 h 336"/>
                <a:gd name="T12" fmla="*/ 264 w 408"/>
                <a:gd name="T13" fmla="*/ 132 h 336"/>
                <a:gd name="T14" fmla="*/ 246 w 408"/>
                <a:gd name="T15" fmla="*/ 132 h 336"/>
                <a:gd name="T16" fmla="*/ 234 w 408"/>
                <a:gd name="T17" fmla="*/ 126 h 336"/>
                <a:gd name="T18" fmla="*/ 216 w 408"/>
                <a:gd name="T19" fmla="*/ 126 h 336"/>
                <a:gd name="T20" fmla="*/ 192 w 408"/>
                <a:gd name="T21" fmla="*/ 120 h 336"/>
                <a:gd name="T22" fmla="*/ 174 w 408"/>
                <a:gd name="T23" fmla="*/ 114 h 336"/>
                <a:gd name="T24" fmla="*/ 156 w 408"/>
                <a:gd name="T25" fmla="*/ 108 h 336"/>
                <a:gd name="T26" fmla="*/ 144 w 408"/>
                <a:gd name="T27" fmla="*/ 102 h 336"/>
                <a:gd name="T28" fmla="*/ 120 w 408"/>
                <a:gd name="T29" fmla="*/ 96 h 336"/>
                <a:gd name="T30" fmla="*/ 108 w 408"/>
                <a:gd name="T31" fmla="*/ 90 h 336"/>
                <a:gd name="T32" fmla="*/ 96 w 408"/>
                <a:gd name="T33" fmla="*/ 90 h 336"/>
                <a:gd name="T34" fmla="*/ 78 w 408"/>
                <a:gd name="T35" fmla="*/ 78 h 336"/>
                <a:gd name="T36" fmla="*/ 72 w 408"/>
                <a:gd name="T37" fmla="*/ 72 h 336"/>
                <a:gd name="T38" fmla="*/ 60 w 408"/>
                <a:gd name="T39" fmla="*/ 72 h 336"/>
                <a:gd name="T40" fmla="*/ 48 w 408"/>
                <a:gd name="T41" fmla="*/ 66 h 336"/>
                <a:gd name="T42" fmla="*/ 36 w 408"/>
                <a:gd name="T43" fmla="*/ 54 h 336"/>
                <a:gd name="T44" fmla="*/ 30 w 408"/>
                <a:gd name="T45" fmla="*/ 48 h 336"/>
                <a:gd name="T46" fmla="*/ 24 w 408"/>
                <a:gd name="T47" fmla="*/ 42 h 336"/>
                <a:gd name="T48" fmla="*/ 18 w 408"/>
                <a:gd name="T49" fmla="*/ 42 h 336"/>
                <a:gd name="T50" fmla="*/ 12 w 408"/>
                <a:gd name="T51" fmla="*/ 30 h 336"/>
                <a:gd name="T52" fmla="*/ 6 w 408"/>
                <a:gd name="T53" fmla="*/ 24 h 336"/>
                <a:gd name="T54" fmla="*/ 6 w 408"/>
                <a:gd name="T55" fmla="*/ 18 h 336"/>
                <a:gd name="T56" fmla="*/ 0 w 408"/>
                <a:gd name="T57" fmla="*/ 12 h 336"/>
                <a:gd name="T58" fmla="*/ 0 w 408"/>
                <a:gd name="T59" fmla="*/ 6 h 336"/>
                <a:gd name="T60" fmla="*/ 0 w 408"/>
                <a:gd name="T61" fmla="*/ 0 h 336"/>
                <a:gd name="T62" fmla="*/ 0 w 408"/>
                <a:gd name="T63" fmla="*/ 180 h 336"/>
                <a:gd name="T64" fmla="*/ 0 w 408"/>
                <a:gd name="T65" fmla="*/ 186 h 336"/>
                <a:gd name="T66" fmla="*/ 0 w 408"/>
                <a:gd name="T67" fmla="*/ 192 h 336"/>
                <a:gd name="T68" fmla="*/ 6 w 408"/>
                <a:gd name="T69" fmla="*/ 198 h 336"/>
                <a:gd name="T70" fmla="*/ 6 w 408"/>
                <a:gd name="T71" fmla="*/ 204 h 336"/>
                <a:gd name="T72" fmla="*/ 12 w 408"/>
                <a:gd name="T73" fmla="*/ 210 h 336"/>
                <a:gd name="T74" fmla="*/ 18 w 408"/>
                <a:gd name="T75" fmla="*/ 222 h 336"/>
                <a:gd name="T76" fmla="*/ 24 w 408"/>
                <a:gd name="T77" fmla="*/ 222 h 336"/>
                <a:gd name="T78" fmla="*/ 30 w 408"/>
                <a:gd name="T79" fmla="*/ 228 h 336"/>
                <a:gd name="T80" fmla="*/ 36 w 408"/>
                <a:gd name="T81" fmla="*/ 234 h 336"/>
                <a:gd name="T82" fmla="*/ 48 w 408"/>
                <a:gd name="T83" fmla="*/ 246 h 336"/>
                <a:gd name="T84" fmla="*/ 60 w 408"/>
                <a:gd name="T85" fmla="*/ 252 h 336"/>
                <a:gd name="T86" fmla="*/ 72 w 408"/>
                <a:gd name="T87" fmla="*/ 252 h 336"/>
                <a:gd name="T88" fmla="*/ 78 w 408"/>
                <a:gd name="T89" fmla="*/ 258 h 336"/>
                <a:gd name="T90" fmla="*/ 96 w 408"/>
                <a:gd name="T91" fmla="*/ 270 h 336"/>
                <a:gd name="T92" fmla="*/ 108 w 408"/>
                <a:gd name="T93" fmla="*/ 270 h 336"/>
                <a:gd name="T94" fmla="*/ 120 w 408"/>
                <a:gd name="T95" fmla="*/ 276 h 336"/>
                <a:gd name="T96" fmla="*/ 144 w 408"/>
                <a:gd name="T97" fmla="*/ 282 h 336"/>
                <a:gd name="T98" fmla="*/ 156 w 408"/>
                <a:gd name="T99" fmla="*/ 288 h 336"/>
                <a:gd name="T100" fmla="*/ 174 w 408"/>
                <a:gd name="T101" fmla="*/ 294 h 336"/>
                <a:gd name="T102" fmla="*/ 192 w 408"/>
                <a:gd name="T103" fmla="*/ 300 h 336"/>
                <a:gd name="T104" fmla="*/ 216 w 408"/>
                <a:gd name="T105" fmla="*/ 306 h 336"/>
                <a:gd name="T106" fmla="*/ 234 w 408"/>
                <a:gd name="T107" fmla="*/ 306 h 336"/>
                <a:gd name="T108" fmla="*/ 246 w 408"/>
                <a:gd name="T109" fmla="*/ 312 h 336"/>
                <a:gd name="T110" fmla="*/ 264 w 408"/>
                <a:gd name="T111" fmla="*/ 312 h 336"/>
                <a:gd name="T112" fmla="*/ 294 w 408"/>
                <a:gd name="T113" fmla="*/ 318 h 336"/>
                <a:gd name="T114" fmla="*/ 312 w 408"/>
                <a:gd name="T115" fmla="*/ 324 h 336"/>
                <a:gd name="T116" fmla="*/ 336 w 408"/>
                <a:gd name="T117" fmla="*/ 324 h 336"/>
                <a:gd name="T118" fmla="*/ 354 w 408"/>
                <a:gd name="T119" fmla="*/ 330 h 336"/>
                <a:gd name="T120" fmla="*/ 384 w 408"/>
                <a:gd name="T121" fmla="*/ 330 h 336"/>
                <a:gd name="T122" fmla="*/ 408 w 408"/>
                <a:gd name="T123" fmla="*/ 336 h 336"/>
                <a:gd name="T124" fmla="*/ 408 w 408"/>
                <a:gd name="T125" fmla="*/ 156 h 3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408"/>
                <a:gd name="T190" fmla="*/ 0 h 336"/>
                <a:gd name="T191" fmla="*/ 408 w 408"/>
                <a:gd name="T192" fmla="*/ 336 h 3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408" h="336">
                  <a:moveTo>
                    <a:pt x="408" y="156"/>
                  </a:moveTo>
                  <a:lnTo>
                    <a:pt x="384" y="150"/>
                  </a:lnTo>
                  <a:lnTo>
                    <a:pt x="354" y="150"/>
                  </a:lnTo>
                  <a:lnTo>
                    <a:pt x="336" y="144"/>
                  </a:lnTo>
                  <a:lnTo>
                    <a:pt x="312" y="144"/>
                  </a:lnTo>
                  <a:lnTo>
                    <a:pt x="294" y="138"/>
                  </a:lnTo>
                  <a:lnTo>
                    <a:pt x="264" y="132"/>
                  </a:lnTo>
                  <a:lnTo>
                    <a:pt x="246" y="132"/>
                  </a:lnTo>
                  <a:lnTo>
                    <a:pt x="234" y="126"/>
                  </a:lnTo>
                  <a:lnTo>
                    <a:pt x="216" y="126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56" y="108"/>
                  </a:lnTo>
                  <a:lnTo>
                    <a:pt x="144" y="102"/>
                  </a:lnTo>
                  <a:lnTo>
                    <a:pt x="120" y="96"/>
                  </a:lnTo>
                  <a:lnTo>
                    <a:pt x="108" y="90"/>
                  </a:lnTo>
                  <a:lnTo>
                    <a:pt x="96" y="90"/>
                  </a:lnTo>
                  <a:lnTo>
                    <a:pt x="78" y="78"/>
                  </a:lnTo>
                  <a:lnTo>
                    <a:pt x="72" y="72"/>
                  </a:lnTo>
                  <a:lnTo>
                    <a:pt x="60" y="72"/>
                  </a:lnTo>
                  <a:lnTo>
                    <a:pt x="48" y="66"/>
                  </a:lnTo>
                  <a:lnTo>
                    <a:pt x="36" y="54"/>
                  </a:lnTo>
                  <a:lnTo>
                    <a:pt x="30" y="48"/>
                  </a:lnTo>
                  <a:lnTo>
                    <a:pt x="24" y="42"/>
                  </a:lnTo>
                  <a:lnTo>
                    <a:pt x="18" y="42"/>
                  </a:lnTo>
                  <a:lnTo>
                    <a:pt x="12" y="30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0" y="12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180"/>
                  </a:lnTo>
                  <a:lnTo>
                    <a:pt x="0" y="186"/>
                  </a:lnTo>
                  <a:lnTo>
                    <a:pt x="0" y="192"/>
                  </a:lnTo>
                  <a:lnTo>
                    <a:pt x="6" y="198"/>
                  </a:lnTo>
                  <a:lnTo>
                    <a:pt x="6" y="204"/>
                  </a:lnTo>
                  <a:lnTo>
                    <a:pt x="12" y="210"/>
                  </a:lnTo>
                  <a:lnTo>
                    <a:pt x="18" y="222"/>
                  </a:lnTo>
                  <a:lnTo>
                    <a:pt x="24" y="222"/>
                  </a:lnTo>
                  <a:lnTo>
                    <a:pt x="30" y="228"/>
                  </a:lnTo>
                  <a:lnTo>
                    <a:pt x="36" y="234"/>
                  </a:lnTo>
                  <a:lnTo>
                    <a:pt x="48" y="246"/>
                  </a:lnTo>
                  <a:lnTo>
                    <a:pt x="60" y="252"/>
                  </a:lnTo>
                  <a:lnTo>
                    <a:pt x="72" y="252"/>
                  </a:lnTo>
                  <a:lnTo>
                    <a:pt x="78" y="258"/>
                  </a:lnTo>
                  <a:lnTo>
                    <a:pt x="96" y="270"/>
                  </a:lnTo>
                  <a:lnTo>
                    <a:pt x="108" y="270"/>
                  </a:lnTo>
                  <a:lnTo>
                    <a:pt x="120" y="276"/>
                  </a:lnTo>
                  <a:lnTo>
                    <a:pt x="144" y="282"/>
                  </a:lnTo>
                  <a:lnTo>
                    <a:pt x="156" y="288"/>
                  </a:lnTo>
                  <a:lnTo>
                    <a:pt x="174" y="294"/>
                  </a:lnTo>
                  <a:lnTo>
                    <a:pt x="192" y="300"/>
                  </a:lnTo>
                  <a:lnTo>
                    <a:pt x="216" y="306"/>
                  </a:lnTo>
                  <a:lnTo>
                    <a:pt x="234" y="306"/>
                  </a:lnTo>
                  <a:lnTo>
                    <a:pt x="246" y="312"/>
                  </a:lnTo>
                  <a:lnTo>
                    <a:pt x="264" y="312"/>
                  </a:lnTo>
                  <a:lnTo>
                    <a:pt x="294" y="318"/>
                  </a:lnTo>
                  <a:lnTo>
                    <a:pt x="312" y="324"/>
                  </a:lnTo>
                  <a:lnTo>
                    <a:pt x="336" y="324"/>
                  </a:lnTo>
                  <a:lnTo>
                    <a:pt x="354" y="330"/>
                  </a:lnTo>
                  <a:lnTo>
                    <a:pt x="384" y="330"/>
                  </a:lnTo>
                  <a:lnTo>
                    <a:pt x="408" y="336"/>
                  </a:lnTo>
                  <a:lnTo>
                    <a:pt x="408" y="156"/>
                  </a:lnTo>
                  <a:close/>
                </a:path>
              </a:pathLst>
            </a:custGeom>
            <a:solidFill>
              <a:srgbClr val="4D1A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9"/>
            <p:cNvSpPr>
              <a:spLocks/>
            </p:cNvSpPr>
            <p:nvPr/>
          </p:nvSpPr>
          <p:spPr bwMode="auto">
            <a:xfrm>
              <a:off x="1752" y="2934"/>
              <a:ext cx="240" cy="336"/>
            </a:xfrm>
            <a:custGeom>
              <a:avLst/>
              <a:gdLst>
                <a:gd name="T0" fmla="*/ 240 w 240"/>
                <a:gd name="T1" fmla="*/ 0 h 336"/>
                <a:gd name="T2" fmla="*/ 0 w 240"/>
                <a:gd name="T3" fmla="*/ 156 h 336"/>
                <a:gd name="T4" fmla="*/ 0 w 240"/>
                <a:gd name="T5" fmla="*/ 336 h 336"/>
                <a:gd name="T6" fmla="*/ 240 w 240"/>
                <a:gd name="T7" fmla="*/ 180 h 336"/>
                <a:gd name="T8" fmla="*/ 240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240" y="0"/>
                  </a:moveTo>
                  <a:lnTo>
                    <a:pt x="0" y="156"/>
                  </a:lnTo>
                  <a:lnTo>
                    <a:pt x="0" y="336"/>
                  </a:lnTo>
                  <a:lnTo>
                    <a:pt x="240" y="180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4D1A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0"/>
            <p:cNvSpPr>
              <a:spLocks/>
            </p:cNvSpPr>
            <p:nvPr/>
          </p:nvSpPr>
          <p:spPr bwMode="auto">
            <a:xfrm>
              <a:off x="1344" y="2850"/>
              <a:ext cx="648" cy="240"/>
            </a:xfrm>
            <a:custGeom>
              <a:avLst/>
              <a:gdLst>
                <a:gd name="T0" fmla="*/ 408 w 648"/>
                <a:gd name="T1" fmla="*/ 240 h 240"/>
                <a:gd name="T2" fmla="*/ 384 w 648"/>
                <a:gd name="T3" fmla="*/ 234 h 240"/>
                <a:gd name="T4" fmla="*/ 354 w 648"/>
                <a:gd name="T5" fmla="*/ 234 h 240"/>
                <a:gd name="T6" fmla="*/ 336 w 648"/>
                <a:gd name="T7" fmla="*/ 228 h 240"/>
                <a:gd name="T8" fmla="*/ 312 w 648"/>
                <a:gd name="T9" fmla="*/ 228 h 240"/>
                <a:gd name="T10" fmla="*/ 288 w 648"/>
                <a:gd name="T11" fmla="*/ 222 h 240"/>
                <a:gd name="T12" fmla="*/ 264 w 648"/>
                <a:gd name="T13" fmla="*/ 216 h 240"/>
                <a:gd name="T14" fmla="*/ 246 w 648"/>
                <a:gd name="T15" fmla="*/ 216 h 240"/>
                <a:gd name="T16" fmla="*/ 234 w 648"/>
                <a:gd name="T17" fmla="*/ 210 h 240"/>
                <a:gd name="T18" fmla="*/ 204 w 648"/>
                <a:gd name="T19" fmla="*/ 204 h 240"/>
                <a:gd name="T20" fmla="*/ 192 w 648"/>
                <a:gd name="T21" fmla="*/ 204 h 240"/>
                <a:gd name="T22" fmla="*/ 174 w 648"/>
                <a:gd name="T23" fmla="*/ 198 h 240"/>
                <a:gd name="T24" fmla="*/ 150 w 648"/>
                <a:gd name="T25" fmla="*/ 192 h 240"/>
                <a:gd name="T26" fmla="*/ 138 w 648"/>
                <a:gd name="T27" fmla="*/ 186 h 240"/>
                <a:gd name="T28" fmla="*/ 120 w 648"/>
                <a:gd name="T29" fmla="*/ 180 h 240"/>
                <a:gd name="T30" fmla="*/ 102 w 648"/>
                <a:gd name="T31" fmla="*/ 174 h 240"/>
                <a:gd name="T32" fmla="*/ 90 w 648"/>
                <a:gd name="T33" fmla="*/ 168 h 240"/>
                <a:gd name="T34" fmla="*/ 78 w 648"/>
                <a:gd name="T35" fmla="*/ 162 h 240"/>
                <a:gd name="T36" fmla="*/ 66 w 648"/>
                <a:gd name="T37" fmla="*/ 156 h 240"/>
                <a:gd name="T38" fmla="*/ 54 w 648"/>
                <a:gd name="T39" fmla="*/ 150 h 240"/>
                <a:gd name="T40" fmla="*/ 48 w 648"/>
                <a:gd name="T41" fmla="*/ 144 h 240"/>
                <a:gd name="T42" fmla="*/ 36 w 648"/>
                <a:gd name="T43" fmla="*/ 138 h 240"/>
                <a:gd name="T44" fmla="*/ 24 w 648"/>
                <a:gd name="T45" fmla="*/ 132 h 240"/>
                <a:gd name="T46" fmla="*/ 18 w 648"/>
                <a:gd name="T47" fmla="*/ 126 h 240"/>
                <a:gd name="T48" fmla="*/ 18 w 648"/>
                <a:gd name="T49" fmla="*/ 120 h 240"/>
                <a:gd name="T50" fmla="*/ 6 w 648"/>
                <a:gd name="T51" fmla="*/ 114 h 240"/>
                <a:gd name="T52" fmla="*/ 6 w 648"/>
                <a:gd name="T53" fmla="*/ 108 h 240"/>
                <a:gd name="T54" fmla="*/ 0 w 648"/>
                <a:gd name="T55" fmla="*/ 102 h 240"/>
                <a:gd name="T56" fmla="*/ 0 w 648"/>
                <a:gd name="T57" fmla="*/ 90 h 240"/>
                <a:gd name="T58" fmla="*/ 0 w 648"/>
                <a:gd name="T59" fmla="*/ 84 h 240"/>
                <a:gd name="T60" fmla="*/ 0 w 648"/>
                <a:gd name="T61" fmla="*/ 78 h 240"/>
                <a:gd name="T62" fmla="*/ 0 w 648"/>
                <a:gd name="T63" fmla="*/ 72 h 240"/>
                <a:gd name="T64" fmla="*/ 0 w 648"/>
                <a:gd name="T65" fmla="*/ 66 h 240"/>
                <a:gd name="T66" fmla="*/ 6 w 648"/>
                <a:gd name="T67" fmla="*/ 60 h 240"/>
                <a:gd name="T68" fmla="*/ 12 w 648"/>
                <a:gd name="T69" fmla="*/ 48 h 240"/>
                <a:gd name="T70" fmla="*/ 18 w 648"/>
                <a:gd name="T71" fmla="*/ 42 h 240"/>
                <a:gd name="T72" fmla="*/ 18 w 648"/>
                <a:gd name="T73" fmla="*/ 42 h 240"/>
                <a:gd name="T74" fmla="*/ 24 w 648"/>
                <a:gd name="T75" fmla="*/ 36 h 240"/>
                <a:gd name="T76" fmla="*/ 36 w 648"/>
                <a:gd name="T77" fmla="*/ 24 h 240"/>
                <a:gd name="T78" fmla="*/ 48 w 648"/>
                <a:gd name="T79" fmla="*/ 18 h 240"/>
                <a:gd name="T80" fmla="*/ 54 w 648"/>
                <a:gd name="T81" fmla="*/ 12 h 240"/>
                <a:gd name="T82" fmla="*/ 72 w 648"/>
                <a:gd name="T83" fmla="*/ 6 h 240"/>
                <a:gd name="T84" fmla="*/ 78 w 648"/>
                <a:gd name="T85" fmla="*/ 0 h 240"/>
                <a:gd name="T86" fmla="*/ 648 w 648"/>
                <a:gd name="T87" fmla="*/ 84 h 240"/>
                <a:gd name="T88" fmla="*/ 408 w 648"/>
                <a:gd name="T89" fmla="*/ 240 h 2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48"/>
                <a:gd name="T136" fmla="*/ 0 h 240"/>
                <a:gd name="T137" fmla="*/ 648 w 648"/>
                <a:gd name="T138" fmla="*/ 240 h 24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48" h="240">
                  <a:moveTo>
                    <a:pt x="408" y="240"/>
                  </a:moveTo>
                  <a:lnTo>
                    <a:pt x="384" y="234"/>
                  </a:lnTo>
                  <a:lnTo>
                    <a:pt x="354" y="234"/>
                  </a:lnTo>
                  <a:lnTo>
                    <a:pt x="336" y="228"/>
                  </a:lnTo>
                  <a:lnTo>
                    <a:pt x="312" y="228"/>
                  </a:lnTo>
                  <a:lnTo>
                    <a:pt x="288" y="222"/>
                  </a:lnTo>
                  <a:lnTo>
                    <a:pt x="264" y="216"/>
                  </a:lnTo>
                  <a:lnTo>
                    <a:pt x="246" y="216"/>
                  </a:lnTo>
                  <a:lnTo>
                    <a:pt x="234" y="210"/>
                  </a:lnTo>
                  <a:lnTo>
                    <a:pt x="204" y="204"/>
                  </a:lnTo>
                  <a:lnTo>
                    <a:pt x="192" y="204"/>
                  </a:lnTo>
                  <a:lnTo>
                    <a:pt x="174" y="198"/>
                  </a:lnTo>
                  <a:lnTo>
                    <a:pt x="150" y="192"/>
                  </a:lnTo>
                  <a:lnTo>
                    <a:pt x="138" y="186"/>
                  </a:lnTo>
                  <a:lnTo>
                    <a:pt x="120" y="180"/>
                  </a:lnTo>
                  <a:lnTo>
                    <a:pt x="102" y="174"/>
                  </a:lnTo>
                  <a:lnTo>
                    <a:pt x="90" y="168"/>
                  </a:lnTo>
                  <a:lnTo>
                    <a:pt x="78" y="162"/>
                  </a:lnTo>
                  <a:lnTo>
                    <a:pt x="66" y="156"/>
                  </a:lnTo>
                  <a:lnTo>
                    <a:pt x="54" y="150"/>
                  </a:lnTo>
                  <a:lnTo>
                    <a:pt x="48" y="144"/>
                  </a:lnTo>
                  <a:lnTo>
                    <a:pt x="36" y="138"/>
                  </a:lnTo>
                  <a:lnTo>
                    <a:pt x="24" y="132"/>
                  </a:lnTo>
                  <a:lnTo>
                    <a:pt x="18" y="126"/>
                  </a:lnTo>
                  <a:lnTo>
                    <a:pt x="18" y="120"/>
                  </a:lnTo>
                  <a:lnTo>
                    <a:pt x="6" y="114"/>
                  </a:lnTo>
                  <a:lnTo>
                    <a:pt x="6" y="108"/>
                  </a:lnTo>
                  <a:lnTo>
                    <a:pt x="0" y="102"/>
                  </a:lnTo>
                  <a:lnTo>
                    <a:pt x="0" y="90"/>
                  </a:lnTo>
                  <a:lnTo>
                    <a:pt x="0" y="84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0" y="66"/>
                  </a:lnTo>
                  <a:lnTo>
                    <a:pt x="6" y="60"/>
                  </a:lnTo>
                  <a:lnTo>
                    <a:pt x="12" y="48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6" y="24"/>
                  </a:lnTo>
                  <a:lnTo>
                    <a:pt x="48" y="18"/>
                  </a:lnTo>
                  <a:lnTo>
                    <a:pt x="54" y="12"/>
                  </a:lnTo>
                  <a:lnTo>
                    <a:pt x="72" y="6"/>
                  </a:lnTo>
                  <a:lnTo>
                    <a:pt x="78" y="0"/>
                  </a:lnTo>
                  <a:lnTo>
                    <a:pt x="648" y="84"/>
                  </a:lnTo>
                  <a:lnTo>
                    <a:pt x="408" y="240"/>
                  </a:lnTo>
                  <a:close/>
                </a:path>
              </a:pathLst>
            </a:custGeom>
            <a:solidFill>
              <a:srgbClr val="9933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1"/>
            <p:cNvSpPr>
              <a:spLocks/>
            </p:cNvSpPr>
            <p:nvPr/>
          </p:nvSpPr>
          <p:spPr bwMode="auto">
            <a:xfrm>
              <a:off x="1752" y="2934"/>
              <a:ext cx="894" cy="348"/>
            </a:xfrm>
            <a:custGeom>
              <a:avLst/>
              <a:gdLst>
                <a:gd name="T0" fmla="*/ 894 w 894"/>
                <a:gd name="T1" fmla="*/ 6 h 348"/>
                <a:gd name="T2" fmla="*/ 888 w 894"/>
                <a:gd name="T3" fmla="*/ 18 h 348"/>
                <a:gd name="T4" fmla="*/ 876 w 894"/>
                <a:gd name="T5" fmla="*/ 36 h 348"/>
                <a:gd name="T6" fmla="*/ 870 w 894"/>
                <a:gd name="T7" fmla="*/ 42 h 348"/>
                <a:gd name="T8" fmla="*/ 852 w 894"/>
                <a:gd name="T9" fmla="*/ 60 h 348"/>
                <a:gd name="T10" fmla="*/ 828 w 894"/>
                <a:gd name="T11" fmla="*/ 72 h 348"/>
                <a:gd name="T12" fmla="*/ 804 w 894"/>
                <a:gd name="T13" fmla="*/ 84 h 348"/>
                <a:gd name="T14" fmla="*/ 774 w 894"/>
                <a:gd name="T15" fmla="*/ 96 h 348"/>
                <a:gd name="T16" fmla="*/ 738 w 894"/>
                <a:gd name="T17" fmla="*/ 108 h 348"/>
                <a:gd name="T18" fmla="*/ 708 w 894"/>
                <a:gd name="T19" fmla="*/ 114 h 348"/>
                <a:gd name="T20" fmla="*/ 666 w 894"/>
                <a:gd name="T21" fmla="*/ 126 h 348"/>
                <a:gd name="T22" fmla="*/ 624 w 894"/>
                <a:gd name="T23" fmla="*/ 132 h 348"/>
                <a:gd name="T24" fmla="*/ 588 w 894"/>
                <a:gd name="T25" fmla="*/ 138 h 348"/>
                <a:gd name="T26" fmla="*/ 540 w 894"/>
                <a:gd name="T27" fmla="*/ 150 h 348"/>
                <a:gd name="T28" fmla="*/ 486 w 894"/>
                <a:gd name="T29" fmla="*/ 156 h 348"/>
                <a:gd name="T30" fmla="*/ 444 w 894"/>
                <a:gd name="T31" fmla="*/ 156 h 348"/>
                <a:gd name="T32" fmla="*/ 390 w 894"/>
                <a:gd name="T33" fmla="*/ 162 h 348"/>
                <a:gd name="T34" fmla="*/ 330 w 894"/>
                <a:gd name="T35" fmla="*/ 162 h 348"/>
                <a:gd name="T36" fmla="*/ 288 w 894"/>
                <a:gd name="T37" fmla="*/ 168 h 348"/>
                <a:gd name="T38" fmla="*/ 228 w 894"/>
                <a:gd name="T39" fmla="*/ 168 h 348"/>
                <a:gd name="T40" fmla="*/ 174 w 894"/>
                <a:gd name="T41" fmla="*/ 168 h 348"/>
                <a:gd name="T42" fmla="*/ 126 w 894"/>
                <a:gd name="T43" fmla="*/ 162 h 348"/>
                <a:gd name="T44" fmla="*/ 72 w 894"/>
                <a:gd name="T45" fmla="*/ 162 h 348"/>
                <a:gd name="T46" fmla="*/ 18 w 894"/>
                <a:gd name="T47" fmla="*/ 156 h 348"/>
                <a:gd name="T48" fmla="*/ 0 w 894"/>
                <a:gd name="T49" fmla="*/ 336 h 348"/>
                <a:gd name="T50" fmla="*/ 54 w 894"/>
                <a:gd name="T51" fmla="*/ 342 h 348"/>
                <a:gd name="T52" fmla="*/ 96 w 894"/>
                <a:gd name="T53" fmla="*/ 342 h 348"/>
                <a:gd name="T54" fmla="*/ 150 w 894"/>
                <a:gd name="T55" fmla="*/ 342 h 348"/>
                <a:gd name="T56" fmla="*/ 210 w 894"/>
                <a:gd name="T57" fmla="*/ 348 h 348"/>
                <a:gd name="T58" fmla="*/ 252 w 894"/>
                <a:gd name="T59" fmla="*/ 348 h 348"/>
                <a:gd name="T60" fmla="*/ 312 w 894"/>
                <a:gd name="T61" fmla="*/ 348 h 348"/>
                <a:gd name="T62" fmla="*/ 366 w 894"/>
                <a:gd name="T63" fmla="*/ 342 h 348"/>
                <a:gd name="T64" fmla="*/ 408 w 894"/>
                <a:gd name="T65" fmla="*/ 342 h 348"/>
                <a:gd name="T66" fmla="*/ 462 w 894"/>
                <a:gd name="T67" fmla="*/ 336 h 348"/>
                <a:gd name="T68" fmla="*/ 516 w 894"/>
                <a:gd name="T69" fmla="*/ 330 h 348"/>
                <a:gd name="T70" fmla="*/ 558 w 894"/>
                <a:gd name="T71" fmla="*/ 324 h 348"/>
                <a:gd name="T72" fmla="*/ 606 w 894"/>
                <a:gd name="T73" fmla="*/ 318 h 348"/>
                <a:gd name="T74" fmla="*/ 654 w 894"/>
                <a:gd name="T75" fmla="*/ 312 h 348"/>
                <a:gd name="T76" fmla="*/ 684 w 894"/>
                <a:gd name="T77" fmla="*/ 300 h 348"/>
                <a:gd name="T78" fmla="*/ 726 w 894"/>
                <a:gd name="T79" fmla="*/ 288 h 348"/>
                <a:gd name="T80" fmla="*/ 762 w 894"/>
                <a:gd name="T81" fmla="*/ 282 h 348"/>
                <a:gd name="T82" fmla="*/ 786 w 894"/>
                <a:gd name="T83" fmla="*/ 270 h 348"/>
                <a:gd name="T84" fmla="*/ 816 w 894"/>
                <a:gd name="T85" fmla="*/ 258 h 348"/>
                <a:gd name="T86" fmla="*/ 840 w 894"/>
                <a:gd name="T87" fmla="*/ 246 h 348"/>
                <a:gd name="T88" fmla="*/ 858 w 894"/>
                <a:gd name="T89" fmla="*/ 234 h 348"/>
                <a:gd name="T90" fmla="*/ 876 w 894"/>
                <a:gd name="T91" fmla="*/ 222 h 348"/>
                <a:gd name="T92" fmla="*/ 882 w 894"/>
                <a:gd name="T93" fmla="*/ 204 h 348"/>
                <a:gd name="T94" fmla="*/ 888 w 894"/>
                <a:gd name="T95" fmla="*/ 192 h 348"/>
                <a:gd name="T96" fmla="*/ 894 w 894"/>
                <a:gd name="T97" fmla="*/ 180 h 34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94"/>
                <a:gd name="T148" fmla="*/ 0 h 348"/>
                <a:gd name="T149" fmla="*/ 894 w 894"/>
                <a:gd name="T150" fmla="*/ 348 h 34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94" h="348">
                  <a:moveTo>
                    <a:pt x="894" y="0"/>
                  </a:moveTo>
                  <a:lnTo>
                    <a:pt x="894" y="6"/>
                  </a:lnTo>
                  <a:lnTo>
                    <a:pt x="888" y="12"/>
                  </a:lnTo>
                  <a:lnTo>
                    <a:pt x="888" y="18"/>
                  </a:lnTo>
                  <a:lnTo>
                    <a:pt x="882" y="24"/>
                  </a:lnTo>
                  <a:lnTo>
                    <a:pt x="876" y="36"/>
                  </a:lnTo>
                  <a:lnTo>
                    <a:pt x="876" y="42"/>
                  </a:lnTo>
                  <a:lnTo>
                    <a:pt x="870" y="42"/>
                  </a:lnTo>
                  <a:lnTo>
                    <a:pt x="858" y="54"/>
                  </a:lnTo>
                  <a:lnTo>
                    <a:pt x="852" y="60"/>
                  </a:lnTo>
                  <a:lnTo>
                    <a:pt x="840" y="66"/>
                  </a:lnTo>
                  <a:lnTo>
                    <a:pt x="828" y="72"/>
                  </a:lnTo>
                  <a:lnTo>
                    <a:pt x="816" y="78"/>
                  </a:lnTo>
                  <a:lnTo>
                    <a:pt x="804" y="84"/>
                  </a:lnTo>
                  <a:lnTo>
                    <a:pt x="786" y="90"/>
                  </a:lnTo>
                  <a:lnTo>
                    <a:pt x="774" y="96"/>
                  </a:lnTo>
                  <a:lnTo>
                    <a:pt x="762" y="102"/>
                  </a:lnTo>
                  <a:lnTo>
                    <a:pt x="738" y="108"/>
                  </a:lnTo>
                  <a:lnTo>
                    <a:pt x="726" y="108"/>
                  </a:lnTo>
                  <a:lnTo>
                    <a:pt x="708" y="114"/>
                  </a:lnTo>
                  <a:lnTo>
                    <a:pt x="684" y="120"/>
                  </a:lnTo>
                  <a:lnTo>
                    <a:pt x="666" y="126"/>
                  </a:lnTo>
                  <a:lnTo>
                    <a:pt x="654" y="132"/>
                  </a:lnTo>
                  <a:lnTo>
                    <a:pt x="624" y="132"/>
                  </a:lnTo>
                  <a:lnTo>
                    <a:pt x="606" y="138"/>
                  </a:lnTo>
                  <a:lnTo>
                    <a:pt x="588" y="138"/>
                  </a:lnTo>
                  <a:lnTo>
                    <a:pt x="558" y="144"/>
                  </a:lnTo>
                  <a:lnTo>
                    <a:pt x="540" y="150"/>
                  </a:lnTo>
                  <a:lnTo>
                    <a:pt x="516" y="150"/>
                  </a:lnTo>
                  <a:lnTo>
                    <a:pt x="486" y="156"/>
                  </a:lnTo>
                  <a:lnTo>
                    <a:pt x="462" y="156"/>
                  </a:lnTo>
                  <a:lnTo>
                    <a:pt x="444" y="156"/>
                  </a:lnTo>
                  <a:lnTo>
                    <a:pt x="408" y="162"/>
                  </a:lnTo>
                  <a:lnTo>
                    <a:pt x="390" y="162"/>
                  </a:lnTo>
                  <a:lnTo>
                    <a:pt x="366" y="162"/>
                  </a:lnTo>
                  <a:lnTo>
                    <a:pt x="330" y="162"/>
                  </a:lnTo>
                  <a:lnTo>
                    <a:pt x="312" y="168"/>
                  </a:lnTo>
                  <a:lnTo>
                    <a:pt x="288" y="168"/>
                  </a:lnTo>
                  <a:lnTo>
                    <a:pt x="252" y="168"/>
                  </a:lnTo>
                  <a:lnTo>
                    <a:pt x="228" y="168"/>
                  </a:lnTo>
                  <a:lnTo>
                    <a:pt x="210" y="168"/>
                  </a:lnTo>
                  <a:lnTo>
                    <a:pt x="174" y="168"/>
                  </a:lnTo>
                  <a:lnTo>
                    <a:pt x="150" y="162"/>
                  </a:lnTo>
                  <a:lnTo>
                    <a:pt x="126" y="162"/>
                  </a:lnTo>
                  <a:lnTo>
                    <a:pt x="96" y="162"/>
                  </a:lnTo>
                  <a:lnTo>
                    <a:pt x="72" y="162"/>
                  </a:lnTo>
                  <a:lnTo>
                    <a:pt x="54" y="162"/>
                  </a:lnTo>
                  <a:lnTo>
                    <a:pt x="18" y="156"/>
                  </a:lnTo>
                  <a:lnTo>
                    <a:pt x="0" y="156"/>
                  </a:lnTo>
                  <a:lnTo>
                    <a:pt x="0" y="336"/>
                  </a:lnTo>
                  <a:lnTo>
                    <a:pt x="18" y="336"/>
                  </a:lnTo>
                  <a:lnTo>
                    <a:pt x="54" y="342"/>
                  </a:lnTo>
                  <a:lnTo>
                    <a:pt x="72" y="342"/>
                  </a:lnTo>
                  <a:lnTo>
                    <a:pt x="96" y="342"/>
                  </a:lnTo>
                  <a:lnTo>
                    <a:pt x="126" y="342"/>
                  </a:lnTo>
                  <a:lnTo>
                    <a:pt x="150" y="342"/>
                  </a:lnTo>
                  <a:lnTo>
                    <a:pt x="174" y="348"/>
                  </a:lnTo>
                  <a:lnTo>
                    <a:pt x="210" y="348"/>
                  </a:lnTo>
                  <a:lnTo>
                    <a:pt x="228" y="348"/>
                  </a:lnTo>
                  <a:lnTo>
                    <a:pt x="252" y="348"/>
                  </a:lnTo>
                  <a:lnTo>
                    <a:pt x="288" y="348"/>
                  </a:lnTo>
                  <a:lnTo>
                    <a:pt x="312" y="348"/>
                  </a:lnTo>
                  <a:lnTo>
                    <a:pt x="330" y="342"/>
                  </a:lnTo>
                  <a:lnTo>
                    <a:pt x="366" y="342"/>
                  </a:lnTo>
                  <a:lnTo>
                    <a:pt x="390" y="342"/>
                  </a:lnTo>
                  <a:lnTo>
                    <a:pt x="408" y="342"/>
                  </a:lnTo>
                  <a:lnTo>
                    <a:pt x="444" y="336"/>
                  </a:lnTo>
                  <a:lnTo>
                    <a:pt x="462" y="336"/>
                  </a:lnTo>
                  <a:lnTo>
                    <a:pt x="486" y="336"/>
                  </a:lnTo>
                  <a:lnTo>
                    <a:pt x="516" y="330"/>
                  </a:lnTo>
                  <a:lnTo>
                    <a:pt x="540" y="330"/>
                  </a:lnTo>
                  <a:lnTo>
                    <a:pt x="558" y="324"/>
                  </a:lnTo>
                  <a:lnTo>
                    <a:pt x="588" y="318"/>
                  </a:lnTo>
                  <a:lnTo>
                    <a:pt x="606" y="318"/>
                  </a:lnTo>
                  <a:lnTo>
                    <a:pt x="624" y="312"/>
                  </a:lnTo>
                  <a:lnTo>
                    <a:pt x="654" y="312"/>
                  </a:lnTo>
                  <a:lnTo>
                    <a:pt x="666" y="306"/>
                  </a:lnTo>
                  <a:lnTo>
                    <a:pt x="684" y="300"/>
                  </a:lnTo>
                  <a:lnTo>
                    <a:pt x="708" y="294"/>
                  </a:lnTo>
                  <a:lnTo>
                    <a:pt x="726" y="288"/>
                  </a:lnTo>
                  <a:lnTo>
                    <a:pt x="738" y="288"/>
                  </a:lnTo>
                  <a:lnTo>
                    <a:pt x="762" y="282"/>
                  </a:lnTo>
                  <a:lnTo>
                    <a:pt x="774" y="276"/>
                  </a:lnTo>
                  <a:lnTo>
                    <a:pt x="786" y="270"/>
                  </a:lnTo>
                  <a:lnTo>
                    <a:pt x="804" y="264"/>
                  </a:lnTo>
                  <a:lnTo>
                    <a:pt x="816" y="258"/>
                  </a:lnTo>
                  <a:lnTo>
                    <a:pt x="828" y="252"/>
                  </a:lnTo>
                  <a:lnTo>
                    <a:pt x="840" y="246"/>
                  </a:lnTo>
                  <a:lnTo>
                    <a:pt x="852" y="240"/>
                  </a:lnTo>
                  <a:lnTo>
                    <a:pt x="858" y="234"/>
                  </a:lnTo>
                  <a:lnTo>
                    <a:pt x="870" y="222"/>
                  </a:lnTo>
                  <a:lnTo>
                    <a:pt x="876" y="222"/>
                  </a:lnTo>
                  <a:lnTo>
                    <a:pt x="876" y="216"/>
                  </a:lnTo>
                  <a:lnTo>
                    <a:pt x="882" y="204"/>
                  </a:lnTo>
                  <a:lnTo>
                    <a:pt x="888" y="198"/>
                  </a:lnTo>
                  <a:lnTo>
                    <a:pt x="888" y="192"/>
                  </a:lnTo>
                  <a:lnTo>
                    <a:pt x="894" y="186"/>
                  </a:lnTo>
                  <a:lnTo>
                    <a:pt x="894" y="180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rgbClr val="4D4D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2"/>
            <p:cNvSpPr>
              <a:spLocks/>
            </p:cNvSpPr>
            <p:nvPr/>
          </p:nvSpPr>
          <p:spPr bwMode="auto">
            <a:xfrm>
              <a:off x="1752" y="2766"/>
              <a:ext cx="894" cy="336"/>
            </a:xfrm>
            <a:custGeom>
              <a:avLst/>
              <a:gdLst>
                <a:gd name="T0" fmla="*/ 264 w 894"/>
                <a:gd name="T1" fmla="*/ 0 h 336"/>
                <a:gd name="T2" fmla="*/ 318 w 894"/>
                <a:gd name="T3" fmla="*/ 0 h 336"/>
                <a:gd name="T4" fmla="*/ 378 w 894"/>
                <a:gd name="T5" fmla="*/ 0 h 336"/>
                <a:gd name="T6" fmla="*/ 420 w 894"/>
                <a:gd name="T7" fmla="*/ 6 h 336"/>
                <a:gd name="T8" fmla="*/ 474 w 894"/>
                <a:gd name="T9" fmla="*/ 12 h 336"/>
                <a:gd name="T10" fmla="*/ 528 w 894"/>
                <a:gd name="T11" fmla="*/ 18 h 336"/>
                <a:gd name="T12" fmla="*/ 570 w 894"/>
                <a:gd name="T13" fmla="*/ 24 h 336"/>
                <a:gd name="T14" fmla="*/ 612 w 894"/>
                <a:gd name="T15" fmla="*/ 30 h 336"/>
                <a:gd name="T16" fmla="*/ 654 w 894"/>
                <a:gd name="T17" fmla="*/ 36 h 336"/>
                <a:gd name="T18" fmla="*/ 696 w 894"/>
                <a:gd name="T19" fmla="*/ 48 h 336"/>
                <a:gd name="T20" fmla="*/ 732 w 894"/>
                <a:gd name="T21" fmla="*/ 54 h 336"/>
                <a:gd name="T22" fmla="*/ 762 w 894"/>
                <a:gd name="T23" fmla="*/ 66 h 336"/>
                <a:gd name="T24" fmla="*/ 792 w 894"/>
                <a:gd name="T25" fmla="*/ 78 h 336"/>
                <a:gd name="T26" fmla="*/ 822 w 894"/>
                <a:gd name="T27" fmla="*/ 90 h 336"/>
                <a:gd name="T28" fmla="*/ 840 w 894"/>
                <a:gd name="T29" fmla="*/ 102 h 336"/>
                <a:gd name="T30" fmla="*/ 858 w 894"/>
                <a:gd name="T31" fmla="*/ 114 h 336"/>
                <a:gd name="T32" fmla="*/ 876 w 894"/>
                <a:gd name="T33" fmla="*/ 126 h 336"/>
                <a:gd name="T34" fmla="*/ 882 w 894"/>
                <a:gd name="T35" fmla="*/ 138 h 336"/>
                <a:gd name="T36" fmla="*/ 888 w 894"/>
                <a:gd name="T37" fmla="*/ 156 h 336"/>
                <a:gd name="T38" fmla="*/ 894 w 894"/>
                <a:gd name="T39" fmla="*/ 168 h 336"/>
                <a:gd name="T40" fmla="*/ 888 w 894"/>
                <a:gd name="T41" fmla="*/ 180 h 336"/>
                <a:gd name="T42" fmla="*/ 882 w 894"/>
                <a:gd name="T43" fmla="*/ 198 h 336"/>
                <a:gd name="T44" fmla="*/ 876 w 894"/>
                <a:gd name="T45" fmla="*/ 210 h 336"/>
                <a:gd name="T46" fmla="*/ 858 w 894"/>
                <a:gd name="T47" fmla="*/ 222 h 336"/>
                <a:gd name="T48" fmla="*/ 834 w 894"/>
                <a:gd name="T49" fmla="*/ 234 h 336"/>
                <a:gd name="T50" fmla="*/ 816 w 894"/>
                <a:gd name="T51" fmla="*/ 246 h 336"/>
                <a:gd name="T52" fmla="*/ 786 w 894"/>
                <a:gd name="T53" fmla="*/ 258 h 336"/>
                <a:gd name="T54" fmla="*/ 756 w 894"/>
                <a:gd name="T55" fmla="*/ 270 h 336"/>
                <a:gd name="T56" fmla="*/ 726 w 894"/>
                <a:gd name="T57" fmla="*/ 276 h 336"/>
                <a:gd name="T58" fmla="*/ 684 w 894"/>
                <a:gd name="T59" fmla="*/ 288 h 336"/>
                <a:gd name="T60" fmla="*/ 642 w 894"/>
                <a:gd name="T61" fmla="*/ 300 h 336"/>
                <a:gd name="T62" fmla="*/ 606 w 894"/>
                <a:gd name="T63" fmla="*/ 306 h 336"/>
                <a:gd name="T64" fmla="*/ 558 w 894"/>
                <a:gd name="T65" fmla="*/ 312 h 336"/>
                <a:gd name="T66" fmla="*/ 504 w 894"/>
                <a:gd name="T67" fmla="*/ 318 h 336"/>
                <a:gd name="T68" fmla="*/ 462 w 894"/>
                <a:gd name="T69" fmla="*/ 324 h 336"/>
                <a:gd name="T70" fmla="*/ 408 w 894"/>
                <a:gd name="T71" fmla="*/ 330 h 336"/>
                <a:gd name="T72" fmla="*/ 366 w 894"/>
                <a:gd name="T73" fmla="*/ 330 h 336"/>
                <a:gd name="T74" fmla="*/ 312 w 894"/>
                <a:gd name="T75" fmla="*/ 336 h 336"/>
                <a:gd name="T76" fmla="*/ 252 w 894"/>
                <a:gd name="T77" fmla="*/ 336 h 336"/>
                <a:gd name="T78" fmla="*/ 210 w 894"/>
                <a:gd name="T79" fmla="*/ 336 h 336"/>
                <a:gd name="T80" fmla="*/ 150 w 894"/>
                <a:gd name="T81" fmla="*/ 330 h 336"/>
                <a:gd name="T82" fmla="*/ 96 w 894"/>
                <a:gd name="T83" fmla="*/ 330 h 336"/>
                <a:gd name="T84" fmla="*/ 54 w 894"/>
                <a:gd name="T85" fmla="*/ 330 h 336"/>
                <a:gd name="T86" fmla="*/ 0 w 894"/>
                <a:gd name="T87" fmla="*/ 324 h 336"/>
                <a:gd name="T88" fmla="*/ 240 w 894"/>
                <a:gd name="T89" fmla="*/ 0 h 3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94"/>
                <a:gd name="T136" fmla="*/ 0 h 336"/>
                <a:gd name="T137" fmla="*/ 894 w 894"/>
                <a:gd name="T138" fmla="*/ 336 h 3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94" h="336">
                  <a:moveTo>
                    <a:pt x="240" y="0"/>
                  </a:moveTo>
                  <a:lnTo>
                    <a:pt x="264" y="0"/>
                  </a:lnTo>
                  <a:lnTo>
                    <a:pt x="300" y="0"/>
                  </a:lnTo>
                  <a:lnTo>
                    <a:pt x="318" y="0"/>
                  </a:lnTo>
                  <a:lnTo>
                    <a:pt x="342" y="0"/>
                  </a:lnTo>
                  <a:lnTo>
                    <a:pt x="378" y="0"/>
                  </a:lnTo>
                  <a:lnTo>
                    <a:pt x="396" y="6"/>
                  </a:lnTo>
                  <a:lnTo>
                    <a:pt x="420" y="6"/>
                  </a:lnTo>
                  <a:lnTo>
                    <a:pt x="456" y="6"/>
                  </a:lnTo>
                  <a:lnTo>
                    <a:pt x="474" y="12"/>
                  </a:lnTo>
                  <a:lnTo>
                    <a:pt x="498" y="12"/>
                  </a:lnTo>
                  <a:lnTo>
                    <a:pt x="528" y="18"/>
                  </a:lnTo>
                  <a:lnTo>
                    <a:pt x="546" y="18"/>
                  </a:lnTo>
                  <a:lnTo>
                    <a:pt x="570" y="24"/>
                  </a:lnTo>
                  <a:lnTo>
                    <a:pt x="594" y="24"/>
                  </a:lnTo>
                  <a:lnTo>
                    <a:pt x="612" y="30"/>
                  </a:lnTo>
                  <a:lnTo>
                    <a:pt x="636" y="30"/>
                  </a:lnTo>
                  <a:lnTo>
                    <a:pt x="654" y="36"/>
                  </a:lnTo>
                  <a:lnTo>
                    <a:pt x="678" y="42"/>
                  </a:lnTo>
                  <a:lnTo>
                    <a:pt x="696" y="48"/>
                  </a:lnTo>
                  <a:lnTo>
                    <a:pt x="708" y="48"/>
                  </a:lnTo>
                  <a:lnTo>
                    <a:pt x="732" y="54"/>
                  </a:lnTo>
                  <a:lnTo>
                    <a:pt x="750" y="60"/>
                  </a:lnTo>
                  <a:lnTo>
                    <a:pt x="762" y="66"/>
                  </a:lnTo>
                  <a:lnTo>
                    <a:pt x="780" y="72"/>
                  </a:lnTo>
                  <a:lnTo>
                    <a:pt x="792" y="78"/>
                  </a:lnTo>
                  <a:lnTo>
                    <a:pt x="804" y="84"/>
                  </a:lnTo>
                  <a:lnTo>
                    <a:pt x="822" y="90"/>
                  </a:lnTo>
                  <a:lnTo>
                    <a:pt x="834" y="96"/>
                  </a:lnTo>
                  <a:lnTo>
                    <a:pt x="840" y="102"/>
                  </a:lnTo>
                  <a:lnTo>
                    <a:pt x="852" y="108"/>
                  </a:lnTo>
                  <a:lnTo>
                    <a:pt x="858" y="114"/>
                  </a:lnTo>
                  <a:lnTo>
                    <a:pt x="870" y="120"/>
                  </a:lnTo>
                  <a:lnTo>
                    <a:pt x="876" y="126"/>
                  </a:lnTo>
                  <a:lnTo>
                    <a:pt x="882" y="132"/>
                  </a:lnTo>
                  <a:lnTo>
                    <a:pt x="882" y="138"/>
                  </a:lnTo>
                  <a:lnTo>
                    <a:pt x="888" y="150"/>
                  </a:lnTo>
                  <a:lnTo>
                    <a:pt x="888" y="156"/>
                  </a:lnTo>
                  <a:lnTo>
                    <a:pt x="894" y="162"/>
                  </a:lnTo>
                  <a:lnTo>
                    <a:pt x="894" y="168"/>
                  </a:lnTo>
                  <a:lnTo>
                    <a:pt x="894" y="174"/>
                  </a:lnTo>
                  <a:lnTo>
                    <a:pt x="888" y="180"/>
                  </a:lnTo>
                  <a:lnTo>
                    <a:pt x="888" y="192"/>
                  </a:lnTo>
                  <a:lnTo>
                    <a:pt x="882" y="198"/>
                  </a:lnTo>
                  <a:lnTo>
                    <a:pt x="876" y="204"/>
                  </a:lnTo>
                  <a:lnTo>
                    <a:pt x="876" y="210"/>
                  </a:lnTo>
                  <a:lnTo>
                    <a:pt x="864" y="216"/>
                  </a:lnTo>
                  <a:lnTo>
                    <a:pt x="858" y="222"/>
                  </a:lnTo>
                  <a:lnTo>
                    <a:pt x="852" y="228"/>
                  </a:lnTo>
                  <a:lnTo>
                    <a:pt x="834" y="234"/>
                  </a:lnTo>
                  <a:lnTo>
                    <a:pt x="828" y="240"/>
                  </a:lnTo>
                  <a:lnTo>
                    <a:pt x="816" y="246"/>
                  </a:lnTo>
                  <a:lnTo>
                    <a:pt x="798" y="252"/>
                  </a:lnTo>
                  <a:lnTo>
                    <a:pt x="786" y="258"/>
                  </a:lnTo>
                  <a:lnTo>
                    <a:pt x="774" y="264"/>
                  </a:lnTo>
                  <a:lnTo>
                    <a:pt x="756" y="270"/>
                  </a:lnTo>
                  <a:lnTo>
                    <a:pt x="738" y="276"/>
                  </a:lnTo>
                  <a:lnTo>
                    <a:pt x="726" y="276"/>
                  </a:lnTo>
                  <a:lnTo>
                    <a:pt x="702" y="288"/>
                  </a:lnTo>
                  <a:lnTo>
                    <a:pt x="684" y="288"/>
                  </a:lnTo>
                  <a:lnTo>
                    <a:pt x="666" y="294"/>
                  </a:lnTo>
                  <a:lnTo>
                    <a:pt x="642" y="300"/>
                  </a:lnTo>
                  <a:lnTo>
                    <a:pt x="624" y="300"/>
                  </a:lnTo>
                  <a:lnTo>
                    <a:pt x="606" y="306"/>
                  </a:lnTo>
                  <a:lnTo>
                    <a:pt x="576" y="312"/>
                  </a:lnTo>
                  <a:lnTo>
                    <a:pt x="558" y="312"/>
                  </a:lnTo>
                  <a:lnTo>
                    <a:pt x="540" y="318"/>
                  </a:lnTo>
                  <a:lnTo>
                    <a:pt x="504" y="318"/>
                  </a:lnTo>
                  <a:lnTo>
                    <a:pt x="486" y="324"/>
                  </a:lnTo>
                  <a:lnTo>
                    <a:pt x="462" y="324"/>
                  </a:lnTo>
                  <a:lnTo>
                    <a:pt x="432" y="330"/>
                  </a:lnTo>
                  <a:lnTo>
                    <a:pt x="408" y="330"/>
                  </a:lnTo>
                  <a:lnTo>
                    <a:pt x="390" y="330"/>
                  </a:lnTo>
                  <a:lnTo>
                    <a:pt x="366" y="330"/>
                  </a:lnTo>
                  <a:lnTo>
                    <a:pt x="330" y="330"/>
                  </a:lnTo>
                  <a:lnTo>
                    <a:pt x="312" y="336"/>
                  </a:lnTo>
                  <a:lnTo>
                    <a:pt x="288" y="336"/>
                  </a:lnTo>
                  <a:lnTo>
                    <a:pt x="252" y="336"/>
                  </a:lnTo>
                  <a:lnTo>
                    <a:pt x="228" y="336"/>
                  </a:lnTo>
                  <a:lnTo>
                    <a:pt x="210" y="336"/>
                  </a:lnTo>
                  <a:lnTo>
                    <a:pt x="174" y="336"/>
                  </a:lnTo>
                  <a:lnTo>
                    <a:pt x="150" y="330"/>
                  </a:lnTo>
                  <a:lnTo>
                    <a:pt x="126" y="330"/>
                  </a:lnTo>
                  <a:lnTo>
                    <a:pt x="96" y="330"/>
                  </a:lnTo>
                  <a:lnTo>
                    <a:pt x="72" y="330"/>
                  </a:lnTo>
                  <a:lnTo>
                    <a:pt x="54" y="330"/>
                  </a:lnTo>
                  <a:lnTo>
                    <a:pt x="18" y="324"/>
                  </a:lnTo>
                  <a:lnTo>
                    <a:pt x="0" y="324"/>
                  </a:lnTo>
                  <a:lnTo>
                    <a:pt x="240" y="168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9999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73"/>
            <p:cNvSpPr>
              <a:spLocks noChangeArrowheads="1"/>
            </p:cNvSpPr>
            <p:nvPr/>
          </p:nvSpPr>
          <p:spPr bwMode="auto">
            <a:xfrm>
              <a:off x="1671" y="2352"/>
              <a:ext cx="1128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Arial" charset="0"/>
                </a:rPr>
                <a:t>Distribution of software errors</a:t>
              </a:r>
              <a:endParaRPr lang="en-US"/>
            </a:p>
          </p:txBody>
        </p:sp>
        <p:sp>
          <p:nvSpPr>
            <p:cNvPr id="18" name="Rectangle 74"/>
            <p:cNvSpPr>
              <a:spLocks noChangeArrowheads="1"/>
            </p:cNvSpPr>
            <p:nvPr/>
          </p:nvSpPr>
          <p:spPr bwMode="auto">
            <a:xfrm>
              <a:off x="2731" y="3066"/>
              <a:ext cx="443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Requirements</a:t>
              </a:r>
              <a:endParaRPr lang="en-US"/>
            </a:p>
          </p:txBody>
        </p:sp>
        <p:sp>
          <p:nvSpPr>
            <p:cNvPr id="19" name="Rectangle 75"/>
            <p:cNvSpPr>
              <a:spLocks noChangeArrowheads="1"/>
            </p:cNvSpPr>
            <p:nvPr/>
          </p:nvSpPr>
          <p:spPr bwMode="auto">
            <a:xfrm>
              <a:off x="2870" y="3162"/>
              <a:ext cx="142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56%</a:t>
              </a:r>
              <a:endParaRPr lang="en-US"/>
            </a:p>
          </p:txBody>
        </p:sp>
        <p:sp>
          <p:nvSpPr>
            <p:cNvPr id="20" name="Rectangle 76"/>
            <p:cNvSpPr>
              <a:spLocks noChangeArrowheads="1"/>
            </p:cNvSpPr>
            <p:nvPr/>
          </p:nvSpPr>
          <p:spPr bwMode="auto">
            <a:xfrm>
              <a:off x="1083" y="3120"/>
              <a:ext cx="221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Design</a:t>
              </a:r>
              <a:endParaRPr lang="en-US"/>
            </a:p>
          </p:txBody>
        </p:sp>
        <p:sp>
          <p:nvSpPr>
            <p:cNvPr id="21" name="Rectangle 77"/>
            <p:cNvSpPr>
              <a:spLocks noChangeArrowheads="1"/>
            </p:cNvSpPr>
            <p:nvPr/>
          </p:nvSpPr>
          <p:spPr bwMode="auto">
            <a:xfrm>
              <a:off x="1202" y="3216"/>
              <a:ext cx="142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27%</a:t>
              </a:r>
              <a:endParaRPr lang="en-US"/>
            </a:p>
          </p:txBody>
        </p:sp>
        <p:sp>
          <p:nvSpPr>
            <p:cNvPr id="22" name="Rectangle 78"/>
            <p:cNvSpPr>
              <a:spLocks noChangeArrowheads="1"/>
            </p:cNvSpPr>
            <p:nvPr/>
          </p:nvSpPr>
          <p:spPr bwMode="auto">
            <a:xfrm>
              <a:off x="1349" y="2622"/>
              <a:ext cx="169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Code</a:t>
              </a:r>
              <a:endParaRPr lang="en-US"/>
            </a:p>
          </p:txBody>
        </p:sp>
        <p:sp>
          <p:nvSpPr>
            <p:cNvPr id="23" name="Rectangle 79"/>
            <p:cNvSpPr>
              <a:spLocks noChangeArrowheads="1"/>
            </p:cNvSpPr>
            <p:nvPr/>
          </p:nvSpPr>
          <p:spPr bwMode="auto">
            <a:xfrm>
              <a:off x="1379" y="2718"/>
              <a:ext cx="103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7%</a:t>
              </a:r>
              <a:endParaRPr lang="en-US"/>
            </a:p>
          </p:txBody>
        </p:sp>
        <p:sp>
          <p:nvSpPr>
            <p:cNvPr id="24" name="Rectangle 80"/>
            <p:cNvSpPr>
              <a:spLocks noChangeArrowheads="1"/>
            </p:cNvSpPr>
            <p:nvPr/>
          </p:nvSpPr>
          <p:spPr bwMode="auto">
            <a:xfrm>
              <a:off x="1634" y="2550"/>
              <a:ext cx="178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Other</a:t>
              </a:r>
              <a:endParaRPr lang="en-US"/>
            </a:p>
          </p:txBody>
        </p:sp>
        <p:sp>
          <p:nvSpPr>
            <p:cNvPr id="25" name="Rectangle 81"/>
            <p:cNvSpPr>
              <a:spLocks noChangeArrowheads="1"/>
            </p:cNvSpPr>
            <p:nvPr/>
          </p:nvSpPr>
          <p:spPr bwMode="auto">
            <a:xfrm>
              <a:off x="1652" y="2646"/>
              <a:ext cx="142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10%</a:t>
              </a:r>
              <a:endParaRPr lang="en-US"/>
            </a:p>
          </p:txBody>
        </p:sp>
        <p:sp>
          <p:nvSpPr>
            <p:cNvPr id="26" name="Rectangle 82"/>
            <p:cNvSpPr>
              <a:spLocks noChangeArrowheads="1"/>
            </p:cNvSpPr>
            <p:nvPr/>
          </p:nvSpPr>
          <p:spPr bwMode="auto">
            <a:xfrm>
              <a:off x="912" y="2256"/>
              <a:ext cx="2400" cy="1428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106"/>
          <p:cNvGrpSpPr>
            <a:grpSpLocks/>
          </p:cNvGrpSpPr>
          <p:nvPr/>
        </p:nvGrpSpPr>
        <p:grpSpPr bwMode="auto">
          <a:xfrm>
            <a:off x="4940300" y="1052130"/>
            <a:ext cx="3962400" cy="2895600"/>
            <a:chOff x="3408" y="2160"/>
            <a:chExt cx="2016" cy="1392"/>
          </a:xfrm>
        </p:grpSpPr>
        <p:sp>
          <p:nvSpPr>
            <p:cNvPr id="28" name="Freeform 88"/>
            <p:cNvSpPr>
              <a:spLocks/>
            </p:cNvSpPr>
            <p:nvPr/>
          </p:nvSpPr>
          <p:spPr bwMode="auto">
            <a:xfrm>
              <a:off x="4140" y="2730"/>
              <a:ext cx="126" cy="276"/>
            </a:xfrm>
            <a:custGeom>
              <a:avLst/>
              <a:gdLst>
                <a:gd name="T0" fmla="*/ 126 w 126"/>
                <a:gd name="T1" fmla="*/ 132 h 276"/>
                <a:gd name="T2" fmla="*/ 0 w 126"/>
                <a:gd name="T3" fmla="*/ 0 h 276"/>
                <a:gd name="T4" fmla="*/ 0 w 126"/>
                <a:gd name="T5" fmla="*/ 144 h 276"/>
                <a:gd name="T6" fmla="*/ 126 w 126"/>
                <a:gd name="T7" fmla="*/ 276 h 276"/>
                <a:gd name="T8" fmla="*/ 126 w 126"/>
                <a:gd name="T9" fmla="*/ 132 h 2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"/>
                <a:gd name="T16" fmla="*/ 0 h 276"/>
                <a:gd name="T17" fmla="*/ 126 w 126"/>
                <a:gd name="T18" fmla="*/ 276 h 2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" h="276">
                  <a:moveTo>
                    <a:pt x="126" y="132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26" y="276"/>
                  </a:lnTo>
                  <a:lnTo>
                    <a:pt x="126" y="132"/>
                  </a:lnTo>
                  <a:close/>
                </a:path>
              </a:pathLst>
            </a:custGeom>
            <a:solidFill>
              <a:srgbClr val="66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89"/>
            <p:cNvSpPr>
              <a:spLocks/>
            </p:cNvSpPr>
            <p:nvPr/>
          </p:nvSpPr>
          <p:spPr bwMode="auto">
            <a:xfrm>
              <a:off x="4140" y="2730"/>
              <a:ext cx="126" cy="132"/>
            </a:xfrm>
            <a:custGeom>
              <a:avLst/>
              <a:gdLst>
                <a:gd name="T0" fmla="*/ 0 w 126"/>
                <a:gd name="T1" fmla="*/ 0 h 132"/>
                <a:gd name="T2" fmla="*/ 18 w 126"/>
                <a:gd name="T3" fmla="*/ 0 h 132"/>
                <a:gd name="T4" fmla="*/ 48 w 126"/>
                <a:gd name="T5" fmla="*/ 0 h 132"/>
                <a:gd name="T6" fmla="*/ 66 w 126"/>
                <a:gd name="T7" fmla="*/ 0 h 132"/>
                <a:gd name="T8" fmla="*/ 84 w 126"/>
                <a:gd name="T9" fmla="*/ 0 h 132"/>
                <a:gd name="T10" fmla="*/ 108 w 126"/>
                <a:gd name="T11" fmla="*/ 0 h 132"/>
                <a:gd name="T12" fmla="*/ 126 w 126"/>
                <a:gd name="T13" fmla="*/ 0 h 132"/>
                <a:gd name="T14" fmla="*/ 126 w 126"/>
                <a:gd name="T15" fmla="*/ 132 h 132"/>
                <a:gd name="T16" fmla="*/ 0 w 126"/>
                <a:gd name="T17" fmla="*/ 0 h 1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6"/>
                <a:gd name="T28" fmla="*/ 0 h 132"/>
                <a:gd name="T29" fmla="*/ 126 w 126"/>
                <a:gd name="T30" fmla="*/ 132 h 1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6" h="132">
                  <a:moveTo>
                    <a:pt x="0" y="0"/>
                  </a:moveTo>
                  <a:lnTo>
                    <a:pt x="18" y="0"/>
                  </a:lnTo>
                  <a:lnTo>
                    <a:pt x="48" y="0"/>
                  </a:lnTo>
                  <a:lnTo>
                    <a:pt x="66" y="0"/>
                  </a:lnTo>
                  <a:lnTo>
                    <a:pt x="84" y="0"/>
                  </a:lnTo>
                  <a:lnTo>
                    <a:pt x="108" y="0"/>
                  </a:lnTo>
                  <a:lnTo>
                    <a:pt x="126" y="0"/>
                  </a:lnTo>
                  <a:lnTo>
                    <a:pt x="126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90"/>
            <p:cNvSpPr>
              <a:spLocks/>
            </p:cNvSpPr>
            <p:nvPr/>
          </p:nvSpPr>
          <p:spPr bwMode="auto">
            <a:xfrm>
              <a:off x="4092" y="2736"/>
              <a:ext cx="156" cy="270"/>
            </a:xfrm>
            <a:custGeom>
              <a:avLst/>
              <a:gdLst>
                <a:gd name="T0" fmla="*/ 156 w 156"/>
                <a:gd name="T1" fmla="*/ 126 h 270"/>
                <a:gd name="T2" fmla="*/ 0 w 156"/>
                <a:gd name="T3" fmla="*/ 0 h 270"/>
                <a:gd name="T4" fmla="*/ 0 w 156"/>
                <a:gd name="T5" fmla="*/ 144 h 270"/>
                <a:gd name="T6" fmla="*/ 156 w 156"/>
                <a:gd name="T7" fmla="*/ 270 h 270"/>
                <a:gd name="T8" fmla="*/ 156 w 156"/>
                <a:gd name="T9" fmla="*/ 126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6"/>
                <a:gd name="T16" fmla="*/ 0 h 270"/>
                <a:gd name="T17" fmla="*/ 156 w 156"/>
                <a:gd name="T18" fmla="*/ 270 h 2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6" h="270">
                  <a:moveTo>
                    <a:pt x="156" y="126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56" y="270"/>
                  </a:lnTo>
                  <a:lnTo>
                    <a:pt x="156" y="126"/>
                  </a:lnTo>
                  <a:close/>
                </a:path>
              </a:pathLst>
            </a:custGeom>
            <a:solidFill>
              <a:srgbClr val="8080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91"/>
            <p:cNvSpPr>
              <a:spLocks/>
            </p:cNvSpPr>
            <p:nvPr/>
          </p:nvSpPr>
          <p:spPr bwMode="auto">
            <a:xfrm>
              <a:off x="4092" y="2730"/>
              <a:ext cx="156" cy="132"/>
            </a:xfrm>
            <a:custGeom>
              <a:avLst/>
              <a:gdLst>
                <a:gd name="T0" fmla="*/ 0 w 156"/>
                <a:gd name="T1" fmla="*/ 6 h 132"/>
                <a:gd name="T2" fmla="*/ 6 w 156"/>
                <a:gd name="T3" fmla="*/ 6 h 132"/>
                <a:gd name="T4" fmla="*/ 24 w 156"/>
                <a:gd name="T5" fmla="*/ 6 h 132"/>
                <a:gd name="T6" fmla="*/ 30 w 156"/>
                <a:gd name="T7" fmla="*/ 0 h 132"/>
                <a:gd name="T8" fmla="*/ 156 w 156"/>
                <a:gd name="T9" fmla="*/ 132 h 132"/>
                <a:gd name="T10" fmla="*/ 0 w 156"/>
                <a:gd name="T11" fmla="*/ 6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6"/>
                <a:gd name="T19" fmla="*/ 0 h 132"/>
                <a:gd name="T20" fmla="*/ 156 w 15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6" h="132">
                  <a:moveTo>
                    <a:pt x="0" y="6"/>
                  </a:moveTo>
                  <a:lnTo>
                    <a:pt x="6" y="6"/>
                  </a:lnTo>
                  <a:lnTo>
                    <a:pt x="24" y="6"/>
                  </a:lnTo>
                  <a:lnTo>
                    <a:pt x="30" y="0"/>
                  </a:lnTo>
                  <a:lnTo>
                    <a:pt x="156" y="132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92"/>
            <p:cNvSpPr>
              <a:spLocks/>
            </p:cNvSpPr>
            <p:nvPr/>
          </p:nvSpPr>
          <p:spPr bwMode="auto">
            <a:xfrm>
              <a:off x="3726" y="2820"/>
              <a:ext cx="468" cy="198"/>
            </a:xfrm>
            <a:custGeom>
              <a:avLst/>
              <a:gdLst>
                <a:gd name="T0" fmla="*/ 468 w 468"/>
                <a:gd name="T1" fmla="*/ 54 h 198"/>
                <a:gd name="T2" fmla="*/ 0 w 468"/>
                <a:gd name="T3" fmla="*/ 0 h 198"/>
                <a:gd name="T4" fmla="*/ 0 w 468"/>
                <a:gd name="T5" fmla="*/ 144 h 198"/>
                <a:gd name="T6" fmla="*/ 468 w 468"/>
                <a:gd name="T7" fmla="*/ 198 h 198"/>
                <a:gd name="T8" fmla="*/ 468 w 468"/>
                <a:gd name="T9" fmla="*/ 54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198"/>
                <a:gd name="T17" fmla="*/ 468 w 468"/>
                <a:gd name="T18" fmla="*/ 198 h 1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198">
                  <a:moveTo>
                    <a:pt x="468" y="54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468" y="198"/>
                  </a:lnTo>
                  <a:lnTo>
                    <a:pt x="468" y="54"/>
                  </a:lnTo>
                  <a:close/>
                </a:path>
              </a:pathLst>
            </a:custGeom>
            <a:solidFill>
              <a:srgbClr val="4D1A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93"/>
            <p:cNvSpPr>
              <a:spLocks/>
            </p:cNvSpPr>
            <p:nvPr/>
          </p:nvSpPr>
          <p:spPr bwMode="auto">
            <a:xfrm>
              <a:off x="3726" y="2748"/>
              <a:ext cx="468" cy="126"/>
            </a:xfrm>
            <a:custGeom>
              <a:avLst/>
              <a:gdLst>
                <a:gd name="T0" fmla="*/ 0 w 468"/>
                <a:gd name="T1" fmla="*/ 72 h 126"/>
                <a:gd name="T2" fmla="*/ 12 w 468"/>
                <a:gd name="T3" fmla="*/ 66 h 126"/>
                <a:gd name="T4" fmla="*/ 18 w 468"/>
                <a:gd name="T5" fmla="*/ 60 h 126"/>
                <a:gd name="T6" fmla="*/ 36 w 468"/>
                <a:gd name="T7" fmla="*/ 54 h 126"/>
                <a:gd name="T8" fmla="*/ 42 w 468"/>
                <a:gd name="T9" fmla="*/ 48 h 126"/>
                <a:gd name="T10" fmla="*/ 60 w 468"/>
                <a:gd name="T11" fmla="*/ 42 h 126"/>
                <a:gd name="T12" fmla="*/ 78 w 468"/>
                <a:gd name="T13" fmla="*/ 36 h 126"/>
                <a:gd name="T14" fmla="*/ 90 w 468"/>
                <a:gd name="T15" fmla="*/ 36 h 126"/>
                <a:gd name="T16" fmla="*/ 108 w 468"/>
                <a:gd name="T17" fmla="*/ 30 h 126"/>
                <a:gd name="T18" fmla="*/ 132 w 468"/>
                <a:gd name="T19" fmla="*/ 24 h 126"/>
                <a:gd name="T20" fmla="*/ 144 w 468"/>
                <a:gd name="T21" fmla="*/ 24 h 126"/>
                <a:gd name="T22" fmla="*/ 162 w 468"/>
                <a:gd name="T23" fmla="*/ 18 h 126"/>
                <a:gd name="T24" fmla="*/ 180 w 468"/>
                <a:gd name="T25" fmla="*/ 18 h 126"/>
                <a:gd name="T26" fmla="*/ 204 w 468"/>
                <a:gd name="T27" fmla="*/ 12 h 126"/>
                <a:gd name="T28" fmla="*/ 228 w 468"/>
                <a:gd name="T29" fmla="*/ 6 h 126"/>
                <a:gd name="T30" fmla="*/ 240 w 468"/>
                <a:gd name="T31" fmla="*/ 6 h 126"/>
                <a:gd name="T32" fmla="*/ 264 w 468"/>
                <a:gd name="T33" fmla="*/ 6 h 126"/>
                <a:gd name="T34" fmla="*/ 282 w 468"/>
                <a:gd name="T35" fmla="*/ 0 h 126"/>
                <a:gd name="T36" fmla="*/ 312 w 468"/>
                <a:gd name="T37" fmla="*/ 0 h 126"/>
                <a:gd name="T38" fmla="*/ 468 w 468"/>
                <a:gd name="T39" fmla="*/ 126 h 126"/>
                <a:gd name="T40" fmla="*/ 0 w 468"/>
                <a:gd name="T41" fmla="*/ 72 h 12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68"/>
                <a:gd name="T64" fmla="*/ 0 h 126"/>
                <a:gd name="T65" fmla="*/ 468 w 468"/>
                <a:gd name="T66" fmla="*/ 126 h 12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68" h="126">
                  <a:moveTo>
                    <a:pt x="0" y="72"/>
                  </a:moveTo>
                  <a:lnTo>
                    <a:pt x="12" y="66"/>
                  </a:lnTo>
                  <a:lnTo>
                    <a:pt x="18" y="60"/>
                  </a:lnTo>
                  <a:lnTo>
                    <a:pt x="36" y="54"/>
                  </a:lnTo>
                  <a:lnTo>
                    <a:pt x="42" y="48"/>
                  </a:lnTo>
                  <a:lnTo>
                    <a:pt x="60" y="42"/>
                  </a:lnTo>
                  <a:lnTo>
                    <a:pt x="78" y="36"/>
                  </a:lnTo>
                  <a:lnTo>
                    <a:pt x="90" y="36"/>
                  </a:lnTo>
                  <a:lnTo>
                    <a:pt x="108" y="30"/>
                  </a:lnTo>
                  <a:lnTo>
                    <a:pt x="132" y="24"/>
                  </a:lnTo>
                  <a:lnTo>
                    <a:pt x="144" y="24"/>
                  </a:lnTo>
                  <a:lnTo>
                    <a:pt x="162" y="18"/>
                  </a:lnTo>
                  <a:lnTo>
                    <a:pt x="180" y="18"/>
                  </a:lnTo>
                  <a:lnTo>
                    <a:pt x="204" y="12"/>
                  </a:lnTo>
                  <a:lnTo>
                    <a:pt x="228" y="6"/>
                  </a:lnTo>
                  <a:lnTo>
                    <a:pt x="240" y="6"/>
                  </a:lnTo>
                  <a:lnTo>
                    <a:pt x="264" y="6"/>
                  </a:lnTo>
                  <a:lnTo>
                    <a:pt x="282" y="0"/>
                  </a:lnTo>
                  <a:lnTo>
                    <a:pt x="312" y="0"/>
                  </a:lnTo>
                  <a:lnTo>
                    <a:pt x="468" y="126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9933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94"/>
            <p:cNvSpPr>
              <a:spLocks/>
            </p:cNvSpPr>
            <p:nvPr/>
          </p:nvSpPr>
          <p:spPr bwMode="auto">
            <a:xfrm>
              <a:off x="3840" y="2928"/>
              <a:ext cx="1038" cy="282"/>
            </a:xfrm>
            <a:custGeom>
              <a:avLst/>
              <a:gdLst>
                <a:gd name="T0" fmla="*/ 1038 w 1038"/>
                <a:gd name="T1" fmla="*/ 6 h 282"/>
                <a:gd name="T2" fmla="*/ 1032 w 1038"/>
                <a:gd name="T3" fmla="*/ 24 h 282"/>
                <a:gd name="T4" fmla="*/ 1020 w 1038"/>
                <a:gd name="T5" fmla="*/ 36 h 282"/>
                <a:gd name="T6" fmla="*/ 1002 w 1038"/>
                <a:gd name="T7" fmla="*/ 48 h 282"/>
                <a:gd name="T8" fmla="*/ 978 w 1038"/>
                <a:gd name="T9" fmla="*/ 60 h 282"/>
                <a:gd name="T10" fmla="*/ 954 w 1038"/>
                <a:gd name="T11" fmla="*/ 78 h 282"/>
                <a:gd name="T12" fmla="*/ 918 w 1038"/>
                <a:gd name="T13" fmla="*/ 84 h 282"/>
                <a:gd name="T14" fmla="*/ 882 w 1038"/>
                <a:gd name="T15" fmla="*/ 96 h 282"/>
                <a:gd name="T16" fmla="*/ 846 w 1038"/>
                <a:gd name="T17" fmla="*/ 108 h 282"/>
                <a:gd name="T18" fmla="*/ 798 w 1038"/>
                <a:gd name="T19" fmla="*/ 114 h 282"/>
                <a:gd name="T20" fmla="*/ 756 w 1038"/>
                <a:gd name="T21" fmla="*/ 120 h 282"/>
                <a:gd name="T22" fmla="*/ 702 w 1038"/>
                <a:gd name="T23" fmla="*/ 126 h 282"/>
                <a:gd name="T24" fmla="*/ 654 w 1038"/>
                <a:gd name="T25" fmla="*/ 132 h 282"/>
                <a:gd name="T26" fmla="*/ 600 w 1038"/>
                <a:gd name="T27" fmla="*/ 132 h 282"/>
                <a:gd name="T28" fmla="*/ 546 w 1038"/>
                <a:gd name="T29" fmla="*/ 138 h 282"/>
                <a:gd name="T30" fmla="*/ 492 w 1038"/>
                <a:gd name="T31" fmla="*/ 138 h 282"/>
                <a:gd name="T32" fmla="*/ 438 w 1038"/>
                <a:gd name="T33" fmla="*/ 132 h 282"/>
                <a:gd name="T34" fmla="*/ 384 w 1038"/>
                <a:gd name="T35" fmla="*/ 132 h 282"/>
                <a:gd name="T36" fmla="*/ 330 w 1038"/>
                <a:gd name="T37" fmla="*/ 126 h 282"/>
                <a:gd name="T38" fmla="*/ 282 w 1038"/>
                <a:gd name="T39" fmla="*/ 120 h 282"/>
                <a:gd name="T40" fmla="*/ 234 w 1038"/>
                <a:gd name="T41" fmla="*/ 114 h 282"/>
                <a:gd name="T42" fmla="*/ 192 w 1038"/>
                <a:gd name="T43" fmla="*/ 108 h 282"/>
                <a:gd name="T44" fmla="*/ 150 w 1038"/>
                <a:gd name="T45" fmla="*/ 96 h 282"/>
                <a:gd name="T46" fmla="*/ 114 w 1038"/>
                <a:gd name="T47" fmla="*/ 84 h 282"/>
                <a:gd name="T48" fmla="*/ 84 w 1038"/>
                <a:gd name="T49" fmla="*/ 78 h 282"/>
                <a:gd name="T50" fmla="*/ 54 w 1038"/>
                <a:gd name="T51" fmla="*/ 60 h 282"/>
                <a:gd name="T52" fmla="*/ 30 w 1038"/>
                <a:gd name="T53" fmla="*/ 48 h 282"/>
                <a:gd name="T54" fmla="*/ 18 w 1038"/>
                <a:gd name="T55" fmla="*/ 36 h 282"/>
                <a:gd name="T56" fmla="*/ 6 w 1038"/>
                <a:gd name="T57" fmla="*/ 24 h 282"/>
                <a:gd name="T58" fmla="*/ 0 w 1038"/>
                <a:gd name="T59" fmla="*/ 6 h 282"/>
                <a:gd name="T60" fmla="*/ 0 w 1038"/>
                <a:gd name="T61" fmla="*/ 144 h 282"/>
                <a:gd name="T62" fmla="*/ 0 w 1038"/>
                <a:gd name="T63" fmla="*/ 162 h 282"/>
                <a:gd name="T64" fmla="*/ 12 w 1038"/>
                <a:gd name="T65" fmla="*/ 174 h 282"/>
                <a:gd name="T66" fmla="*/ 24 w 1038"/>
                <a:gd name="T67" fmla="*/ 186 h 282"/>
                <a:gd name="T68" fmla="*/ 42 w 1038"/>
                <a:gd name="T69" fmla="*/ 198 h 282"/>
                <a:gd name="T70" fmla="*/ 66 w 1038"/>
                <a:gd name="T71" fmla="*/ 216 h 282"/>
                <a:gd name="T72" fmla="*/ 96 w 1038"/>
                <a:gd name="T73" fmla="*/ 222 h 282"/>
                <a:gd name="T74" fmla="*/ 132 w 1038"/>
                <a:gd name="T75" fmla="*/ 234 h 282"/>
                <a:gd name="T76" fmla="*/ 168 w 1038"/>
                <a:gd name="T77" fmla="*/ 246 h 282"/>
                <a:gd name="T78" fmla="*/ 210 w 1038"/>
                <a:gd name="T79" fmla="*/ 252 h 282"/>
                <a:gd name="T80" fmla="*/ 258 w 1038"/>
                <a:gd name="T81" fmla="*/ 264 h 282"/>
                <a:gd name="T82" fmla="*/ 306 w 1038"/>
                <a:gd name="T83" fmla="*/ 270 h 282"/>
                <a:gd name="T84" fmla="*/ 360 w 1038"/>
                <a:gd name="T85" fmla="*/ 276 h 282"/>
                <a:gd name="T86" fmla="*/ 408 w 1038"/>
                <a:gd name="T87" fmla="*/ 276 h 282"/>
                <a:gd name="T88" fmla="*/ 462 w 1038"/>
                <a:gd name="T89" fmla="*/ 282 h 282"/>
                <a:gd name="T90" fmla="*/ 516 w 1038"/>
                <a:gd name="T91" fmla="*/ 282 h 282"/>
                <a:gd name="T92" fmla="*/ 570 w 1038"/>
                <a:gd name="T93" fmla="*/ 282 h 282"/>
                <a:gd name="T94" fmla="*/ 624 w 1038"/>
                <a:gd name="T95" fmla="*/ 276 h 282"/>
                <a:gd name="T96" fmla="*/ 678 w 1038"/>
                <a:gd name="T97" fmla="*/ 276 h 282"/>
                <a:gd name="T98" fmla="*/ 726 w 1038"/>
                <a:gd name="T99" fmla="*/ 270 h 282"/>
                <a:gd name="T100" fmla="*/ 780 w 1038"/>
                <a:gd name="T101" fmla="*/ 264 h 282"/>
                <a:gd name="T102" fmla="*/ 822 w 1038"/>
                <a:gd name="T103" fmla="*/ 252 h 282"/>
                <a:gd name="T104" fmla="*/ 864 w 1038"/>
                <a:gd name="T105" fmla="*/ 246 h 282"/>
                <a:gd name="T106" fmla="*/ 906 w 1038"/>
                <a:gd name="T107" fmla="*/ 234 h 282"/>
                <a:gd name="T108" fmla="*/ 936 w 1038"/>
                <a:gd name="T109" fmla="*/ 222 h 282"/>
                <a:gd name="T110" fmla="*/ 966 w 1038"/>
                <a:gd name="T111" fmla="*/ 216 h 282"/>
                <a:gd name="T112" fmla="*/ 990 w 1038"/>
                <a:gd name="T113" fmla="*/ 198 h 282"/>
                <a:gd name="T114" fmla="*/ 1014 w 1038"/>
                <a:gd name="T115" fmla="*/ 186 h 282"/>
                <a:gd name="T116" fmla="*/ 1026 w 1038"/>
                <a:gd name="T117" fmla="*/ 174 h 282"/>
                <a:gd name="T118" fmla="*/ 1032 w 1038"/>
                <a:gd name="T119" fmla="*/ 162 h 282"/>
                <a:gd name="T120" fmla="*/ 1038 w 1038"/>
                <a:gd name="T121" fmla="*/ 144 h 28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038"/>
                <a:gd name="T184" fmla="*/ 0 h 282"/>
                <a:gd name="T185" fmla="*/ 1038 w 1038"/>
                <a:gd name="T186" fmla="*/ 282 h 28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038" h="282">
                  <a:moveTo>
                    <a:pt x="1038" y="0"/>
                  </a:moveTo>
                  <a:lnTo>
                    <a:pt x="1038" y="6"/>
                  </a:lnTo>
                  <a:lnTo>
                    <a:pt x="1032" y="18"/>
                  </a:lnTo>
                  <a:lnTo>
                    <a:pt x="1032" y="24"/>
                  </a:lnTo>
                  <a:lnTo>
                    <a:pt x="1026" y="30"/>
                  </a:lnTo>
                  <a:lnTo>
                    <a:pt x="1020" y="36"/>
                  </a:lnTo>
                  <a:lnTo>
                    <a:pt x="1014" y="42"/>
                  </a:lnTo>
                  <a:lnTo>
                    <a:pt x="1002" y="48"/>
                  </a:lnTo>
                  <a:lnTo>
                    <a:pt x="990" y="54"/>
                  </a:lnTo>
                  <a:lnTo>
                    <a:pt x="978" y="60"/>
                  </a:lnTo>
                  <a:lnTo>
                    <a:pt x="966" y="72"/>
                  </a:lnTo>
                  <a:lnTo>
                    <a:pt x="954" y="78"/>
                  </a:lnTo>
                  <a:lnTo>
                    <a:pt x="936" y="78"/>
                  </a:lnTo>
                  <a:lnTo>
                    <a:pt x="918" y="84"/>
                  </a:lnTo>
                  <a:lnTo>
                    <a:pt x="906" y="90"/>
                  </a:lnTo>
                  <a:lnTo>
                    <a:pt x="882" y="96"/>
                  </a:lnTo>
                  <a:lnTo>
                    <a:pt x="864" y="102"/>
                  </a:lnTo>
                  <a:lnTo>
                    <a:pt x="846" y="108"/>
                  </a:lnTo>
                  <a:lnTo>
                    <a:pt x="822" y="108"/>
                  </a:lnTo>
                  <a:lnTo>
                    <a:pt x="798" y="114"/>
                  </a:lnTo>
                  <a:lnTo>
                    <a:pt x="780" y="120"/>
                  </a:lnTo>
                  <a:lnTo>
                    <a:pt x="756" y="120"/>
                  </a:lnTo>
                  <a:lnTo>
                    <a:pt x="726" y="126"/>
                  </a:lnTo>
                  <a:lnTo>
                    <a:pt x="702" y="126"/>
                  </a:lnTo>
                  <a:lnTo>
                    <a:pt x="678" y="132"/>
                  </a:lnTo>
                  <a:lnTo>
                    <a:pt x="654" y="132"/>
                  </a:lnTo>
                  <a:lnTo>
                    <a:pt x="624" y="132"/>
                  </a:lnTo>
                  <a:lnTo>
                    <a:pt x="600" y="132"/>
                  </a:lnTo>
                  <a:lnTo>
                    <a:pt x="570" y="138"/>
                  </a:lnTo>
                  <a:lnTo>
                    <a:pt x="546" y="138"/>
                  </a:lnTo>
                  <a:lnTo>
                    <a:pt x="516" y="138"/>
                  </a:lnTo>
                  <a:lnTo>
                    <a:pt x="492" y="138"/>
                  </a:lnTo>
                  <a:lnTo>
                    <a:pt x="462" y="138"/>
                  </a:lnTo>
                  <a:lnTo>
                    <a:pt x="438" y="132"/>
                  </a:lnTo>
                  <a:lnTo>
                    <a:pt x="408" y="132"/>
                  </a:lnTo>
                  <a:lnTo>
                    <a:pt x="384" y="132"/>
                  </a:lnTo>
                  <a:lnTo>
                    <a:pt x="360" y="132"/>
                  </a:lnTo>
                  <a:lnTo>
                    <a:pt x="330" y="126"/>
                  </a:lnTo>
                  <a:lnTo>
                    <a:pt x="306" y="126"/>
                  </a:lnTo>
                  <a:lnTo>
                    <a:pt x="282" y="120"/>
                  </a:lnTo>
                  <a:lnTo>
                    <a:pt x="258" y="120"/>
                  </a:lnTo>
                  <a:lnTo>
                    <a:pt x="234" y="114"/>
                  </a:lnTo>
                  <a:lnTo>
                    <a:pt x="210" y="108"/>
                  </a:lnTo>
                  <a:lnTo>
                    <a:pt x="192" y="108"/>
                  </a:lnTo>
                  <a:lnTo>
                    <a:pt x="168" y="102"/>
                  </a:lnTo>
                  <a:lnTo>
                    <a:pt x="150" y="96"/>
                  </a:lnTo>
                  <a:lnTo>
                    <a:pt x="132" y="90"/>
                  </a:lnTo>
                  <a:lnTo>
                    <a:pt x="114" y="84"/>
                  </a:lnTo>
                  <a:lnTo>
                    <a:pt x="96" y="78"/>
                  </a:lnTo>
                  <a:lnTo>
                    <a:pt x="84" y="78"/>
                  </a:lnTo>
                  <a:lnTo>
                    <a:pt x="66" y="72"/>
                  </a:lnTo>
                  <a:lnTo>
                    <a:pt x="54" y="60"/>
                  </a:lnTo>
                  <a:lnTo>
                    <a:pt x="42" y="54"/>
                  </a:lnTo>
                  <a:lnTo>
                    <a:pt x="30" y="48"/>
                  </a:lnTo>
                  <a:lnTo>
                    <a:pt x="24" y="42"/>
                  </a:lnTo>
                  <a:lnTo>
                    <a:pt x="18" y="36"/>
                  </a:lnTo>
                  <a:lnTo>
                    <a:pt x="12" y="30"/>
                  </a:lnTo>
                  <a:lnTo>
                    <a:pt x="6" y="24"/>
                  </a:lnTo>
                  <a:lnTo>
                    <a:pt x="0" y="18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144"/>
                  </a:lnTo>
                  <a:lnTo>
                    <a:pt x="0" y="150"/>
                  </a:lnTo>
                  <a:lnTo>
                    <a:pt x="0" y="162"/>
                  </a:lnTo>
                  <a:lnTo>
                    <a:pt x="6" y="168"/>
                  </a:lnTo>
                  <a:lnTo>
                    <a:pt x="12" y="174"/>
                  </a:lnTo>
                  <a:lnTo>
                    <a:pt x="18" y="180"/>
                  </a:lnTo>
                  <a:lnTo>
                    <a:pt x="24" y="186"/>
                  </a:lnTo>
                  <a:lnTo>
                    <a:pt x="30" y="192"/>
                  </a:lnTo>
                  <a:lnTo>
                    <a:pt x="42" y="198"/>
                  </a:lnTo>
                  <a:lnTo>
                    <a:pt x="54" y="204"/>
                  </a:lnTo>
                  <a:lnTo>
                    <a:pt x="66" y="216"/>
                  </a:lnTo>
                  <a:lnTo>
                    <a:pt x="84" y="222"/>
                  </a:lnTo>
                  <a:lnTo>
                    <a:pt x="96" y="222"/>
                  </a:lnTo>
                  <a:lnTo>
                    <a:pt x="114" y="228"/>
                  </a:lnTo>
                  <a:lnTo>
                    <a:pt x="132" y="234"/>
                  </a:lnTo>
                  <a:lnTo>
                    <a:pt x="150" y="240"/>
                  </a:lnTo>
                  <a:lnTo>
                    <a:pt x="168" y="246"/>
                  </a:lnTo>
                  <a:lnTo>
                    <a:pt x="192" y="252"/>
                  </a:lnTo>
                  <a:lnTo>
                    <a:pt x="210" y="252"/>
                  </a:lnTo>
                  <a:lnTo>
                    <a:pt x="234" y="258"/>
                  </a:lnTo>
                  <a:lnTo>
                    <a:pt x="258" y="264"/>
                  </a:lnTo>
                  <a:lnTo>
                    <a:pt x="282" y="264"/>
                  </a:lnTo>
                  <a:lnTo>
                    <a:pt x="306" y="270"/>
                  </a:lnTo>
                  <a:lnTo>
                    <a:pt x="330" y="270"/>
                  </a:lnTo>
                  <a:lnTo>
                    <a:pt x="360" y="276"/>
                  </a:lnTo>
                  <a:lnTo>
                    <a:pt x="384" y="276"/>
                  </a:lnTo>
                  <a:lnTo>
                    <a:pt x="408" y="276"/>
                  </a:lnTo>
                  <a:lnTo>
                    <a:pt x="438" y="276"/>
                  </a:lnTo>
                  <a:lnTo>
                    <a:pt x="462" y="282"/>
                  </a:lnTo>
                  <a:lnTo>
                    <a:pt x="492" y="282"/>
                  </a:lnTo>
                  <a:lnTo>
                    <a:pt x="516" y="282"/>
                  </a:lnTo>
                  <a:lnTo>
                    <a:pt x="546" y="282"/>
                  </a:lnTo>
                  <a:lnTo>
                    <a:pt x="570" y="282"/>
                  </a:lnTo>
                  <a:lnTo>
                    <a:pt x="600" y="276"/>
                  </a:lnTo>
                  <a:lnTo>
                    <a:pt x="624" y="276"/>
                  </a:lnTo>
                  <a:lnTo>
                    <a:pt x="654" y="276"/>
                  </a:lnTo>
                  <a:lnTo>
                    <a:pt x="678" y="276"/>
                  </a:lnTo>
                  <a:lnTo>
                    <a:pt x="702" y="270"/>
                  </a:lnTo>
                  <a:lnTo>
                    <a:pt x="726" y="270"/>
                  </a:lnTo>
                  <a:lnTo>
                    <a:pt x="756" y="264"/>
                  </a:lnTo>
                  <a:lnTo>
                    <a:pt x="780" y="264"/>
                  </a:lnTo>
                  <a:lnTo>
                    <a:pt x="798" y="258"/>
                  </a:lnTo>
                  <a:lnTo>
                    <a:pt x="822" y="252"/>
                  </a:lnTo>
                  <a:lnTo>
                    <a:pt x="846" y="252"/>
                  </a:lnTo>
                  <a:lnTo>
                    <a:pt x="864" y="246"/>
                  </a:lnTo>
                  <a:lnTo>
                    <a:pt x="882" y="240"/>
                  </a:lnTo>
                  <a:lnTo>
                    <a:pt x="906" y="234"/>
                  </a:lnTo>
                  <a:lnTo>
                    <a:pt x="918" y="228"/>
                  </a:lnTo>
                  <a:lnTo>
                    <a:pt x="936" y="222"/>
                  </a:lnTo>
                  <a:lnTo>
                    <a:pt x="954" y="222"/>
                  </a:lnTo>
                  <a:lnTo>
                    <a:pt x="966" y="216"/>
                  </a:lnTo>
                  <a:lnTo>
                    <a:pt x="978" y="204"/>
                  </a:lnTo>
                  <a:lnTo>
                    <a:pt x="990" y="198"/>
                  </a:lnTo>
                  <a:lnTo>
                    <a:pt x="1002" y="192"/>
                  </a:lnTo>
                  <a:lnTo>
                    <a:pt x="1014" y="186"/>
                  </a:lnTo>
                  <a:lnTo>
                    <a:pt x="1020" y="180"/>
                  </a:lnTo>
                  <a:lnTo>
                    <a:pt x="1026" y="174"/>
                  </a:lnTo>
                  <a:lnTo>
                    <a:pt x="1032" y="168"/>
                  </a:lnTo>
                  <a:lnTo>
                    <a:pt x="1032" y="162"/>
                  </a:lnTo>
                  <a:lnTo>
                    <a:pt x="1038" y="150"/>
                  </a:lnTo>
                  <a:lnTo>
                    <a:pt x="1038" y="144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4D4D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95"/>
            <p:cNvSpPr>
              <a:spLocks/>
            </p:cNvSpPr>
            <p:nvPr/>
          </p:nvSpPr>
          <p:spPr bwMode="auto">
            <a:xfrm>
              <a:off x="3840" y="2796"/>
              <a:ext cx="1038" cy="270"/>
            </a:xfrm>
            <a:custGeom>
              <a:avLst/>
              <a:gdLst>
                <a:gd name="T0" fmla="*/ 546 w 1038"/>
                <a:gd name="T1" fmla="*/ 0 h 270"/>
                <a:gd name="T2" fmla="*/ 600 w 1038"/>
                <a:gd name="T3" fmla="*/ 0 h 270"/>
                <a:gd name="T4" fmla="*/ 654 w 1038"/>
                <a:gd name="T5" fmla="*/ 6 h 270"/>
                <a:gd name="T6" fmla="*/ 702 w 1038"/>
                <a:gd name="T7" fmla="*/ 6 h 270"/>
                <a:gd name="T8" fmla="*/ 756 w 1038"/>
                <a:gd name="T9" fmla="*/ 12 h 270"/>
                <a:gd name="T10" fmla="*/ 798 w 1038"/>
                <a:gd name="T11" fmla="*/ 18 h 270"/>
                <a:gd name="T12" fmla="*/ 846 w 1038"/>
                <a:gd name="T13" fmla="*/ 30 h 270"/>
                <a:gd name="T14" fmla="*/ 882 w 1038"/>
                <a:gd name="T15" fmla="*/ 36 h 270"/>
                <a:gd name="T16" fmla="*/ 918 w 1038"/>
                <a:gd name="T17" fmla="*/ 48 h 270"/>
                <a:gd name="T18" fmla="*/ 954 w 1038"/>
                <a:gd name="T19" fmla="*/ 60 h 270"/>
                <a:gd name="T20" fmla="*/ 978 w 1038"/>
                <a:gd name="T21" fmla="*/ 72 h 270"/>
                <a:gd name="T22" fmla="*/ 1002 w 1038"/>
                <a:gd name="T23" fmla="*/ 84 h 270"/>
                <a:gd name="T24" fmla="*/ 1014 w 1038"/>
                <a:gd name="T25" fmla="*/ 96 h 270"/>
                <a:gd name="T26" fmla="*/ 1026 w 1038"/>
                <a:gd name="T27" fmla="*/ 108 h 270"/>
                <a:gd name="T28" fmla="*/ 1038 w 1038"/>
                <a:gd name="T29" fmla="*/ 126 h 270"/>
                <a:gd name="T30" fmla="*/ 1038 w 1038"/>
                <a:gd name="T31" fmla="*/ 138 h 270"/>
                <a:gd name="T32" fmla="*/ 1032 w 1038"/>
                <a:gd name="T33" fmla="*/ 150 h 270"/>
                <a:gd name="T34" fmla="*/ 1020 w 1038"/>
                <a:gd name="T35" fmla="*/ 168 h 270"/>
                <a:gd name="T36" fmla="*/ 1008 w 1038"/>
                <a:gd name="T37" fmla="*/ 180 h 270"/>
                <a:gd name="T38" fmla="*/ 984 w 1038"/>
                <a:gd name="T39" fmla="*/ 192 h 270"/>
                <a:gd name="T40" fmla="*/ 960 w 1038"/>
                <a:gd name="T41" fmla="*/ 204 h 270"/>
                <a:gd name="T42" fmla="*/ 924 w 1038"/>
                <a:gd name="T43" fmla="*/ 216 h 270"/>
                <a:gd name="T44" fmla="*/ 888 w 1038"/>
                <a:gd name="T45" fmla="*/ 228 h 270"/>
                <a:gd name="T46" fmla="*/ 852 w 1038"/>
                <a:gd name="T47" fmla="*/ 234 h 270"/>
                <a:gd name="T48" fmla="*/ 810 w 1038"/>
                <a:gd name="T49" fmla="*/ 246 h 270"/>
                <a:gd name="T50" fmla="*/ 762 w 1038"/>
                <a:gd name="T51" fmla="*/ 252 h 270"/>
                <a:gd name="T52" fmla="*/ 714 w 1038"/>
                <a:gd name="T53" fmla="*/ 258 h 270"/>
                <a:gd name="T54" fmla="*/ 660 w 1038"/>
                <a:gd name="T55" fmla="*/ 264 h 270"/>
                <a:gd name="T56" fmla="*/ 606 w 1038"/>
                <a:gd name="T57" fmla="*/ 264 h 270"/>
                <a:gd name="T58" fmla="*/ 552 w 1038"/>
                <a:gd name="T59" fmla="*/ 270 h 270"/>
                <a:gd name="T60" fmla="*/ 498 w 1038"/>
                <a:gd name="T61" fmla="*/ 270 h 270"/>
                <a:gd name="T62" fmla="*/ 444 w 1038"/>
                <a:gd name="T63" fmla="*/ 270 h 270"/>
                <a:gd name="T64" fmla="*/ 390 w 1038"/>
                <a:gd name="T65" fmla="*/ 264 h 270"/>
                <a:gd name="T66" fmla="*/ 342 w 1038"/>
                <a:gd name="T67" fmla="*/ 258 h 270"/>
                <a:gd name="T68" fmla="*/ 288 w 1038"/>
                <a:gd name="T69" fmla="*/ 252 h 270"/>
                <a:gd name="T70" fmla="*/ 240 w 1038"/>
                <a:gd name="T71" fmla="*/ 246 h 270"/>
                <a:gd name="T72" fmla="*/ 198 w 1038"/>
                <a:gd name="T73" fmla="*/ 240 h 270"/>
                <a:gd name="T74" fmla="*/ 162 w 1038"/>
                <a:gd name="T75" fmla="*/ 234 h 270"/>
                <a:gd name="T76" fmla="*/ 126 w 1038"/>
                <a:gd name="T77" fmla="*/ 222 h 270"/>
                <a:gd name="T78" fmla="*/ 90 w 1038"/>
                <a:gd name="T79" fmla="*/ 210 h 270"/>
                <a:gd name="T80" fmla="*/ 66 w 1038"/>
                <a:gd name="T81" fmla="*/ 198 h 270"/>
                <a:gd name="T82" fmla="*/ 42 w 1038"/>
                <a:gd name="T83" fmla="*/ 186 h 270"/>
                <a:gd name="T84" fmla="*/ 24 w 1038"/>
                <a:gd name="T85" fmla="*/ 174 h 270"/>
                <a:gd name="T86" fmla="*/ 6 w 1038"/>
                <a:gd name="T87" fmla="*/ 162 h 270"/>
                <a:gd name="T88" fmla="*/ 0 w 1038"/>
                <a:gd name="T89" fmla="*/ 144 h 270"/>
                <a:gd name="T90" fmla="*/ 0 w 1038"/>
                <a:gd name="T91" fmla="*/ 132 h 270"/>
                <a:gd name="T92" fmla="*/ 0 w 1038"/>
                <a:gd name="T93" fmla="*/ 120 h 270"/>
                <a:gd name="T94" fmla="*/ 12 w 1038"/>
                <a:gd name="T95" fmla="*/ 102 h 270"/>
                <a:gd name="T96" fmla="*/ 24 w 1038"/>
                <a:gd name="T97" fmla="*/ 90 h 270"/>
                <a:gd name="T98" fmla="*/ 48 w 1038"/>
                <a:gd name="T99" fmla="*/ 78 h 270"/>
                <a:gd name="T100" fmla="*/ 516 w 1038"/>
                <a:gd name="T101" fmla="*/ 0 h 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38"/>
                <a:gd name="T154" fmla="*/ 0 h 270"/>
                <a:gd name="T155" fmla="*/ 1038 w 1038"/>
                <a:gd name="T156" fmla="*/ 270 h 27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38" h="270">
                  <a:moveTo>
                    <a:pt x="516" y="0"/>
                  </a:moveTo>
                  <a:lnTo>
                    <a:pt x="546" y="0"/>
                  </a:lnTo>
                  <a:lnTo>
                    <a:pt x="570" y="0"/>
                  </a:lnTo>
                  <a:lnTo>
                    <a:pt x="600" y="0"/>
                  </a:lnTo>
                  <a:lnTo>
                    <a:pt x="624" y="0"/>
                  </a:lnTo>
                  <a:lnTo>
                    <a:pt x="654" y="6"/>
                  </a:lnTo>
                  <a:lnTo>
                    <a:pt x="678" y="6"/>
                  </a:lnTo>
                  <a:lnTo>
                    <a:pt x="702" y="6"/>
                  </a:lnTo>
                  <a:lnTo>
                    <a:pt x="726" y="12"/>
                  </a:lnTo>
                  <a:lnTo>
                    <a:pt x="756" y="12"/>
                  </a:lnTo>
                  <a:lnTo>
                    <a:pt x="780" y="18"/>
                  </a:lnTo>
                  <a:lnTo>
                    <a:pt x="798" y="18"/>
                  </a:lnTo>
                  <a:lnTo>
                    <a:pt x="822" y="24"/>
                  </a:lnTo>
                  <a:lnTo>
                    <a:pt x="846" y="30"/>
                  </a:lnTo>
                  <a:lnTo>
                    <a:pt x="864" y="36"/>
                  </a:lnTo>
                  <a:lnTo>
                    <a:pt x="882" y="36"/>
                  </a:lnTo>
                  <a:lnTo>
                    <a:pt x="906" y="42"/>
                  </a:lnTo>
                  <a:lnTo>
                    <a:pt x="918" y="48"/>
                  </a:lnTo>
                  <a:lnTo>
                    <a:pt x="936" y="54"/>
                  </a:lnTo>
                  <a:lnTo>
                    <a:pt x="954" y="60"/>
                  </a:lnTo>
                  <a:lnTo>
                    <a:pt x="966" y="66"/>
                  </a:lnTo>
                  <a:lnTo>
                    <a:pt x="978" y="72"/>
                  </a:lnTo>
                  <a:lnTo>
                    <a:pt x="990" y="78"/>
                  </a:lnTo>
                  <a:lnTo>
                    <a:pt x="1002" y="84"/>
                  </a:lnTo>
                  <a:lnTo>
                    <a:pt x="1014" y="90"/>
                  </a:lnTo>
                  <a:lnTo>
                    <a:pt x="1014" y="96"/>
                  </a:lnTo>
                  <a:lnTo>
                    <a:pt x="1026" y="102"/>
                  </a:lnTo>
                  <a:lnTo>
                    <a:pt x="1026" y="108"/>
                  </a:lnTo>
                  <a:lnTo>
                    <a:pt x="1032" y="120"/>
                  </a:lnTo>
                  <a:lnTo>
                    <a:pt x="1038" y="126"/>
                  </a:lnTo>
                  <a:lnTo>
                    <a:pt x="1038" y="132"/>
                  </a:lnTo>
                  <a:lnTo>
                    <a:pt x="1038" y="138"/>
                  </a:lnTo>
                  <a:lnTo>
                    <a:pt x="1032" y="144"/>
                  </a:lnTo>
                  <a:lnTo>
                    <a:pt x="1032" y="150"/>
                  </a:lnTo>
                  <a:lnTo>
                    <a:pt x="1026" y="162"/>
                  </a:lnTo>
                  <a:lnTo>
                    <a:pt x="1020" y="168"/>
                  </a:lnTo>
                  <a:lnTo>
                    <a:pt x="1014" y="174"/>
                  </a:lnTo>
                  <a:lnTo>
                    <a:pt x="1008" y="180"/>
                  </a:lnTo>
                  <a:lnTo>
                    <a:pt x="996" y="186"/>
                  </a:lnTo>
                  <a:lnTo>
                    <a:pt x="984" y="192"/>
                  </a:lnTo>
                  <a:lnTo>
                    <a:pt x="972" y="198"/>
                  </a:lnTo>
                  <a:lnTo>
                    <a:pt x="960" y="204"/>
                  </a:lnTo>
                  <a:lnTo>
                    <a:pt x="942" y="210"/>
                  </a:lnTo>
                  <a:lnTo>
                    <a:pt x="924" y="216"/>
                  </a:lnTo>
                  <a:lnTo>
                    <a:pt x="912" y="222"/>
                  </a:lnTo>
                  <a:lnTo>
                    <a:pt x="888" y="228"/>
                  </a:lnTo>
                  <a:lnTo>
                    <a:pt x="870" y="234"/>
                  </a:lnTo>
                  <a:lnTo>
                    <a:pt x="852" y="234"/>
                  </a:lnTo>
                  <a:lnTo>
                    <a:pt x="828" y="240"/>
                  </a:lnTo>
                  <a:lnTo>
                    <a:pt x="810" y="246"/>
                  </a:lnTo>
                  <a:lnTo>
                    <a:pt x="786" y="252"/>
                  </a:lnTo>
                  <a:lnTo>
                    <a:pt x="762" y="252"/>
                  </a:lnTo>
                  <a:lnTo>
                    <a:pt x="738" y="258"/>
                  </a:lnTo>
                  <a:lnTo>
                    <a:pt x="714" y="258"/>
                  </a:lnTo>
                  <a:lnTo>
                    <a:pt x="684" y="264"/>
                  </a:lnTo>
                  <a:lnTo>
                    <a:pt x="660" y="264"/>
                  </a:lnTo>
                  <a:lnTo>
                    <a:pt x="636" y="264"/>
                  </a:lnTo>
                  <a:lnTo>
                    <a:pt x="606" y="264"/>
                  </a:lnTo>
                  <a:lnTo>
                    <a:pt x="582" y="270"/>
                  </a:lnTo>
                  <a:lnTo>
                    <a:pt x="552" y="270"/>
                  </a:lnTo>
                  <a:lnTo>
                    <a:pt x="528" y="270"/>
                  </a:lnTo>
                  <a:lnTo>
                    <a:pt x="498" y="270"/>
                  </a:lnTo>
                  <a:lnTo>
                    <a:pt x="474" y="270"/>
                  </a:lnTo>
                  <a:lnTo>
                    <a:pt x="444" y="270"/>
                  </a:lnTo>
                  <a:lnTo>
                    <a:pt x="420" y="264"/>
                  </a:lnTo>
                  <a:lnTo>
                    <a:pt x="390" y="264"/>
                  </a:lnTo>
                  <a:lnTo>
                    <a:pt x="366" y="264"/>
                  </a:lnTo>
                  <a:lnTo>
                    <a:pt x="342" y="258"/>
                  </a:lnTo>
                  <a:lnTo>
                    <a:pt x="312" y="258"/>
                  </a:lnTo>
                  <a:lnTo>
                    <a:pt x="288" y="252"/>
                  </a:lnTo>
                  <a:lnTo>
                    <a:pt x="264" y="252"/>
                  </a:lnTo>
                  <a:lnTo>
                    <a:pt x="240" y="246"/>
                  </a:lnTo>
                  <a:lnTo>
                    <a:pt x="222" y="246"/>
                  </a:lnTo>
                  <a:lnTo>
                    <a:pt x="198" y="240"/>
                  </a:lnTo>
                  <a:lnTo>
                    <a:pt x="180" y="234"/>
                  </a:lnTo>
                  <a:lnTo>
                    <a:pt x="162" y="234"/>
                  </a:lnTo>
                  <a:lnTo>
                    <a:pt x="144" y="228"/>
                  </a:lnTo>
                  <a:lnTo>
                    <a:pt x="126" y="222"/>
                  </a:lnTo>
                  <a:lnTo>
                    <a:pt x="108" y="216"/>
                  </a:lnTo>
                  <a:lnTo>
                    <a:pt x="90" y="210"/>
                  </a:lnTo>
                  <a:lnTo>
                    <a:pt x="78" y="204"/>
                  </a:lnTo>
                  <a:lnTo>
                    <a:pt x="66" y="198"/>
                  </a:lnTo>
                  <a:lnTo>
                    <a:pt x="54" y="192"/>
                  </a:lnTo>
                  <a:lnTo>
                    <a:pt x="42" y="186"/>
                  </a:lnTo>
                  <a:lnTo>
                    <a:pt x="30" y="180"/>
                  </a:lnTo>
                  <a:lnTo>
                    <a:pt x="24" y="174"/>
                  </a:lnTo>
                  <a:lnTo>
                    <a:pt x="12" y="168"/>
                  </a:lnTo>
                  <a:lnTo>
                    <a:pt x="6" y="162"/>
                  </a:lnTo>
                  <a:lnTo>
                    <a:pt x="6" y="150"/>
                  </a:lnTo>
                  <a:lnTo>
                    <a:pt x="0" y="144"/>
                  </a:lnTo>
                  <a:lnTo>
                    <a:pt x="0" y="138"/>
                  </a:lnTo>
                  <a:lnTo>
                    <a:pt x="0" y="132"/>
                  </a:lnTo>
                  <a:lnTo>
                    <a:pt x="0" y="126"/>
                  </a:lnTo>
                  <a:lnTo>
                    <a:pt x="0" y="120"/>
                  </a:lnTo>
                  <a:lnTo>
                    <a:pt x="6" y="108"/>
                  </a:lnTo>
                  <a:lnTo>
                    <a:pt x="12" y="102"/>
                  </a:lnTo>
                  <a:lnTo>
                    <a:pt x="18" y="96"/>
                  </a:lnTo>
                  <a:lnTo>
                    <a:pt x="24" y="90"/>
                  </a:lnTo>
                  <a:lnTo>
                    <a:pt x="36" y="84"/>
                  </a:lnTo>
                  <a:lnTo>
                    <a:pt x="48" y="78"/>
                  </a:lnTo>
                  <a:lnTo>
                    <a:pt x="516" y="132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rgbClr val="9999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96"/>
            <p:cNvSpPr>
              <a:spLocks noChangeArrowheads="1"/>
            </p:cNvSpPr>
            <p:nvPr/>
          </p:nvSpPr>
          <p:spPr bwMode="auto">
            <a:xfrm>
              <a:off x="4017" y="2294"/>
              <a:ext cx="1119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Arial" charset="0"/>
                </a:rPr>
                <a:t>Cost of rectifying software errors</a:t>
              </a:r>
              <a:endParaRPr lang="en-US"/>
            </a:p>
          </p:txBody>
        </p:sp>
        <p:sp>
          <p:nvSpPr>
            <p:cNvPr id="37" name="Rectangle 97"/>
            <p:cNvSpPr>
              <a:spLocks noChangeArrowheads="1"/>
            </p:cNvSpPr>
            <p:nvPr/>
          </p:nvSpPr>
          <p:spPr bwMode="auto">
            <a:xfrm>
              <a:off x="4777" y="3204"/>
              <a:ext cx="401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Requirements</a:t>
              </a:r>
              <a:endParaRPr lang="en-US"/>
            </a:p>
          </p:txBody>
        </p:sp>
        <p:sp>
          <p:nvSpPr>
            <p:cNvPr id="38" name="Rectangle 98"/>
            <p:cNvSpPr>
              <a:spLocks noChangeArrowheads="1"/>
            </p:cNvSpPr>
            <p:nvPr/>
          </p:nvSpPr>
          <p:spPr bwMode="auto">
            <a:xfrm>
              <a:off x="4888" y="3300"/>
              <a:ext cx="128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82%</a:t>
              </a:r>
              <a:endParaRPr lang="en-US"/>
            </a:p>
          </p:txBody>
        </p:sp>
        <p:sp>
          <p:nvSpPr>
            <p:cNvPr id="39" name="Rectangle 99"/>
            <p:cNvSpPr>
              <a:spLocks noChangeArrowheads="1"/>
            </p:cNvSpPr>
            <p:nvPr/>
          </p:nvSpPr>
          <p:spPr bwMode="auto">
            <a:xfrm>
              <a:off x="3664" y="2550"/>
              <a:ext cx="200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Design</a:t>
              </a:r>
              <a:endParaRPr lang="en-US"/>
            </a:p>
          </p:txBody>
        </p:sp>
        <p:sp>
          <p:nvSpPr>
            <p:cNvPr id="40" name="Rectangle 100"/>
            <p:cNvSpPr>
              <a:spLocks noChangeArrowheads="1"/>
            </p:cNvSpPr>
            <p:nvPr/>
          </p:nvSpPr>
          <p:spPr bwMode="auto">
            <a:xfrm>
              <a:off x="3694" y="2646"/>
              <a:ext cx="128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13%</a:t>
              </a:r>
              <a:endParaRPr lang="en-US"/>
            </a:p>
          </p:txBody>
        </p:sp>
        <p:sp>
          <p:nvSpPr>
            <p:cNvPr id="41" name="Rectangle 101"/>
            <p:cNvSpPr>
              <a:spLocks noChangeArrowheads="1"/>
            </p:cNvSpPr>
            <p:nvPr/>
          </p:nvSpPr>
          <p:spPr bwMode="auto">
            <a:xfrm>
              <a:off x="3993" y="2508"/>
              <a:ext cx="153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Code</a:t>
              </a:r>
              <a:endParaRPr lang="en-US"/>
            </a:p>
          </p:txBody>
        </p:sp>
        <p:sp>
          <p:nvSpPr>
            <p:cNvPr id="42" name="Rectangle 102"/>
            <p:cNvSpPr>
              <a:spLocks noChangeArrowheads="1"/>
            </p:cNvSpPr>
            <p:nvPr/>
          </p:nvSpPr>
          <p:spPr bwMode="auto">
            <a:xfrm>
              <a:off x="4017" y="2604"/>
              <a:ext cx="93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1%</a:t>
              </a:r>
              <a:endParaRPr lang="en-US"/>
            </a:p>
          </p:txBody>
        </p:sp>
        <p:sp>
          <p:nvSpPr>
            <p:cNvPr id="43" name="Rectangle 103"/>
            <p:cNvSpPr>
              <a:spLocks noChangeArrowheads="1"/>
            </p:cNvSpPr>
            <p:nvPr/>
          </p:nvSpPr>
          <p:spPr bwMode="auto">
            <a:xfrm>
              <a:off x="4303" y="2502"/>
              <a:ext cx="161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Other</a:t>
              </a:r>
              <a:endParaRPr lang="en-US"/>
            </a:p>
          </p:txBody>
        </p:sp>
        <p:sp>
          <p:nvSpPr>
            <p:cNvPr id="44" name="Rectangle 104"/>
            <p:cNvSpPr>
              <a:spLocks noChangeArrowheads="1"/>
            </p:cNvSpPr>
            <p:nvPr/>
          </p:nvSpPr>
          <p:spPr bwMode="auto">
            <a:xfrm>
              <a:off x="4275" y="2598"/>
              <a:ext cx="93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Arial" charset="0"/>
                </a:rPr>
                <a:t>4%</a:t>
              </a:r>
              <a:endParaRPr lang="en-US"/>
            </a:p>
          </p:txBody>
        </p:sp>
        <p:sp>
          <p:nvSpPr>
            <p:cNvPr id="45" name="Rectangle 105"/>
            <p:cNvSpPr>
              <a:spLocks noChangeArrowheads="1"/>
            </p:cNvSpPr>
            <p:nvPr/>
          </p:nvSpPr>
          <p:spPr bwMode="auto">
            <a:xfrm>
              <a:off x="3408" y="2160"/>
              <a:ext cx="2016" cy="139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69900" y="427990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Incomplete software requirements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44500" y="4693230"/>
            <a:ext cx="41216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Increase a software error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High software error lead to high cost for rework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Wrong software expectation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Complete system with faults.</a:t>
            </a: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Challenges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10" name="Rectangle 74"/>
          <p:cNvSpPr>
            <a:spLocks noChangeArrowheads="1"/>
          </p:cNvSpPr>
          <p:nvPr/>
        </p:nvSpPr>
        <p:spPr bwMode="auto">
          <a:xfrm>
            <a:off x="2819400" y="1905000"/>
            <a:ext cx="1868488" cy="9255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/>
              <a:t>Problem requirements formulation</a:t>
            </a:r>
          </a:p>
        </p:txBody>
      </p:sp>
      <p:sp>
        <p:nvSpPr>
          <p:cNvPr id="11" name="AutoShape 75"/>
          <p:cNvSpPr>
            <a:spLocks noChangeArrowheads="1"/>
          </p:cNvSpPr>
          <p:nvPr/>
        </p:nvSpPr>
        <p:spPr bwMode="auto">
          <a:xfrm>
            <a:off x="457200" y="1447800"/>
            <a:ext cx="16002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/>
              <a:t>Information</a:t>
            </a:r>
          </a:p>
        </p:txBody>
      </p:sp>
      <p:sp>
        <p:nvSpPr>
          <p:cNvPr id="12" name="AutoShape 76"/>
          <p:cNvSpPr>
            <a:spLocks noChangeArrowheads="1"/>
          </p:cNvSpPr>
          <p:nvPr/>
        </p:nvSpPr>
        <p:spPr bwMode="auto">
          <a:xfrm>
            <a:off x="533400" y="2819400"/>
            <a:ext cx="16002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/>
              <a:t>Knowledge</a:t>
            </a:r>
          </a:p>
        </p:txBody>
      </p:sp>
      <p:sp>
        <p:nvSpPr>
          <p:cNvPr id="13" name="Line 77"/>
          <p:cNvSpPr>
            <a:spLocks noChangeShapeType="1"/>
          </p:cNvSpPr>
          <p:nvPr/>
        </p:nvSpPr>
        <p:spPr bwMode="auto">
          <a:xfrm>
            <a:off x="2057400" y="1752600"/>
            <a:ext cx="914400" cy="15240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Line 78"/>
          <p:cNvSpPr>
            <a:spLocks noChangeShapeType="1"/>
          </p:cNvSpPr>
          <p:nvPr/>
        </p:nvSpPr>
        <p:spPr bwMode="auto">
          <a:xfrm flipV="1">
            <a:off x="2133600" y="2743200"/>
            <a:ext cx="762000" cy="22860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Rectangle 79"/>
          <p:cNvSpPr>
            <a:spLocks noChangeArrowheads="1"/>
          </p:cNvSpPr>
          <p:nvPr/>
        </p:nvSpPr>
        <p:spPr bwMode="auto">
          <a:xfrm>
            <a:off x="6705600" y="1981200"/>
            <a:ext cx="1716088" cy="711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2000"/>
              <a:t>Problem evaluation</a:t>
            </a:r>
          </a:p>
        </p:txBody>
      </p:sp>
      <p:sp>
        <p:nvSpPr>
          <p:cNvPr id="16" name="Oval 80"/>
          <p:cNvSpPr>
            <a:spLocks noChangeArrowheads="1"/>
          </p:cNvSpPr>
          <p:nvPr/>
        </p:nvSpPr>
        <p:spPr bwMode="auto">
          <a:xfrm>
            <a:off x="6629400" y="3124200"/>
            <a:ext cx="1981200" cy="838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Design solution</a:t>
            </a:r>
          </a:p>
        </p:txBody>
      </p:sp>
      <p:sp>
        <p:nvSpPr>
          <p:cNvPr id="17" name="Line 81"/>
          <p:cNvSpPr>
            <a:spLocks noChangeShapeType="1"/>
          </p:cNvSpPr>
          <p:nvPr/>
        </p:nvSpPr>
        <p:spPr bwMode="auto">
          <a:xfrm>
            <a:off x="7543800" y="2667000"/>
            <a:ext cx="0" cy="45720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" name="AutoShape 83"/>
          <p:cNvSpPr>
            <a:spLocks noChangeArrowheads="1"/>
          </p:cNvSpPr>
          <p:nvPr/>
        </p:nvSpPr>
        <p:spPr bwMode="auto">
          <a:xfrm>
            <a:off x="4724400" y="2133600"/>
            <a:ext cx="1981200" cy="533400"/>
          </a:xfrm>
          <a:prstGeom prst="leftRightArrow">
            <a:avLst>
              <a:gd name="adj1" fmla="val 50000"/>
              <a:gd name="adj2" fmla="val 7428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/>
              <a:t>Communication</a:t>
            </a:r>
          </a:p>
        </p:txBody>
      </p:sp>
      <p:sp>
        <p:nvSpPr>
          <p:cNvPr id="19" name="Rectangle 84"/>
          <p:cNvSpPr>
            <a:spLocks noChangeArrowheads="1"/>
          </p:cNvSpPr>
          <p:nvPr/>
        </p:nvSpPr>
        <p:spPr bwMode="auto">
          <a:xfrm>
            <a:off x="304800" y="914400"/>
            <a:ext cx="4572000" cy="2819400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lang="en-US"/>
              <a:t>Customer</a:t>
            </a:r>
          </a:p>
        </p:txBody>
      </p:sp>
      <p:sp>
        <p:nvSpPr>
          <p:cNvPr id="20" name="Rectangle 85"/>
          <p:cNvSpPr>
            <a:spLocks noChangeArrowheads="1"/>
          </p:cNvSpPr>
          <p:nvPr/>
        </p:nvSpPr>
        <p:spPr bwMode="auto">
          <a:xfrm>
            <a:off x="6477000" y="838200"/>
            <a:ext cx="2438400" cy="3276600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lang="en-US"/>
              <a:t>Supplier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00" y="4693230"/>
            <a:ext cx="27494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Formulating specification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Communicating requirements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Understanding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" y="427990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Challenges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Practical approaches for requirements analysis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0"/>
            <a:ext cx="9144000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Practical approaches for requirements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1237971" y="3036803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 smtClean="0"/>
              <a:t>What the system suppose to do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 bwMode="auto">
          <a:xfrm>
            <a:off x="2990571" y="3031115"/>
            <a:ext cx="13716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 smtClean="0"/>
              <a:t>How the system cope with the software quality, performance, reliability, </a:t>
            </a:r>
            <a:r>
              <a:rPr lang="en-US" sz="1100" dirty="0" err="1" smtClean="0"/>
              <a:t>etc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 bwMode="auto">
          <a:xfrm>
            <a:off x="4702227" y="3031115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 smtClean="0"/>
              <a:t>Real world and software world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6441179" y="3009507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 smtClean="0"/>
              <a:t>Do’s and </a:t>
            </a:r>
            <a:r>
              <a:rPr lang="en-US" sz="1100" dirty="0" err="1" smtClean="0"/>
              <a:t>don’t’s</a:t>
            </a:r>
            <a:endParaRPr lang="en-US" sz="11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2925484" y="1811253"/>
            <a:ext cx="1460500" cy="1193800"/>
            <a:chOff x="2906713" y="2736850"/>
            <a:chExt cx="1460500" cy="1193800"/>
          </a:xfrm>
        </p:grpSpPr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2906713" y="2736850"/>
              <a:ext cx="1460500" cy="161925"/>
            </a:xfrm>
            <a:custGeom>
              <a:avLst/>
              <a:gdLst>
                <a:gd name="T0" fmla="*/ 289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9 w 298"/>
                <a:gd name="T17" fmla="*/ 33 h 33"/>
                <a:gd name="T18" fmla="*/ 298 w 298"/>
                <a:gd name="T19" fmla="*/ 16 h 33"/>
                <a:gd name="T20" fmla="*/ 289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9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9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9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3028950" y="2771775"/>
              <a:ext cx="1220788" cy="1158875"/>
            </a:xfrm>
            <a:custGeom>
              <a:avLst/>
              <a:gdLst>
                <a:gd name="T0" fmla="*/ 769 w 769"/>
                <a:gd name="T1" fmla="*/ 730 h 730"/>
                <a:gd name="T2" fmla="*/ 383 w 769"/>
                <a:gd name="T3" fmla="*/ 601 h 730"/>
                <a:gd name="T4" fmla="*/ 0 w 769"/>
                <a:gd name="T5" fmla="*/ 730 h 730"/>
                <a:gd name="T6" fmla="*/ 0 w 769"/>
                <a:gd name="T7" fmla="*/ 0 h 730"/>
                <a:gd name="T8" fmla="*/ 769 w 769"/>
                <a:gd name="T9" fmla="*/ 0 h 730"/>
                <a:gd name="T10" fmla="*/ 769 w 769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9" h="730">
                  <a:moveTo>
                    <a:pt x="769" y="730"/>
                  </a:moveTo>
                  <a:lnTo>
                    <a:pt x="383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9" y="0"/>
                  </a:lnTo>
                  <a:lnTo>
                    <a:pt x="769" y="730"/>
                  </a:lnTo>
                  <a:close/>
                </a:path>
              </a:pathLst>
            </a:cu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659034" y="1811253"/>
            <a:ext cx="1460500" cy="1193800"/>
            <a:chOff x="4640263" y="2736850"/>
            <a:chExt cx="1460500" cy="1193800"/>
          </a:xfrm>
        </p:grpSpPr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4640263" y="2736850"/>
              <a:ext cx="1460500" cy="161925"/>
            </a:xfrm>
            <a:custGeom>
              <a:avLst/>
              <a:gdLst>
                <a:gd name="T0" fmla="*/ 288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8 w 298"/>
                <a:gd name="T17" fmla="*/ 33 h 33"/>
                <a:gd name="T18" fmla="*/ 298 w 298"/>
                <a:gd name="T19" fmla="*/ 16 h 33"/>
                <a:gd name="T20" fmla="*/ 288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8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8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8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764088" y="2771775"/>
              <a:ext cx="1219200" cy="1158875"/>
            </a:xfrm>
            <a:custGeom>
              <a:avLst/>
              <a:gdLst>
                <a:gd name="T0" fmla="*/ 768 w 768"/>
                <a:gd name="T1" fmla="*/ 730 h 730"/>
                <a:gd name="T2" fmla="*/ 382 w 768"/>
                <a:gd name="T3" fmla="*/ 601 h 730"/>
                <a:gd name="T4" fmla="*/ 0 w 768"/>
                <a:gd name="T5" fmla="*/ 730 h 730"/>
                <a:gd name="T6" fmla="*/ 0 w 768"/>
                <a:gd name="T7" fmla="*/ 0 h 730"/>
                <a:gd name="T8" fmla="*/ 768 w 768"/>
                <a:gd name="T9" fmla="*/ 0 h 730"/>
                <a:gd name="T10" fmla="*/ 768 w 768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" h="730">
                  <a:moveTo>
                    <a:pt x="768" y="730"/>
                  </a:moveTo>
                  <a:lnTo>
                    <a:pt x="382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768" y="73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0"/>
            <p:cNvSpPr>
              <a:spLocks/>
            </p:cNvSpPr>
            <p:nvPr/>
          </p:nvSpPr>
          <p:spPr bwMode="auto">
            <a:xfrm>
              <a:off x="5522912" y="31035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191934" y="1811253"/>
            <a:ext cx="1458913" cy="1193800"/>
            <a:chOff x="1173163" y="2736850"/>
            <a:chExt cx="1458913" cy="1193800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1173163" y="2736850"/>
              <a:ext cx="1458913" cy="161925"/>
            </a:xfrm>
            <a:custGeom>
              <a:avLst/>
              <a:gdLst>
                <a:gd name="T0" fmla="*/ 289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9 w 298"/>
                <a:gd name="T17" fmla="*/ 33 h 33"/>
                <a:gd name="T18" fmla="*/ 298 w 298"/>
                <a:gd name="T19" fmla="*/ 16 h 33"/>
                <a:gd name="T20" fmla="*/ 289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9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9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9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1295400" y="2771775"/>
              <a:ext cx="1219200" cy="1158875"/>
            </a:xfrm>
            <a:custGeom>
              <a:avLst/>
              <a:gdLst>
                <a:gd name="T0" fmla="*/ 768 w 768"/>
                <a:gd name="T1" fmla="*/ 730 h 730"/>
                <a:gd name="T2" fmla="*/ 383 w 768"/>
                <a:gd name="T3" fmla="*/ 601 h 730"/>
                <a:gd name="T4" fmla="*/ 0 w 768"/>
                <a:gd name="T5" fmla="*/ 730 h 730"/>
                <a:gd name="T6" fmla="*/ 0 w 768"/>
                <a:gd name="T7" fmla="*/ 0 h 730"/>
                <a:gd name="T8" fmla="*/ 768 w 768"/>
                <a:gd name="T9" fmla="*/ 0 h 730"/>
                <a:gd name="T10" fmla="*/ 768 w 768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" h="730">
                  <a:moveTo>
                    <a:pt x="768" y="730"/>
                  </a:moveTo>
                  <a:lnTo>
                    <a:pt x="383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768" y="73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394171" y="1811253"/>
            <a:ext cx="1458913" cy="1193800"/>
            <a:chOff x="6375400" y="2736850"/>
            <a:chExt cx="1458913" cy="1193800"/>
          </a:xfrm>
        </p:grpSpPr>
        <p:sp>
          <p:nvSpPr>
            <p:cNvPr id="22" name="Freeform 11"/>
            <p:cNvSpPr>
              <a:spLocks/>
            </p:cNvSpPr>
            <p:nvPr/>
          </p:nvSpPr>
          <p:spPr bwMode="auto">
            <a:xfrm>
              <a:off x="6375400" y="2736850"/>
              <a:ext cx="1458913" cy="161925"/>
            </a:xfrm>
            <a:custGeom>
              <a:avLst/>
              <a:gdLst>
                <a:gd name="T0" fmla="*/ 288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8 w 298"/>
                <a:gd name="T17" fmla="*/ 33 h 33"/>
                <a:gd name="T18" fmla="*/ 298 w 298"/>
                <a:gd name="T19" fmla="*/ 16 h 33"/>
                <a:gd name="T20" fmla="*/ 288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8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8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8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2"/>
            <p:cNvSpPr>
              <a:spLocks/>
            </p:cNvSpPr>
            <p:nvPr/>
          </p:nvSpPr>
          <p:spPr bwMode="auto">
            <a:xfrm>
              <a:off x="6497638" y="2771775"/>
              <a:ext cx="1219200" cy="1158875"/>
            </a:xfrm>
            <a:custGeom>
              <a:avLst/>
              <a:gdLst>
                <a:gd name="T0" fmla="*/ 768 w 768"/>
                <a:gd name="T1" fmla="*/ 730 h 730"/>
                <a:gd name="T2" fmla="*/ 382 w 768"/>
                <a:gd name="T3" fmla="*/ 601 h 730"/>
                <a:gd name="T4" fmla="*/ 0 w 768"/>
                <a:gd name="T5" fmla="*/ 730 h 730"/>
                <a:gd name="T6" fmla="*/ 0 w 768"/>
                <a:gd name="T7" fmla="*/ 0 h 730"/>
                <a:gd name="T8" fmla="*/ 768 w 768"/>
                <a:gd name="T9" fmla="*/ 0 h 730"/>
                <a:gd name="T10" fmla="*/ 768 w 768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" h="730">
                  <a:moveTo>
                    <a:pt x="768" y="730"/>
                  </a:moveTo>
                  <a:lnTo>
                    <a:pt x="382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768" y="73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3047721" y="1299707"/>
            <a:ext cx="2287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System requirements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86208" y="2177966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Functionality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44705" y="2177966"/>
            <a:ext cx="1120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Non-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functionality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65475" y="2192687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Interfaces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2592" y="2195862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Constraints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095207" y="4322307"/>
            <a:ext cx="1544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Tool supports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10865" y="4691639"/>
            <a:ext cx="458330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Difficult to find a standard tool for analysis and design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1400" dirty="0" smtClean="0">
                <a:latin typeface="Helvetica Neue Light"/>
                <a:cs typeface="Helvetica Neue Light"/>
              </a:rPr>
              <a:t>Formal method is the best but difficult to be applied</a:t>
            </a:r>
          </a:p>
          <a:p>
            <a:pPr marL="285750" indent="-285750">
              <a:buFont typeface="Wingdings" charset="2"/>
              <a:buChar char="ü"/>
            </a:pPr>
            <a:endParaRPr lang="en-US" sz="1400" dirty="0" smtClean="0"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0954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Practical approaches for requirements analysis</a:t>
            </a:r>
          </a:p>
        </p:txBody>
      </p:sp>
      <p:sp>
        <p:nvSpPr>
          <p:cNvPr id="2" name="Rectangle 1"/>
          <p:cNvSpPr/>
          <p:nvPr/>
        </p:nvSpPr>
        <p:spPr>
          <a:xfrm>
            <a:off x="88900" y="61952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latin typeface="Times New Roman" charset="0"/>
                <a:cs typeface="Times New Roman" charset="0"/>
              </a:rPr>
              <a:t>FUNCTIONAL REQUIREMENT SPECIFICATION FOR MRCA AVIONICS</a:t>
            </a:r>
            <a:r>
              <a:rPr lang="en-US" dirty="0" smtClean="0">
                <a:latin typeface="Times New Roman" charset="0"/>
                <a:cs typeface="Times New Roman" charset="0"/>
              </a:rPr>
              <a:t>: </a:t>
            </a:r>
          </a:p>
          <a:p>
            <a:pPr eaLnBrk="0" hangingPunct="0"/>
            <a:r>
              <a:rPr lang="en-US" b="1" dirty="0" smtClean="0">
                <a:latin typeface="Times New Roman" charset="0"/>
                <a:cs typeface="Times New Roman" charset="0"/>
              </a:rPr>
              <a:t>SYSTEM</a:t>
            </a:r>
            <a:r>
              <a:rPr lang="en-US" dirty="0" smtClean="0">
                <a:latin typeface="Times New Roman" charset="0"/>
                <a:cs typeface="Times New Roman" charset="0"/>
              </a:rPr>
              <a:t>: Flight Control. </a:t>
            </a:r>
          </a:p>
          <a:p>
            <a:pPr eaLnBrk="0" hangingPunct="0"/>
            <a:r>
              <a:rPr lang="en-US" b="1" dirty="0" smtClean="0">
                <a:latin typeface="Times New Roman" charset="0"/>
                <a:cs typeface="Times New Roman" charset="0"/>
              </a:rPr>
              <a:t>SUBSYSTEM</a:t>
            </a:r>
            <a:r>
              <a:rPr lang="en-US" dirty="0" smtClean="0">
                <a:latin typeface="Times New Roman" charset="0"/>
                <a:cs typeface="Times New Roman" charset="0"/>
              </a:rPr>
              <a:t>: Autopilot. </a:t>
            </a:r>
            <a:endParaRPr lang="en-US" dirty="0">
              <a:latin typeface="Times New Roman" charset="0"/>
              <a:cs typeface="Times New Roman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685087" y="460868"/>
            <a:ext cx="1458913" cy="1193800"/>
            <a:chOff x="1173163" y="2736850"/>
            <a:chExt cx="1458913" cy="119380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1173163" y="2736850"/>
              <a:ext cx="1458913" cy="161925"/>
            </a:xfrm>
            <a:custGeom>
              <a:avLst/>
              <a:gdLst>
                <a:gd name="T0" fmla="*/ 289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9 w 298"/>
                <a:gd name="T17" fmla="*/ 33 h 33"/>
                <a:gd name="T18" fmla="*/ 298 w 298"/>
                <a:gd name="T19" fmla="*/ 16 h 33"/>
                <a:gd name="T20" fmla="*/ 289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9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9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9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1295400" y="2771775"/>
              <a:ext cx="1219200" cy="1158875"/>
            </a:xfrm>
            <a:custGeom>
              <a:avLst/>
              <a:gdLst>
                <a:gd name="T0" fmla="*/ 768 w 768"/>
                <a:gd name="T1" fmla="*/ 730 h 730"/>
                <a:gd name="T2" fmla="*/ 383 w 768"/>
                <a:gd name="T3" fmla="*/ 601 h 730"/>
                <a:gd name="T4" fmla="*/ 0 w 768"/>
                <a:gd name="T5" fmla="*/ 730 h 730"/>
                <a:gd name="T6" fmla="*/ 0 w 768"/>
                <a:gd name="T7" fmla="*/ 0 h 730"/>
                <a:gd name="T8" fmla="*/ 768 w 768"/>
                <a:gd name="T9" fmla="*/ 0 h 730"/>
                <a:gd name="T10" fmla="*/ 768 w 768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" h="730">
                  <a:moveTo>
                    <a:pt x="768" y="730"/>
                  </a:moveTo>
                  <a:lnTo>
                    <a:pt x="383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768" y="73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879361" y="827581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Functionality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  <p:graphicFrame>
        <p:nvGraphicFramePr>
          <p:cNvPr id="15" name="Group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499165"/>
              </p:ext>
            </p:extLst>
          </p:nvPr>
        </p:nvGraphicFramePr>
        <p:xfrm>
          <a:off x="111124" y="2006600"/>
          <a:ext cx="7696200" cy="3140075"/>
        </p:xfrm>
        <a:graphic>
          <a:graphicData uri="http://schemas.openxmlformats.org/drawingml/2006/table">
            <a:tbl>
              <a:tblPr rtl="1"/>
              <a:tblGrid>
                <a:gridCol w="5413375"/>
                <a:gridCol w="2282825"/>
              </a:tblGrid>
              <a:tr h="8231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The autopilot, when in hard mode, is required to control altitude to 150 metres, plus or minus 3 metres. at airspeeds up to 500 knots.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Process: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0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Altitude, airspeed and groundspeed.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Terrain-following radar.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Angle of attack.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Roll, pitch and yaw gyros.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Stick demand.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Inputs: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Aileron, rudder and elevator servo commands.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 Outputs: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Loss of altitude or radar signals.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 Major error: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Disengage autopilot normal mode, engage emergency mode. 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5. Exception response: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Practical approaches for requirements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8900" y="681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NON-FUNCTIONAL REQUIREMENT SPECIFICATION FOR MRCA AVIONICS: </a:t>
            </a:r>
          </a:p>
          <a:p>
            <a:r>
              <a:rPr lang="en-US" b="1" dirty="0" smtClean="0"/>
              <a:t>SYSTEM</a:t>
            </a:r>
            <a:r>
              <a:rPr lang="en-US" dirty="0" smtClean="0"/>
              <a:t>: flight Control. </a:t>
            </a:r>
            <a:r>
              <a:rPr lang="en-US" b="1" dirty="0" smtClean="0"/>
              <a:t>SUBSYSTEM</a:t>
            </a:r>
            <a:r>
              <a:rPr lang="en-US" dirty="0" smtClean="0"/>
              <a:t>: Autopilot. 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683500" y="460868"/>
            <a:ext cx="1460500" cy="1193800"/>
            <a:chOff x="2906713" y="2736850"/>
            <a:chExt cx="1460500" cy="1193800"/>
          </a:xfrm>
        </p:grpSpPr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906713" y="2736850"/>
              <a:ext cx="1460500" cy="161925"/>
            </a:xfrm>
            <a:custGeom>
              <a:avLst/>
              <a:gdLst>
                <a:gd name="T0" fmla="*/ 289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9 w 298"/>
                <a:gd name="T17" fmla="*/ 33 h 33"/>
                <a:gd name="T18" fmla="*/ 298 w 298"/>
                <a:gd name="T19" fmla="*/ 16 h 33"/>
                <a:gd name="T20" fmla="*/ 289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9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9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9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3028950" y="2771775"/>
              <a:ext cx="1220788" cy="1158875"/>
            </a:xfrm>
            <a:custGeom>
              <a:avLst/>
              <a:gdLst>
                <a:gd name="T0" fmla="*/ 769 w 769"/>
                <a:gd name="T1" fmla="*/ 730 h 730"/>
                <a:gd name="T2" fmla="*/ 383 w 769"/>
                <a:gd name="T3" fmla="*/ 601 h 730"/>
                <a:gd name="T4" fmla="*/ 0 w 769"/>
                <a:gd name="T5" fmla="*/ 730 h 730"/>
                <a:gd name="T6" fmla="*/ 0 w 769"/>
                <a:gd name="T7" fmla="*/ 0 h 730"/>
                <a:gd name="T8" fmla="*/ 769 w 769"/>
                <a:gd name="T9" fmla="*/ 0 h 730"/>
                <a:gd name="T10" fmla="*/ 769 w 769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9" h="730">
                  <a:moveTo>
                    <a:pt x="769" y="730"/>
                  </a:moveTo>
                  <a:lnTo>
                    <a:pt x="383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9" y="0"/>
                  </a:lnTo>
                  <a:lnTo>
                    <a:pt x="769" y="730"/>
                  </a:lnTo>
                  <a:close/>
                </a:path>
              </a:pathLst>
            </a:cu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902721" y="827581"/>
            <a:ext cx="1120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Non-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functionality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  <p:sp>
        <p:nvSpPr>
          <p:cNvPr id="11" name="Rectangle 194"/>
          <p:cNvSpPr>
            <a:spLocks noChangeArrowheads="1"/>
          </p:cNvSpPr>
          <p:nvPr/>
        </p:nvSpPr>
        <p:spPr bwMode="auto">
          <a:xfrm>
            <a:off x="177800" y="1841500"/>
            <a:ext cx="8305800" cy="3524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1. PERFORMANCE:</a:t>
            </a:r>
            <a:r>
              <a:rPr lang="en-US" sz="1600" b="1" dirty="0"/>
              <a:t> </a:t>
            </a:r>
          </a:p>
          <a:p>
            <a:pPr algn="l"/>
            <a:r>
              <a:rPr lang="en-US" sz="1600" b="1" dirty="0"/>
              <a:t>Computation</a:t>
            </a:r>
            <a:r>
              <a:rPr lang="en-US" sz="1600" dirty="0"/>
              <a:t>: The control algorithm is of the form </a:t>
            </a:r>
          </a:p>
          <a:p>
            <a:pPr algn="l"/>
            <a:r>
              <a:rPr lang="en-US" sz="1600" dirty="0" err="1"/>
              <a:t>Ka</a:t>
            </a:r>
            <a:r>
              <a:rPr lang="en-US" sz="1600" dirty="0"/>
              <a:t>[(1 +ST,)( 1 +ST 2)]/[( 1 +ST 3)(1 +ST.)] </a:t>
            </a:r>
          </a:p>
          <a:p>
            <a:pPr algn="l"/>
            <a:r>
              <a:rPr lang="en-US" sz="1600" b="1" dirty="0"/>
              <a:t>Computation time</a:t>
            </a:r>
            <a:r>
              <a:rPr lang="en-US" sz="1600" dirty="0"/>
              <a:t>: This must be achieved in 5 milliseconds. </a:t>
            </a:r>
          </a:p>
          <a:p>
            <a:pPr algn="l"/>
            <a:r>
              <a:rPr lang="en-US" sz="1600" b="1" dirty="0"/>
              <a:t>Computation accuracy</a:t>
            </a:r>
            <a:r>
              <a:rPr lang="en-US" sz="1600" dirty="0"/>
              <a:t>: Calculations must be accurate to within 0.01%. </a:t>
            </a:r>
            <a:r>
              <a:rPr lang="en-US" sz="1600" b="1" dirty="0"/>
              <a:t>Control loop update rates</a:t>
            </a:r>
            <a:r>
              <a:rPr lang="en-US" sz="1600" dirty="0"/>
              <a:t>: 100 per second. </a:t>
            </a:r>
          </a:p>
          <a:p>
            <a:pPr algn="l"/>
            <a:r>
              <a:rPr lang="en-US" sz="1600" b="1" dirty="0"/>
              <a:t>Variation on loop sampling time</a:t>
            </a:r>
            <a:r>
              <a:rPr lang="en-US" sz="1600" dirty="0"/>
              <a:t>: 1 millisecond from sample to sample. </a:t>
            </a:r>
            <a:r>
              <a:rPr lang="en-US" sz="1600" b="1" dirty="0"/>
              <a:t>Response to loss of altitude signal</a:t>
            </a:r>
            <a:r>
              <a:rPr lang="en-US" sz="1600" dirty="0"/>
              <a:t>: 100 microseconds maximum. </a:t>
            </a:r>
            <a:r>
              <a:rPr lang="en-US" sz="1600" b="1" dirty="0"/>
              <a:t>Redundancy</a:t>
            </a:r>
            <a:r>
              <a:rPr lang="en-US" sz="1600" dirty="0"/>
              <a:t>: Quad redundant processor system. </a:t>
            </a:r>
          </a:p>
          <a:p>
            <a:pPr algn="l"/>
            <a:r>
              <a:rPr lang="en-US" sz="1600" b="1" dirty="0"/>
              <a:t>System fault handling</a:t>
            </a:r>
            <a:r>
              <a:rPr lang="en-US" sz="1600" dirty="0"/>
              <a:t>: Majority voting on processor outputs. </a:t>
            </a:r>
          </a:p>
          <a:p>
            <a:pPr algn="l"/>
            <a:r>
              <a:rPr lang="en-US" sz="1600" b="1" dirty="0"/>
              <a:t>Mean Time Between Failures (MTBF) per control channel</a:t>
            </a:r>
            <a:r>
              <a:rPr lang="en-US" sz="1600" dirty="0"/>
              <a:t>: 5000 hours. </a:t>
            </a:r>
            <a:r>
              <a:rPr lang="en-US" sz="1600" b="1" dirty="0"/>
              <a:t>Reliability per control channel</a:t>
            </a:r>
            <a:r>
              <a:rPr lang="en-US" sz="1600" dirty="0"/>
              <a:t>: 99.98%. </a:t>
            </a:r>
          </a:p>
          <a:p>
            <a:pPr algn="l"/>
            <a:r>
              <a:rPr lang="en-US" sz="1600" b="1" dirty="0"/>
              <a:t>Mean Time To Repair (MTIR) per control channel</a:t>
            </a:r>
            <a:r>
              <a:rPr lang="en-US" sz="1600" dirty="0"/>
              <a:t>: 1 hour. </a:t>
            </a:r>
          </a:p>
          <a:p>
            <a:pPr algn="l"/>
            <a:r>
              <a:rPr lang="en-US" sz="1600" b="1" dirty="0"/>
              <a:t>Storage capacity</a:t>
            </a:r>
            <a:r>
              <a:rPr lang="en-US" sz="1600" dirty="0"/>
              <a:t>: 1 </a:t>
            </a:r>
            <a:r>
              <a:rPr lang="en-US" sz="1600" dirty="0" err="1"/>
              <a:t>MByte</a:t>
            </a:r>
            <a:r>
              <a:rPr lang="en-US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Practical approaches for requirements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03200" y="1727200"/>
            <a:ext cx="8305800" cy="474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1600" b="1">
                <a:solidFill>
                  <a:schemeClr val="accent2"/>
                </a:solidFill>
              </a:rPr>
              <a:t>2. INTERFACES.</a:t>
            </a:r>
            <a:r>
              <a:rPr lang="en-US" sz="1600"/>
              <a:t> </a:t>
            </a:r>
          </a:p>
          <a:p>
            <a:pPr algn="l"/>
            <a:r>
              <a:rPr lang="en-US" sz="1600" b="1"/>
              <a:t>2.1 Interfaces - MMI.</a:t>
            </a:r>
            <a:r>
              <a:rPr lang="en-US" sz="1600"/>
              <a:t> </a:t>
            </a:r>
          </a:p>
          <a:p>
            <a:pPr algn="l"/>
            <a:r>
              <a:rPr lang="en-US" sz="1600"/>
              <a:t>The pilots will be able to select hard, medium or soft rides via a touch screen facility on the head down display. </a:t>
            </a:r>
          </a:p>
          <a:p>
            <a:pPr algn="l"/>
            <a:r>
              <a:rPr lang="en-US" sz="1600" b="1"/>
              <a:t>2.2 Interfaces - Aircraft.</a:t>
            </a:r>
            <a:r>
              <a:rPr lang="en-US" sz="1600"/>
              <a:t> </a:t>
            </a:r>
          </a:p>
          <a:p>
            <a:pPr algn="l"/>
            <a:r>
              <a:rPr lang="en-US" sz="1600"/>
              <a:t>(a) Analogue input signals: These are derived from the following sources: </a:t>
            </a:r>
          </a:p>
          <a:p>
            <a:pPr algn="l"/>
            <a:r>
              <a:rPr lang="en-US" sz="1600"/>
              <a:t>Altitude, airspeed and groundspeed. Terrain-following radar. </a:t>
            </a:r>
          </a:p>
          <a:p>
            <a:pPr algn="l"/>
            <a:r>
              <a:rPr lang="en-US" sz="1600"/>
              <a:t>Angle of attack. </a:t>
            </a:r>
          </a:p>
          <a:p>
            <a:pPr algn="l"/>
            <a:r>
              <a:rPr lang="en-US" sz="1600"/>
              <a:t>Roll. pitch and yaw gyros. Stick demand. </a:t>
            </a:r>
          </a:p>
          <a:p>
            <a:pPr algn="l"/>
            <a:r>
              <a:rPr lang="en-US" sz="1600"/>
              <a:t>All are digitized using a 12 bit analogue-to-digital converter having a conversion time of 10 microseconds. </a:t>
            </a:r>
          </a:p>
          <a:p>
            <a:pPr algn="l"/>
            <a:r>
              <a:rPr lang="en-US" sz="1600"/>
              <a:t>(b) Analogue output signals: These are fed to the following items: </a:t>
            </a:r>
          </a:p>
          <a:p>
            <a:pPr algn="l"/>
            <a:r>
              <a:rPr lang="en-US" sz="1600"/>
              <a:t>Aileron, rudder and elevator servo controllers. </a:t>
            </a:r>
          </a:p>
          <a:p>
            <a:pPr algn="l"/>
            <a:r>
              <a:rPr lang="en-US" sz="1600"/>
              <a:t>A 12 bit digital-to-analogue converter is used on the output of the controller. </a:t>
            </a:r>
          </a:p>
          <a:p>
            <a:pPr algn="l"/>
            <a:r>
              <a:rPr lang="en-US" sz="1600"/>
              <a:t>(c) Avionics data bus: All state information is to be fed out onto the aircraft Mil-Std 1553 data bus. </a:t>
            </a:r>
          </a:p>
          <a:p>
            <a:pPr algn="l"/>
            <a:r>
              <a:rPr lang="en-US" sz="1600" b="1"/>
              <a:t>2.3 Interfaces - Software.</a:t>
            </a:r>
            <a:r>
              <a:rPr lang="en-US" sz="1600"/>
              <a:t> </a:t>
            </a:r>
          </a:p>
          <a:p>
            <a:pPr algn="l"/>
            <a:r>
              <a:rPr lang="en-US" sz="1600"/>
              <a:t>The application software will be designed to interlace to the VRTX32 real-time executive.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83500" y="460868"/>
            <a:ext cx="1460500" cy="1193800"/>
            <a:chOff x="4640263" y="2736850"/>
            <a:chExt cx="1460500" cy="1193800"/>
          </a:xfrm>
        </p:grpSpPr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4640263" y="2736850"/>
              <a:ext cx="1460500" cy="161925"/>
            </a:xfrm>
            <a:custGeom>
              <a:avLst/>
              <a:gdLst>
                <a:gd name="T0" fmla="*/ 288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8 w 298"/>
                <a:gd name="T17" fmla="*/ 33 h 33"/>
                <a:gd name="T18" fmla="*/ 298 w 298"/>
                <a:gd name="T19" fmla="*/ 16 h 33"/>
                <a:gd name="T20" fmla="*/ 288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8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8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8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4764088" y="2771775"/>
              <a:ext cx="1219200" cy="1158875"/>
            </a:xfrm>
            <a:custGeom>
              <a:avLst/>
              <a:gdLst>
                <a:gd name="T0" fmla="*/ 768 w 768"/>
                <a:gd name="T1" fmla="*/ 730 h 730"/>
                <a:gd name="T2" fmla="*/ 382 w 768"/>
                <a:gd name="T3" fmla="*/ 601 h 730"/>
                <a:gd name="T4" fmla="*/ 0 w 768"/>
                <a:gd name="T5" fmla="*/ 730 h 730"/>
                <a:gd name="T6" fmla="*/ 0 w 768"/>
                <a:gd name="T7" fmla="*/ 0 h 730"/>
                <a:gd name="T8" fmla="*/ 768 w 768"/>
                <a:gd name="T9" fmla="*/ 0 h 730"/>
                <a:gd name="T10" fmla="*/ 768 w 768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" h="730">
                  <a:moveTo>
                    <a:pt x="768" y="730"/>
                  </a:moveTo>
                  <a:lnTo>
                    <a:pt x="382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768" y="73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0"/>
            <p:cNvSpPr>
              <a:spLocks/>
            </p:cNvSpPr>
            <p:nvPr/>
          </p:nvSpPr>
          <p:spPr bwMode="auto">
            <a:xfrm>
              <a:off x="5522912" y="31035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989941" y="842302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Interfaces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Practical approaches for requirements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57200" y="1879600"/>
            <a:ext cx="8305800" cy="376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1600" b="1">
                <a:solidFill>
                  <a:schemeClr val="accent2"/>
                </a:solidFill>
              </a:rPr>
              <a:t>3. DESIGN CONSTRAINTS.</a:t>
            </a:r>
            <a:r>
              <a:rPr lang="en-US" sz="1600"/>
              <a:t> </a:t>
            </a:r>
          </a:p>
          <a:p>
            <a:pPr algn="l"/>
            <a:r>
              <a:rPr lang="en-US" sz="1600"/>
              <a:t>Programming language: Ada95. </a:t>
            </a:r>
          </a:p>
          <a:p>
            <a:pPr algn="l"/>
            <a:r>
              <a:rPr lang="en-US" sz="1600"/>
              <a:t>Operating system: VRTX32. </a:t>
            </a:r>
          </a:p>
          <a:p>
            <a:pPr algn="l"/>
            <a:r>
              <a:rPr lang="en-US" sz="1600"/>
              <a:t>Avionic's data bus communication protocols: Mil-Std 1553b. </a:t>
            </a:r>
          </a:p>
          <a:p>
            <a:pPr algn="l"/>
            <a:r>
              <a:rPr lang="en-US" sz="1600"/>
              <a:t>Processor type: Motorola PC604. </a:t>
            </a:r>
          </a:p>
          <a:p>
            <a:pPr algn="l"/>
            <a:r>
              <a:rPr lang="en-US" sz="1600"/>
              <a:t>Maximum memory capacity (including expansion capability): 500 Kbytes. Spare processor performance capacity on delivery: 50% min.</a:t>
            </a:r>
          </a:p>
          <a:p>
            <a:pPr algn="l"/>
            <a:r>
              <a:rPr lang="en-US" sz="1600"/>
              <a:t>Documentation: JSP188. </a:t>
            </a:r>
          </a:p>
          <a:p>
            <a:pPr algn="l"/>
            <a:endParaRPr lang="en-US" sz="1600"/>
          </a:p>
          <a:p>
            <a:pPr algn="ctr"/>
            <a:r>
              <a:rPr lang="en-US" sz="1600" b="1">
                <a:solidFill>
                  <a:schemeClr val="accent2"/>
                </a:solidFill>
              </a:rPr>
              <a:t>4. OTHER CONSTRAINTS. </a:t>
            </a:r>
          </a:p>
          <a:p>
            <a:pPr algn="l"/>
            <a:r>
              <a:rPr lang="en-US" sz="1600"/>
              <a:t>Maximum size: Half ATR case size. </a:t>
            </a:r>
          </a:p>
          <a:p>
            <a:pPr algn="l"/>
            <a:r>
              <a:rPr lang="en-US" sz="1600"/>
              <a:t>Maximum weight: 10 lb. </a:t>
            </a:r>
          </a:p>
          <a:p>
            <a:pPr algn="l"/>
            <a:r>
              <a:rPr lang="en-US" sz="1600"/>
              <a:t>Temperature range: -55 to + 125 degrees centigrade. </a:t>
            </a:r>
          </a:p>
          <a:p>
            <a:pPr algn="l"/>
            <a:r>
              <a:rPr lang="en-US" sz="1600"/>
              <a:t>Servicing policy: Line replaceable unit. </a:t>
            </a:r>
          </a:p>
          <a:p>
            <a:pPr algn="l"/>
            <a:r>
              <a:rPr lang="en-US" sz="1600"/>
              <a:t>Test: Built-in test to identify faults to unit level.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82116" y="494121"/>
            <a:ext cx="1458913" cy="1193800"/>
            <a:chOff x="6375400" y="2736850"/>
            <a:chExt cx="1458913" cy="1193800"/>
          </a:xfrm>
        </p:grpSpPr>
        <p:sp>
          <p:nvSpPr>
            <p:cNvPr id="9" name="Freeform 11"/>
            <p:cNvSpPr>
              <a:spLocks/>
            </p:cNvSpPr>
            <p:nvPr/>
          </p:nvSpPr>
          <p:spPr bwMode="auto">
            <a:xfrm>
              <a:off x="6375400" y="2736850"/>
              <a:ext cx="1458913" cy="161925"/>
            </a:xfrm>
            <a:custGeom>
              <a:avLst/>
              <a:gdLst>
                <a:gd name="T0" fmla="*/ 288 w 298"/>
                <a:gd name="T1" fmla="*/ 0 h 33"/>
                <a:gd name="T2" fmla="*/ 281 w 298"/>
                <a:gd name="T3" fmla="*/ 7 h 33"/>
                <a:gd name="T4" fmla="*/ 18 w 298"/>
                <a:gd name="T5" fmla="*/ 7 h 33"/>
                <a:gd name="T6" fmla="*/ 10 w 298"/>
                <a:gd name="T7" fmla="*/ 0 h 33"/>
                <a:gd name="T8" fmla="*/ 0 w 298"/>
                <a:gd name="T9" fmla="*/ 16 h 33"/>
                <a:gd name="T10" fmla="*/ 10 w 298"/>
                <a:gd name="T11" fmla="*/ 33 h 33"/>
                <a:gd name="T12" fmla="*/ 18 w 298"/>
                <a:gd name="T13" fmla="*/ 26 h 33"/>
                <a:gd name="T14" fmla="*/ 281 w 298"/>
                <a:gd name="T15" fmla="*/ 26 h 33"/>
                <a:gd name="T16" fmla="*/ 288 w 298"/>
                <a:gd name="T17" fmla="*/ 33 h 33"/>
                <a:gd name="T18" fmla="*/ 298 w 298"/>
                <a:gd name="T19" fmla="*/ 16 h 33"/>
                <a:gd name="T20" fmla="*/ 288 w 298"/>
                <a:gd name="T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33">
                  <a:moveTo>
                    <a:pt x="288" y="0"/>
                  </a:moveTo>
                  <a:cubicBezTo>
                    <a:pt x="285" y="0"/>
                    <a:pt x="282" y="3"/>
                    <a:pt x="28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3"/>
                    <a:pt x="13" y="0"/>
                    <a:pt x="10" y="0"/>
                  </a:cubicBezTo>
                  <a:cubicBezTo>
                    <a:pt x="5" y="0"/>
                    <a:pt x="0" y="7"/>
                    <a:pt x="0" y="16"/>
                  </a:cubicBezTo>
                  <a:cubicBezTo>
                    <a:pt x="0" y="26"/>
                    <a:pt x="5" y="33"/>
                    <a:pt x="10" y="33"/>
                  </a:cubicBezTo>
                  <a:cubicBezTo>
                    <a:pt x="13" y="33"/>
                    <a:pt x="16" y="30"/>
                    <a:pt x="18" y="26"/>
                  </a:cubicBezTo>
                  <a:cubicBezTo>
                    <a:pt x="281" y="26"/>
                    <a:pt x="281" y="26"/>
                    <a:pt x="281" y="26"/>
                  </a:cubicBezTo>
                  <a:cubicBezTo>
                    <a:pt x="282" y="30"/>
                    <a:pt x="285" y="33"/>
                    <a:pt x="288" y="33"/>
                  </a:cubicBezTo>
                  <a:cubicBezTo>
                    <a:pt x="294" y="33"/>
                    <a:pt x="298" y="26"/>
                    <a:pt x="298" y="16"/>
                  </a:cubicBezTo>
                  <a:cubicBezTo>
                    <a:pt x="298" y="7"/>
                    <a:pt x="294" y="0"/>
                    <a:pt x="288" y="0"/>
                  </a:cubicBezTo>
                </a:path>
              </a:pathLst>
            </a:custGeom>
            <a:solidFill>
              <a:srgbClr val="917D6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auto">
            <a:xfrm>
              <a:off x="6497638" y="2771775"/>
              <a:ext cx="1219200" cy="1158875"/>
            </a:xfrm>
            <a:custGeom>
              <a:avLst/>
              <a:gdLst>
                <a:gd name="T0" fmla="*/ 768 w 768"/>
                <a:gd name="T1" fmla="*/ 730 h 730"/>
                <a:gd name="T2" fmla="*/ 382 w 768"/>
                <a:gd name="T3" fmla="*/ 601 h 730"/>
                <a:gd name="T4" fmla="*/ 0 w 768"/>
                <a:gd name="T5" fmla="*/ 730 h 730"/>
                <a:gd name="T6" fmla="*/ 0 w 768"/>
                <a:gd name="T7" fmla="*/ 0 h 730"/>
                <a:gd name="T8" fmla="*/ 768 w 768"/>
                <a:gd name="T9" fmla="*/ 0 h 730"/>
                <a:gd name="T10" fmla="*/ 768 w 768"/>
                <a:gd name="T11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" h="730">
                  <a:moveTo>
                    <a:pt x="768" y="730"/>
                  </a:moveTo>
                  <a:lnTo>
                    <a:pt x="382" y="601"/>
                  </a:lnTo>
                  <a:lnTo>
                    <a:pt x="0" y="730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768" y="73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900537" y="878730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Helvetica Neue Light"/>
                <a:cs typeface="Helvetica Neue Light"/>
              </a:rPr>
              <a:t>Constraints</a:t>
            </a:r>
            <a:endParaRPr lang="en-US" sz="1400" dirty="0">
              <a:solidFill>
                <a:schemeClr val="bg1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581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How to communicate with stakeholders- using prototype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10" y="606179"/>
            <a:ext cx="7886700" cy="412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1301" y="505715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Improved system usability.</a:t>
            </a:r>
          </a:p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A closer match to users</a:t>
            </a:r>
            <a:r>
              <a:rPr lang="ja-JP" altLang="en-US" dirty="0">
                <a:latin typeface="Helvetica Neue Light"/>
                <a:ea typeface="ＭＳ Ｐゴシック" charset="0"/>
                <a:cs typeface="Helvetica Neue Light"/>
              </a:rPr>
              <a:t>’</a:t>
            </a:r>
            <a:r>
              <a:rPr lang="en-US" altLang="ja-JP" dirty="0">
                <a:latin typeface="Helvetica Neue Light"/>
                <a:ea typeface="ＭＳ Ｐゴシック" charset="0"/>
                <a:cs typeface="Helvetica Neue Light"/>
              </a:rPr>
              <a:t> real needs.</a:t>
            </a:r>
          </a:p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Improved design quality.</a:t>
            </a:r>
          </a:p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Improved maintainability.</a:t>
            </a:r>
          </a:p>
          <a:p>
            <a:pPr marL="285750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Reduced development effort.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1182" y="444466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The </a:t>
            </a:r>
            <a:r>
              <a:rPr lang="en-US" dirty="0">
                <a:solidFill>
                  <a:srgbClr val="FF0000"/>
                </a:solidFill>
                <a:latin typeface="Helvetica Neue Light"/>
                <a:ea typeface="ＭＳ Ｐゴシック" charset="0"/>
                <a:cs typeface="Helvetica Neue Light"/>
              </a:rPr>
              <a:t>requirements engineering process </a:t>
            </a: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to help with requirements elicitation and validation;</a:t>
            </a:r>
          </a:p>
          <a:p>
            <a:pPr marL="742950" lvl="1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In </a:t>
            </a:r>
            <a:r>
              <a:rPr lang="en-US" dirty="0">
                <a:solidFill>
                  <a:srgbClr val="FF0000"/>
                </a:solidFill>
                <a:latin typeface="Helvetica Neue Light"/>
                <a:ea typeface="ＭＳ Ｐゴシック" charset="0"/>
                <a:cs typeface="Helvetica Neue Light"/>
              </a:rPr>
              <a:t>design</a:t>
            </a: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 processes to explore options and develop a UI design;</a:t>
            </a:r>
          </a:p>
          <a:p>
            <a:pPr marL="742950" lvl="1" indent="-285750">
              <a:buFont typeface="Wingdings" charset="2"/>
              <a:buChar char="ü"/>
            </a:pP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In the </a:t>
            </a:r>
            <a:r>
              <a:rPr lang="en-US" dirty="0">
                <a:solidFill>
                  <a:srgbClr val="FF0000"/>
                </a:solidFill>
                <a:latin typeface="Helvetica Neue Light"/>
                <a:ea typeface="ＭＳ Ｐゴシック" charset="0"/>
                <a:cs typeface="Helvetica Neue Light"/>
              </a:rPr>
              <a:t>testing</a:t>
            </a:r>
            <a:r>
              <a:rPr lang="en-US" dirty="0">
                <a:latin typeface="Helvetica Neue Light"/>
                <a:ea typeface="ＭＳ Ｐゴシック" charset="0"/>
                <a:cs typeface="Helvetica Neue Light"/>
              </a:rPr>
              <a:t> process to run back-to-back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1147" y="4549013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Benefits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6817" y="4054673"/>
            <a:ext cx="115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Useful at,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205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Types of Prototype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3012" y="3062534"/>
            <a:ext cx="1577975" cy="2281238"/>
            <a:chOff x="3783012" y="3062534"/>
            <a:chExt cx="1577975" cy="2281238"/>
          </a:xfrm>
        </p:grpSpPr>
        <p:sp>
          <p:nvSpPr>
            <p:cNvPr id="9" name="Freeform 33"/>
            <p:cNvSpPr>
              <a:spLocks/>
            </p:cNvSpPr>
            <p:nvPr/>
          </p:nvSpPr>
          <p:spPr bwMode="auto">
            <a:xfrm>
              <a:off x="4335462" y="4984996"/>
              <a:ext cx="474663" cy="80963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2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4"/>
            <p:cNvSpPr>
              <a:spLocks/>
            </p:cNvSpPr>
            <p:nvPr/>
          </p:nvSpPr>
          <p:spPr bwMode="auto">
            <a:xfrm>
              <a:off x="4335462" y="5075484"/>
              <a:ext cx="474663" cy="82550"/>
            </a:xfrm>
            <a:custGeom>
              <a:avLst/>
              <a:gdLst>
                <a:gd name="T0" fmla="*/ 145 w 145"/>
                <a:gd name="T1" fmla="*/ 13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3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3"/>
                  </a:moveTo>
                  <a:cubicBezTo>
                    <a:pt x="145" y="20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20"/>
                    <a:pt x="0" y="13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3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35"/>
            <p:cNvSpPr>
              <a:spLocks/>
            </p:cNvSpPr>
            <p:nvPr/>
          </p:nvSpPr>
          <p:spPr bwMode="auto">
            <a:xfrm>
              <a:off x="4335462" y="5170734"/>
              <a:ext cx="474663" cy="80963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5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5"/>
                    <a:pt x="145" y="12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6"/>
            <p:cNvSpPr>
              <a:spLocks/>
            </p:cNvSpPr>
            <p:nvPr/>
          </p:nvSpPr>
          <p:spPr bwMode="auto">
            <a:xfrm>
              <a:off x="4437062" y="5262809"/>
              <a:ext cx="268288" cy="80963"/>
            </a:xfrm>
            <a:custGeom>
              <a:avLst/>
              <a:gdLst>
                <a:gd name="T0" fmla="*/ 82 w 82"/>
                <a:gd name="T1" fmla="*/ 0 h 25"/>
                <a:gd name="T2" fmla="*/ 41 w 82"/>
                <a:gd name="T3" fmla="*/ 25 h 25"/>
                <a:gd name="T4" fmla="*/ 0 w 82"/>
                <a:gd name="T5" fmla="*/ 0 h 25"/>
                <a:gd name="T6" fmla="*/ 82 w 82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5">
                  <a:moveTo>
                    <a:pt x="82" y="0"/>
                  </a:moveTo>
                  <a:cubicBezTo>
                    <a:pt x="82" y="14"/>
                    <a:pt x="64" y="25"/>
                    <a:pt x="41" y="25"/>
                  </a:cubicBezTo>
                  <a:cubicBezTo>
                    <a:pt x="18" y="25"/>
                    <a:pt x="0" y="14"/>
                    <a:pt x="0" y="0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37"/>
            <p:cNvSpPr>
              <a:spLocks noEditPoints="1"/>
            </p:cNvSpPr>
            <p:nvPr/>
          </p:nvSpPr>
          <p:spPr bwMode="auto">
            <a:xfrm>
              <a:off x="3783012" y="3062534"/>
              <a:ext cx="1577975" cy="1895475"/>
            </a:xfrm>
            <a:custGeom>
              <a:avLst/>
              <a:gdLst>
                <a:gd name="T0" fmla="*/ 241 w 483"/>
                <a:gd name="T1" fmla="*/ 0 h 580"/>
                <a:gd name="T2" fmla="*/ 0 w 483"/>
                <a:gd name="T3" fmla="*/ 241 h 580"/>
                <a:gd name="T4" fmla="*/ 62 w 483"/>
                <a:gd name="T5" fmla="*/ 402 h 580"/>
                <a:gd name="T6" fmla="*/ 62 w 483"/>
                <a:gd name="T7" fmla="*/ 402 h 580"/>
                <a:gd name="T8" fmla="*/ 63 w 483"/>
                <a:gd name="T9" fmla="*/ 403 h 580"/>
                <a:gd name="T10" fmla="*/ 73 w 483"/>
                <a:gd name="T11" fmla="*/ 414 h 580"/>
                <a:gd name="T12" fmla="*/ 129 w 483"/>
                <a:gd name="T13" fmla="*/ 483 h 580"/>
                <a:gd name="T14" fmla="*/ 199 w 483"/>
                <a:gd name="T15" fmla="*/ 580 h 580"/>
                <a:gd name="T16" fmla="*/ 235 w 483"/>
                <a:gd name="T17" fmla="*/ 580 h 580"/>
                <a:gd name="T18" fmla="*/ 247 w 483"/>
                <a:gd name="T19" fmla="*/ 580 h 580"/>
                <a:gd name="T20" fmla="*/ 284 w 483"/>
                <a:gd name="T21" fmla="*/ 580 h 580"/>
                <a:gd name="T22" fmla="*/ 353 w 483"/>
                <a:gd name="T23" fmla="*/ 483 h 580"/>
                <a:gd name="T24" fmla="*/ 407 w 483"/>
                <a:gd name="T25" fmla="*/ 416 h 580"/>
                <a:gd name="T26" fmla="*/ 483 w 483"/>
                <a:gd name="T27" fmla="*/ 241 h 580"/>
                <a:gd name="T28" fmla="*/ 241 w 483"/>
                <a:gd name="T29" fmla="*/ 0 h 580"/>
                <a:gd name="T30" fmla="*/ 331 w 483"/>
                <a:gd name="T31" fmla="*/ 349 h 580"/>
                <a:gd name="T32" fmla="*/ 302 w 483"/>
                <a:gd name="T33" fmla="*/ 388 h 580"/>
                <a:gd name="T34" fmla="*/ 264 w 483"/>
                <a:gd name="T35" fmla="*/ 443 h 580"/>
                <a:gd name="T36" fmla="*/ 245 w 483"/>
                <a:gd name="T37" fmla="*/ 443 h 580"/>
                <a:gd name="T38" fmla="*/ 238 w 483"/>
                <a:gd name="T39" fmla="*/ 443 h 580"/>
                <a:gd name="T40" fmla="*/ 218 w 483"/>
                <a:gd name="T41" fmla="*/ 443 h 580"/>
                <a:gd name="T42" fmla="*/ 181 w 483"/>
                <a:gd name="T43" fmla="*/ 388 h 580"/>
                <a:gd name="T44" fmla="*/ 150 w 483"/>
                <a:gd name="T45" fmla="*/ 348 h 580"/>
                <a:gd name="T46" fmla="*/ 145 w 483"/>
                <a:gd name="T47" fmla="*/ 341 h 580"/>
                <a:gd name="T48" fmla="*/ 144 w 483"/>
                <a:gd name="T49" fmla="*/ 341 h 580"/>
                <a:gd name="T50" fmla="*/ 144 w 483"/>
                <a:gd name="T51" fmla="*/ 341 h 580"/>
                <a:gd name="T52" fmla="*/ 111 w 483"/>
                <a:gd name="T53" fmla="*/ 248 h 580"/>
                <a:gd name="T54" fmla="*/ 241 w 483"/>
                <a:gd name="T55" fmla="*/ 109 h 580"/>
                <a:gd name="T56" fmla="*/ 372 w 483"/>
                <a:gd name="T57" fmla="*/ 248 h 580"/>
                <a:gd name="T58" fmla="*/ 331 w 483"/>
                <a:gd name="T59" fmla="*/ 349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83" h="580">
                  <a:moveTo>
                    <a:pt x="241" y="0"/>
                  </a:moveTo>
                  <a:cubicBezTo>
                    <a:pt x="108" y="0"/>
                    <a:pt x="0" y="108"/>
                    <a:pt x="0" y="241"/>
                  </a:cubicBezTo>
                  <a:cubicBezTo>
                    <a:pt x="0" y="303"/>
                    <a:pt x="23" y="359"/>
                    <a:pt x="62" y="402"/>
                  </a:cubicBezTo>
                  <a:cubicBezTo>
                    <a:pt x="62" y="402"/>
                    <a:pt x="62" y="402"/>
                    <a:pt x="62" y="402"/>
                  </a:cubicBezTo>
                  <a:cubicBezTo>
                    <a:pt x="62" y="402"/>
                    <a:pt x="62" y="402"/>
                    <a:pt x="63" y="403"/>
                  </a:cubicBezTo>
                  <a:cubicBezTo>
                    <a:pt x="66" y="407"/>
                    <a:pt x="70" y="410"/>
                    <a:pt x="73" y="414"/>
                  </a:cubicBezTo>
                  <a:cubicBezTo>
                    <a:pt x="88" y="429"/>
                    <a:pt x="112" y="457"/>
                    <a:pt x="129" y="483"/>
                  </a:cubicBezTo>
                  <a:cubicBezTo>
                    <a:pt x="154" y="523"/>
                    <a:pt x="141" y="580"/>
                    <a:pt x="199" y="580"/>
                  </a:cubicBezTo>
                  <a:cubicBezTo>
                    <a:pt x="235" y="580"/>
                    <a:pt x="235" y="580"/>
                    <a:pt x="235" y="580"/>
                  </a:cubicBezTo>
                  <a:cubicBezTo>
                    <a:pt x="247" y="580"/>
                    <a:pt x="247" y="580"/>
                    <a:pt x="247" y="580"/>
                  </a:cubicBezTo>
                  <a:cubicBezTo>
                    <a:pt x="284" y="580"/>
                    <a:pt x="284" y="580"/>
                    <a:pt x="284" y="580"/>
                  </a:cubicBezTo>
                  <a:cubicBezTo>
                    <a:pt x="341" y="580"/>
                    <a:pt x="329" y="523"/>
                    <a:pt x="353" y="483"/>
                  </a:cubicBezTo>
                  <a:cubicBezTo>
                    <a:pt x="369" y="458"/>
                    <a:pt x="393" y="431"/>
                    <a:pt x="407" y="416"/>
                  </a:cubicBezTo>
                  <a:cubicBezTo>
                    <a:pt x="454" y="372"/>
                    <a:pt x="483" y="310"/>
                    <a:pt x="483" y="241"/>
                  </a:cubicBezTo>
                  <a:cubicBezTo>
                    <a:pt x="483" y="108"/>
                    <a:pt x="375" y="0"/>
                    <a:pt x="241" y="0"/>
                  </a:cubicBezTo>
                  <a:moveTo>
                    <a:pt x="331" y="349"/>
                  </a:moveTo>
                  <a:cubicBezTo>
                    <a:pt x="323" y="358"/>
                    <a:pt x="311" y="373"/>
                    <a:pt x="302" y="388"/>
                  </a:cubicBezTo>
                  <a:cubicBezTo>
                    <a:pt x="289" y="411"/>
                    <a:pt x="295" y="443"/>
                    <a:pt x="264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38" y="443"/>
                    <a:pt x="238" y="443"/>
                    <a:pt x="238" y="443"/>
                  </a:cubicBezTo>
                  <a:cubicBezTo>
                    <a:pt x="218" y="443"/>
                    <a:pt x="218" y="443"/>
                    <a:pt x="218" y="443"/>
                  </a:cubicBezTo>
                  <a:cubicBezTo>
                    <a:pt x="187" y="443"/>
                    <a:pt x="194" y="411"/>
                    <a:pt x="181" y="388"/>
                  </a:cubicBezTo>
                  <a:cubicBezTo>
                    <a:pt x="172" y="372"/>
                    <a:pt x="158" y="356"/>
                    <a:pt x="150" y="348"/>
                  </a:cubicBezTo>
                  <a:cubicBezTo>
                    <a:pt x="148" y="345"/>
                    <a:pt x="146" y="343"/>
                    <a:pt x="145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23" y="316"/>
                    <a:pt x="111" y="284"/>
                    <a:pt x="111" y="248"/>
                  </a:cubicBezTo>
                  <a:cubicBezTo>
                    <a:pt x="111" y="171"/>
                    <a:pt x="169" y="109"/>
                    <a:pt x="241" y="109"/>
                  </a:cubicBezTo>
                  <a:cubicBezTo>
                    <a:pt x="314" y="109"/>
                    <a:pt x="372" y="171"/>
                    <a:pt x="372" y="248"/>
                  </a:cubicBezTo>
                  <a:cubicBezTo>
                    <a:pt x="372" y="288"/>
                    <a:pt x="356" y="323"/>
                    <a:pt x="331" y="349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467644" y="2331136"/>
            <a:ext cx="1547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Exploratory 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5187950" y="4473821"/>
            <a:ext cx="1019175" cy="1020763"/>
            <a:chOff x="5187950" y="4473821"/>
            <a:chExt cx="1019175" cy="1020763"/>
          </a:xfrm>
        </p:grpSpPr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5187950" y="4473821"/>
              <a:ext cx="1019175" cy="1020763"/>
            </a:xfrm>
            <a:custGeom>
              <a:avLst/>
              <a:gdLst>
                <a:gd name="T0" fmla="*/ 165 w 312"/>
                <a:gd name="T1" fmla="*/ 0 h 312"/>
                <a:gd name="T2" fmla="*/ 0 w 312"/>
                <a:gd name="T3" fmla="*/ 0 h 312"/>
                <a:gd name="T4" fmla="*/ 0 w 312"/>
                <a:gd name="T5" fmla="*/ 162 h 312"/>
                <a:gd name="T6" fmla="*/ 153 w 312"/>
                <a:gd name="T7" fmla="*/ 312 h 312"/>
                <a:gd name="T8" fmla="*/ 312 w 312"/>
                <a:gd name="T9" fmla="*/ 312 h 312"/>
                <a:gd name="T10" fmla="*/ 312 w 312"/>
                <a:gd name="T11" fmla="*/ 150 h 312"/>
                <a:gd name="T12" fmla="*/ 165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>
                  <a:moveTo>
                    <a:pt x="1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246"/>
                    <a:pt x="69" y="312"/>
                    <a:pt x="153" y="312"/>
                  </a:cubicBezTo>
                  <a:cubicBezTo>
                    <a:pt x="312" y="312"/>
                    <a:pt x="312" y="312"/>
                    <a:pt x="312" y="312"/>
                  </a:cubicBezTo>
                  <a:cubicBezTo>
                    <a:pt x="312" y="150"/>
                    <a:pt x="312" y="150"/>
                    <a:pt x="312" y="150"/>
                  </a:cubicBezTo>
                  <a:cubicBezTo>
                    <a:pt x="312" y="67"/>
                    <a:pt x="248" y="0"/>
                    <a:pt x="165" y="0"/>
                  </a:cubicBezTo>
                </a:path>
              </a:pathLst>
            </a:custGeom>
            <a:solidFill>
              <a:srgbClr val="CC33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5480049" y="4757375"/>
              <a:ext cx="434975" cy="434975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2 h 203"/>
                <a:gd name="T4" fmla="*/ 102 w 203"/>
                <a:gd name="T5" fmla="*/ 0 h 203"/>
                <a:gd name="T6" fmla="*/ 0 w 203"/>
                <a:gd name="T7" fmla="*/ 102 h 203"/>
                <a:gd name="T8" fmla="*/ 102 w 203"/>
                <a:gd name="T9" fmla="*/ 203 h 203"/>
                <a:gd name="T10" fmla="*/ 40 w 203"/>
                <a:gd name="T11" fmla="*/ 172 h 203"/>
                <a:gd name="T12" fmla="*/ 32 w 203"/>
                <a:gd name="T13" fmla="*/ 163 h 203"/>
                <a:gd name="T14" fmla="*/ 51 w 203"/>
                <a:gd name="T15" fmla="*/ 144 h 203"/>
                <a:gd name="T16" fmla="*/ 59 w 203"/>
                <a:gd name="T17" fmla="*/ 153 h 203"/>
                <a:gd name="T18" fmla="*/ 40 w 203"/>
                <a:gd name="T19" fmla="*/ 172 h 203"/>
                <a:gd name="T20" fmla="*/ 107 w 203"/>
                <a:gd name="T21" fmla="*/ 195 h 203"/>
                <a:gd name="T22" fmla="*/ 96 w 203"/>
                <a:gd name="T23" fmla="*/ 195 h 203"/>
                <a:gd name="T24" fmla="*/ 96 w 203"/>
                <a:gd name="T25" fmla="*/ 168 h 203"/>
                <a:gd name="T26" fmla="*/ 107 w 203"/>
                <a:gd name="T27" fmla="*/ 168 h 203"/>
                <a:gd name="T28" fmla="*/ 107 w 203"/>
                <a:gd name="T29" fmla="*/ 195 h 203"/>
                <a:gd name="T30" fmla="*/ 195 w 203"/>
                <a:gd name="T31" fmla="*/ 108 h 203"/>
                <a:gd name="T32" fmla="*/ 168 w 203"/>
                <a:gd name="T33" fmla="*/ 108 h 203"/>
                <a:gd name="T34" fmla="*/ 168 w 203"/>
                <a:gd name="T35" fmla="*/ 96 h 203"/>
                <a:gd name="T36" fmla="*/ 195 w 203"/>
                <a:gd name="T37" fmla="*/ 96 h 203"/>
                <a:gd name="T38" fmla="*/ 195 w 203"/>
                <a:gd name="T39" fmla="*/ 108 h 203"/>
                <a:gd name="T40" fmla="*/ 163 w 203"/>
                <a:gd name="T41" fmla="*/ 32 h 203"/>
                <a:gd name="T42" fmla="*/ 172 w 203"/>
                <a:gd name="T43" fmla="*/ 40 h 203"/>
                <a:gd name="T44" fmla="*/ 152 w 203"/>
                <a:gd name="T45" fmla="*/ 59 h 203"/>
                <a:gd name="T46" fmla="*/ 144 w 203"/>
                <a:gd name="T47" fmla="*/ 51 h 203"/>
                <a:gd name="T48" fmla="*/ 163 w 203"/>
                <a:gd name="T49" fmla="*/ 32 h 203"/>
                <a:gd name="T50" fmla="*/ 152 w 203"/>
                <a:gd name="T51" fmla="*/ 144 h 203"/>
                <a:gd name="T52" fmla="*/ 172 w 203"/>
                <a:gd name="T53" fmla="*/ 163 h 203"/>
                <a:gd name="T54" fmla="*/ 163 w 203"/>
                <a:gd name="T55" fmla="*/ 172 h 203"/>
                <a:gd name="T56" fmla="*/ 144 w 203"/>
                <a:gd name="T57" fmla="*/ 153 h 203"/>
                <a:gd name="T58" fmla="*/ 152 w 203"/>
                <a:gd name="T59" fmla="*/ 144 h 203"/>
                <a:gd name="T60" fmla="*/ 96 w 203"/>
                <a:gd name="T61" fmla="*/ 9 h 203"/>
                <a:gd name="T62" fmla="*/ 107 w 203"/>
                <a:gd name="T63" fmla="*/ 9 h 203"/>
                <a:gd name="T64" fmla="*/ 107 w 203"/>
                <a:gd name="T65" fmla="*/ 36 h 203"/>
                <a:gd name="T66" fmla="*/ 96 w 203"/>
                <a:gd name="T67" fmla="*/ 36 h 203"/>
                <a:gd name="T68" fmla="*/ 96 w 203"/>
                <a:gd name="T69" fmla="*/ 9 h 203"/>
                <a:gd name="T70" fmla="*/ 85 w 203"/>
                <a:gd name="T71" fmla="*/ 78 h 203"/>
                <a:gd name="T72" fmla="*/ 103 w 203"/>
                <a:gd name="T73" fmla="*/ 95 h 203"/>
                <a:gd name="T74" fmla="*/ 135 w 203"/>
                <a:gd name="T75" fmla="*/ 64 h 203"/>
                <a:gd name="T76" fmla="*/ 143 w 203"/>
                <a:gd name="T77" fmla="*/ 72 h 203"/>
                <a:gd name="T78" fmla="*/ 103 w 203"/>
                <a:gd name="T79" fmla="*/ 111 h 203"/>
                <a:gd name="T80" fmla="*/ 77 w 203"/>
                <a:gd name="T81" fmla="*/ 86 h 203"/>
                <a:gd name="T82" fmla="*/ 85 w 203"/>
                <a:gd name="T83" fmla="*/ 78 h 203"/>
                <a:gd name="T84" fmla="*/ 40 w 203"/>
                <a:gd name="T85" fmla="*/ 32 h 203"/>
                <a:gd name="T86" fmla="*/ 59 w 203"/>
                <a:gd name="T87" fmla="*/ 51 h 203"/>
                <a:gd name="T88" fmla="*/ 51 w 203"/>
                <a:gd name="T89" fmla="*/ 59 h 203"/>
                <a:gd name="T90" fmla="*/ 32 w 203"/>
                <a:gd name="T91" fmla="*/ 40 h 203"/>
                <a:gd name="T92" fmla="*/ 40 w 203"/>
                <a:gd name="T93" fmla="*/ 32 h 203"/>
                <a:gd name="T94" fmla="*/ 36 w 203"/>
                <a:gd name="T95" fmla="*/ 108 h 203"/>
                <a:gd name="T96" fmla="*/ 9 w 203"/>
                <a:gd name="T97" fmla="*/ 108 h 203"/>
                <a:gd name="T98" fmla="*/ 9 w 203"/>
                <a:gd name="T99" fmla="*/ 96 h 203"/>
                <a:gd name="T100" fmla="*/ 36 w 203"/>
                <a:gd name="T101" fmla="*/ 96 h 203"/>
                <a:gd name="T102" fmla="*/ 36 w 203"/>
                <a:gd name="T103" fmla="*/ 10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8"/>
                    <a:pt x="203" y="102"/>
                  </a:cubicBezTo>
                  <a:cubicBezTo>
                    <a:pt x="203" y="46"/>
                    <a:pt x="158" y="0"/>
                    <a:pt x="102" y="0"/>
                  </a:cubicBezTo>
                  <a:cubicBezTo>
                    <a:pt x="45" y="0"/>
                    <a:pt x="0" y="46"/>
                    <a:pt x="0" y="102"/>
                  </a:cubicBezTo>
                  <a:cubicBezTo>
                    <a:pt x="0" y="158"/>
                    <a:pt x="45" y="203"/>
                    <a:pt x="102" y="203"/>
                  </a:cubicBezTo>
                  <a:moveTo>
                    <a:pt x="40" y="172"/>
                  </a:moveTo>
                  <a:cubicBezTo>
                    <a:pt x="32" y="163"/>
                    <a:pt x="32" y="163"/>
                    <a:pt x="32" y="163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9" y="153"/>
                    <a:pt x="59" y="153"/>
                    <a:pt x="59" y="153"/>
                  </a:cubicBezTo>
                  <a:lnTo>
                    <a:pt x="40" y="172"/>
                  </a:lnTo>
                  <a:close/>
                  <a:moveTo>
                    <a:pt x="107" y="195"/>
                  </a:moveTo>
                  <a:cubicBezTo>
                    <a:pt x="96" y="195"/>
                    <a:pt x="96" y="195"/>
                    <a:pt x="96" y="195"/>
                  </a:cubicBezTo>
                  <a:cubicBezTo>
                    <a:pt x="96" y="168"/>
                    <a:pt x="96" y="168"/>
                    <a:pt x="96" y="168"/>
                  </a:cubicBezTo>
                  <a:cubicBezTo>
                    <a:pt x="107" y="168"/>
                    <a:pt x="107" y="168"/>
                    <a:pt x="107" y="168"/>
                  </a:cubicBezTo>
                  <a:lnTo>
                    <a:pt x="107" y="195"/>
                  </a:lnTo>
                  <a:close/>
                  <a:moveTo>
                    <a:pt x="195" y="108"/>
                  </a:moveTo>
                  <a:cubicBezTo>
                    <a:pt x="168" y="108"/>
                    <a:pt x="168" y="108"/>
                    <a:pt x="168" y="108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95" y="96"/>
                    <a:pt x="195" y="96"/>
                    <a:pt x="195" y="96"/>
                  </a:cubicBezTo>
                  <a:lnTo>
                    <a:pt x="195" y="108"/>
                  </a:lnTo>
                  <a:close/>
                  <a:moveTo>
                    <a:pt x="163" y="32"/>
                  </a:moveTo>
                  <a:cubicBezTo>
                    <a:pt x="172" y="40"/>
                    <a:pt x="172" y="40"/>
                    <a:pt x="172" y="40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44" y="51"/>
                    <a:pt x="144" y="51"/>
                    <a:pt x="144" y="51"/>
                  </a:cubicBezTo>
                  <a:lnTo>
                    <a:pt x="163" y="32"/>
                  </a:lnTo>
                  <a:close/>
                  <a:moveTo>
                    <a:pt x="152" y="144"/>
                  </a:moveTo>
                  <a:cubicBezTo>
                    <a:pt x="172" y="163"/>
                    <a:pt x="172" y="163"/>
                    <a:pt x="172" y="163"/>
                  </a:cubicBezTo>
                  <a:cubicBezTo>
                    <a:pt x="163" y="172"/>
                    <a:pt x="163" y="172"/>
                    <a:pt x="163" y="172"/>
                  </a:cubicBezTo>
                  <a:cubicBezTo>
                    <a:pt x="144" y="153"/>
                    <a:pt x="144" y="153"/>
                    <a:pt x="144" y="153"/>
                  </a:cubicBezTo>
                  <a:lnTo>
                    <a:pt x="152" y="144"/>
                  </a:lnTo>
                  <a:close/>
                  <a:moveTo>
                    <a:pt x="96" y="9"/>
                  </a:moveTo>
                  <a:cubicBezTo>
                    <a:pt x="107" y="9"/>
                    <a:pt x="107" y="9"/>
                    <a:pt x="107" y="9"/>
                  </a:cubicBezTo>
                  <a:cubicBezTo>
                    <a:pt x="107" y="36"/>
                    <a:pt x="107" y="36"/>
                    <a:pt x="107" y="36"/>
                  </a:cubicBezTo>
                  <a:cubicBezTo>
                    <a:pt x="96" y="36"/>
                    <a:pt x="96" y="36"/>
                    <a:pt x="96" y="36"/>
                  </a:cubicBezTo>
                  <a:lnTo>
                    <a:pt x="96" y="9"/>
                  </a:lnTo>
                  <a:close/>
                  <a:moveTo>
                    <a:pt x="85" y="78"/>
                  </a:moveTo>
                  <a:cubicBezTo>
                    <a:pt x="103" y="95"/>
                    <a:pt x="103" y="95"/>
                    <a:pt x="103" y="95"/>
                  </a:cubicBezTo>
                  <a:cubicBezTo>
                    <a:pt x="135" y="64"/>
                    <a:pt x="135" y="64"/>
                    <a:pt x="135" y="64"/>
                  </a:cubicBezTo>
                  <a:cubicBezTo>
                    <a:pt x="143" y="72"/>
                    <a:pt x="143" y="72"/>
                    <a:pt x="143" y="72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77" y="86"/>
                    <a:pt x="77" y="86"/>
                    <a:pt x="77" y="86"/>
                  </a:cubicBezTo>
                  <a:lnTo>
                    <a:pt x="85" y="78"/>
                  </a:lnTo>
                  <a:close/>
                  <a:moveTo>
                    <a:pt x="40" y="32"/>
                  </a:moveTo>
                  <a:cubicBezTo>
                    <a:pt x="59" y="51"/>
                    <a:pt x="59" y="51"/>
                    <a:pt x="59" y="51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32" y="40"/>
                    <a:pt x="32" y="40"/>
                    <a:pt x="32" y="40"/>
                  </a:cubicBezTo>
                  <a:lnTo>
                    <a:pt x="40" y="32"/>
                  </a:lnTo>
                  <a:close/>
                  <a:moveTo>
                    <a:pt x="36" y="108"/>
                  </a:moveTo>
                  <a:cubicBezTo>
                    <a:pt x="9" y="108"/>
                    <a:pt x="9" y="108"/>
                    <a:pt x="9" y="10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36" y="96"/>
                    <a:pt x="36" y="96"/>
                    <a:pt x="36" y="96"/>
                  </a:cubicBezTo>
                  <a:lnTo>
                    <a:pt x="36" y="10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453062" y="3330821"/>
            <a:ext cx="1447800" cy="1038225"/>
            <a:chOff x="5453062" y="3330821"/>
            <a:chExt cx="1447800" cy="1038225"/>
          </a:xfrm>
        </p:grpSpPr>
        <p:sp>
          <p:nvSpPr>
            <p:cNvPr id="25" name="Freeform 27"/>
            <p:cNvSpPr>
              <a:spLocks/>
            </p:cNvSpPr>
            <p:nvPr/>
          </p:nvSpPr>
          <p:spPr bwMode="auto">
            <a:xfrm>
              <a:off x="5453062" y="3330821"/>
              <a:ext cx="1447800" cy="1038225"/>
            </a:xfrm>
            <a:custGeom>
              <a:avLst/>
              <a:gdLst>
                <a:gd name="T0" fmla="*/ 221 w 443"/>
                <a:gd name="T1" fmla="*/ 0 h 318"/>
                <a:gd name="T2" fmla="*/ 115 w 443"/>
                <a:gd name="T3" fmla="*/ 44 h 318"/>
                <a:gd name="T4" fmla="*/ 0 w 443"/>
                <a:gd name="T5" fmla="*/ 159 h 318"/>
                <a:gd name="T6" fmla="*/ 115 w 443"/>
                <a:gd name="T7" fmla="*/ 274 h 318"/>
                <a:gd name="T8" fmla="*/ 221 w 443"/>
                <a:gd name="T9" fmla="*/ 318 h 318"/>
                <a:gd name="T10" fmla="*/ 328 w 443"/>
                <a:gd name="T11" fmla="*/ 274 h 318"/>
                <a:gd name="T12" fmla="*/ 443 w 443"/>
                <a:gd name="T13" fmla="*/ 159 h 318"/>
                <a:gd name="T14" fmla="*/ 328 w 443"/>
                <a:gd name="T15" fmla="*/ 44 h 318"/>
                <a:gd name="T16" fmla="*/ 221 w 443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3" h="318">
                  <a:moveTo>
                    <a:pt x="221" y="0"/>
                  </a:moveTo>
                  <a:cubicBezTo>
                    <a:pt x="183" y="0"/>
                    <a:pt x="144" y="14"/>
                    <a:pt x="115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5" y="274"/>
                    <a:pt x="115" y="274"/>
                    <a:pt x="115" y="274"/>
                  </a:cubicBezTo>
                  <a:cubicBezTo>
                    <a:pt x="144" y="304"/>
                    <a:pt x="183" y="318"/>
                    <a:pt x="221" y="318"/>
                  </a:cubicBezTo>
                  <a:cubicBezTo>
                    <a:pt x="260" y="318"/>
                    <a:pt x="299" y="304"/>
                    <a:pt x="328" y="274"/>
                  </a:cubicBezTo>
                  <a:cubicBezTo>
                    <a:pt x="443" y="159"/>
                    <a:pt x="443" y="159"/>
                    <a:pt x="443" y="159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299" y="14"/>
                    <a:pt x="260" y="0"/>
                    <a:pt x="221" y="0"/>
                  </a:cubicBezTo>
                </a:path>
              </a:pathLst>
            </a:custGeom>
            <a:solidFill>
              <a:srgbClr val="0099FF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5980112" y="3581281"/>
              <a:ext cx="393700" cy="465137"/>
              <a:chOff x="7019925" y="2197380"/>
              <a:chExt cx="393700" cy="465137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/>
              </p:cNvSpPr>
              <p:nvPr/>
            </p:nvSpPr>
            <p:spPr bwMode="auto">
              <a:xfrm>
                <a:off x="7019925" y="2306917"/>
                <a:ext cx="393700" cy="355600"/>
              </a:xfrm>
              <a:custGeom>
                <a:avLst/>
                <a:gdLst>
                  <a:gd name="T0" fmla="*/ 19 w 184"/>
                  <a:gd name="T1" fmla="*/ 16 h 166"/>
                  <a:gd name="T2" fmla="*/ 2 w 184"/>
                  <a:gd name="T3" fmla="*/ 50 h 166"/>
                  <a:gd name="T4" fmla="*/ 0 w 184"/>
                  <a:gd name="T5" fmla="*/ 60 h 166"/>
                  <a:gd name="T6" fmla="*/ 0 w 184"/>
                  <a:gd name="T7" fmla="*/ 61 h 166"/>
                  <a:gd name="T8" fmla="*/ 0 w 184"/>
                  <a:gd name="T9" fmla="*/ 71 h 166"/>
                  <a:gd name="T10" fmla="*/ 1 w 184"/>
                  <a:gd name="T11" fmla="*/ 77 h 166"/>
                  <a:gd name="T12" fmla="*/ 8 w 184"/>
                  <a:gd name="T13" fmla="*/ 107 h 166"/>
                  <a:gd name="T14" fmla="*/ 28 w 184"/>
                  <a:gd name="T15" fmla="*/ 144 h 166"/>
                  <a:gd name="T16" fmla="*/ 29 w 184"/>
                  <a:gd name="T17" fmla="*/ 145 h 166"/>
                  <a:gd name="T18" fmla="*/ 41 w 184"/>
                  <a:gd name="T19" fmla="*/ 158 h 166"/>
                  <a:gd name="T20" fmla="*/ 44 w 184"/>
                  <a:gd name="T21" fmla="*/ 161 h 166"/>
                  <a:gd name="T22" fmla="*/ 64 w 184"/>
                  <a:gd name="T23" fmla="*/ 163 h 166"/>
                  <a:gd name="T24" fmla="*/ 65 w 184"/>
                  <a:gd name="T25" fmla="*/ 163 h 166"/>
                  <a:gd name="T26" fmla="*/ 74 w 184"/>
                  <a:gd name="T27" fmla="*/ 160 h 166"/>
                  <a:gd name="T28" fmla="*/ 81 w 184"/>
                  <a:gd name="T29" fmla="*/ 158 h 166"/>
                  <a:gd name="T30" fmla="*/ 92 w 184"/>
                  <a:gd name="T31" fmla="*/ 156 h 166"/>
                  <a:gd name="T32" fmla="*/ 93 w 184"/>
                  <a:gd name="T33" fmla="*/ 156 h 166"/>
                  <a:gd name="T34" fmla="*/ 104 w 184"/>
                  <a:gd name="T35" fmla="*/ 158 h 166"/>
                  <a:gd name="T36" fmla="*/ 110 w 184"/>
                  <a:gd name="T37" fmla="*/ 160 h 166"/>
                  <a:gd name="T38" fmla="*/ 120 w 184"/>
                  <a:gd name="T39" fmla="*/ 163 h 166"/>
                  <a:gd name="T40" fmla="*/ 120 w 184"/>
                  <a:gd name="T41" fmla="*/ 163 h 166"/>
                  <a:gd name="T42" fmla="*/ 140 w 184"/>
                  <a:gd name="T43" fmla="*/ 161 h 166"/>
                  <a:gd name="T44" fmla="*/ 144 w 184"/>
                  <a:gd name="T45" fmla="*/ 158 h 166"/>
                  <a:gd name="T46" fmla="*/ 156 w 184"/>
                  <a:gd name="T47" fmla="*/ 145 h 166"/>
                  <a:gd name="T48" fmla="*/ 157 w 184"/>
                  <a:gd name="T49" fmla="*/ 144 h 166"/>
                  <a:gd name="T50" fmla="*/ 177 w 184"/>
                  <a:gd name="T51" fmla="*/ 107 h 166"/>
                  <a:gd name="T52" fmla="*/ 184 w 184"/>
                  <a:gd name="T53" fmla="*/ 77 h 166"/>
                  <a:gd name="T54" fmla="*/ 184 w 184"/>
                  <a:gd name="T55" fmla="*/ 71 h 166"/>
                  <a:gd name="T56" fmla="*/ 184 w 184"/>
                  <a:gd name="T57" fmla="*/ 61 h 166"/>
                  <a:gd name="T58" fmla="*/ 184 w 184"/>
                  <a:gd name="T59" fmla="*/ 60 h 166"/>
                  <a:gd name="T60" fmla="*/ 183 w 184"/>
                  <a:gd name="T61" fmla="*/ 50 h 166"/>
                  <a:gd name="T62" fmla="*/ 166 w 184"/>
                  <a:gd name="T63" fmla="*/ 16 h 166"/>
                  <a:gd name="T64" fmla="*/ 162 w 184"/>
                  <a:gd name="T65" fmla="*/ 13 h 166"/>
                  <a:gd name="T66" fmla="*/ 136 w 184"/>
                  <a:gd name="T67" fmla="*/ 1 h 166"/>
                  <a:gd name="T68" fmla="*/ 107 w 184"/>
                  <a:gd name="T69" fmla="*/ 5 h 166"/>
                  <a:gd name="T70" fmla="*/ 92 w 184"/>
                  <a:gd name="T71" fmla="*/ 10 h 166"/>
                  <a:gd name="T72" fmla="*/ 77 w 184"/>
                  <a:gd name="T73" fmla="*/ 5 h 166"/>
                  <a:gd name="T74" fmla="*/ 49 w 184"/>
                  <a:gd name="T75" fmla="*/ 1 h 166"/>
                  <a:gd name="T76" fmla="*/ 23 w 184"/>
                  <a:gd name="T77" fmla="*/ 13 h 166"/>
                  <a:gd name="T78" fmla="*/ 19 w 184"/>
                  <a:gd name="T79" fmla="*/ 1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84" h="166">
                    <a:moveTo>
                      <a:pt x="19" y="16"/>
                    </a:moveTo>
                    <a:cubicBezTo>
                      <a:pt x="9" y="25"/>
                      <a:pt x="4" y="37"/>
                      <a:pt x="2" y="50"/>
                    </a:cubicBezTo>
                    <a:cubicBezTo>
                      <a:pt x="1" y="53"/>
                      <a:pt x="1" y="57"/>
                      <a:pt x="0" y="60"/>
                    </a:cubicBezTo>
                    <a:cubicBezTo>
                      <a:pt x="0" y="60"/>
                      <a:pt x="0" y="61"/>
                      <a:pt x="0" y="6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3"/>
                      <a:pt x="1" y="75"/>
                      <a:pt x="1" y="77"/>
                    </a:cubicBezTo>
                    <a:cubicBezTo>
                      <a:pt x="2" y="88"/>
                      <a:pt x="4" y="98"/>
                      <a:pt x="8" y="107"/>
                    </a:cubicBezTo>
                    <a:cubicBezTo>
                      <a:pt x="13" y="121"/>
                      <a:pt x="19" y="133"/>
                      <a:pt x="28" y="144"/>
                    </a:cubicBezTo>
                    <a:cubicBezTo>
                      <a:pt x="28" y="144"/>
                      <a:pt x="28" y="145"/>
                      <a:pt x="29" y="145"/>
                    </a:cubicBezTo>
                    <a:cubicBezTo>
                      <a:pt x="32" y="150"/>
                      <a:pt x="36" y="155"/>
                      <a:pt x="41" y="158"/>
                    </a:cubicBezTo>
                    <a:cubicBezTo>
                      <a:pt x="42" y="159"/>
                      <a:pt x="43" y="160"/>
                      <a:pt x="44" y="161"/>
                    </a:cubicBezTo>
                    <a:cubicBezTo>
                      <a:pt x="50" y="165"/>
                      <a:pt x="57" y="166"/>
                      <a:pt x="64" y="163"/>
                    </a:cubicBezTo>
                    <a:cubicBezTo>
                      <a:pt x="65" y="163"/>
                      <a:pt x="65" y="163"/>
                      <a:pt x="65" y="163"/>
                    </a:cubicBezTo>
                    <a:cubicBezTo>
                      <a:pt x="68" y="162"/>
                      <a:pt x="71" y="161"/>
                      <a:pt x="74" y="160"/>
                    </a:cubicBezTo>
                    <a:cubicBezTo>
                      <a:pt x="76" y="159"/>
                      <a:pt x="78" y="158"/>
                      <a:pt x="81" y="158"/>
                    </a:cubicBezTo>
                    <a:cubicBezTo>
                      <a:pt x="84" y="157"/>
                      <a:pt x="92" y="156"/>
                      <a:pt x="92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7" y="156"/>
                      <a:pt x="100" y="157"/>
                      <a:pt x="104" y="158"/>
                    </a:cubicBezTo>
                    <a:cubicBezTo>
                      <a:pt x="106" y="158"/>
                      <a:pt x="108" y="159"/>
                      <a:pt x="110" y="160"/>
                    </a:cubicBezTo>
                    <a:cubicBezTo>
                      <a:pt x="113" y="161"/>
                      <a:pt x="117" y="162"/>
                      <a:pt x="120" y="163"/>
                    </a:cubicBezTo>
                    <a:cubicBezTo>
                      <a:pt x="120" y="163"/>
                      <a:pt x="120" y="163"/>
                      <a:pt x="120" y="163"/>
                    </a:cubicBezTo>
                    <a:cubicBezTo>
                      <a:pt x="127" y="166"/>
                      <a:pt x="134" y="165"/>
                      <a:pt x="140" y="161"/>
                    </a:cubicBezTo>
                    <a:cubicBezTo>
                      <a:pt x="142" y="160"/>
                      <a:pt x="143" y="159"/>
                      <a:pt x="144" y="158"/>
                    </a:cubicBezTo>
                    <a:cubicBezTo>
                      <a:pt x="149" y="155"/>
                      <a:pt x="152" y="150"/>
                      <a:pt x="156" y="145"/>
                    </a:cubicBezTo>
                    <a:cubicBezTo>
                      <a:pt x="156" y="145"/>
                      <a:pt x="157" y="144"/>
                      <a:pt x="157" y="144"/>
                    </a:cubicBezTo>
                    <a:cubicBezTo>
                      <a:pt x="165" y="133"/>
                      <a:pt x="172" y="121"/>
                      <a:pt x="177" y="107"/>
                    </a:cubicBezTo>
                    <a:cubicBezTo>
                      <a:pt x="180" y="98"/>
                      <a:pt x="183" y="88"/>
                      <a:pt x="184" y="77"/>
                    </a:cubicBezTo>
                    <a:cubicBezTo>
                      <a:pt x="184" y="75"/>
                      <a:pt x="184" y="73"/>
                      <a:pt x="184" y="71"/>
                    </a:cubicBezTo>
                    <a:cubicBezTo>
                      <a:pt x="184" y="61"/>
                      <a:pt x="184" y="61"/>
                      <a:pt x="184" y="61"/>
                    </a:cubicBezTo>
                    <a:cubicBezTo>
                      <a:pt x="184" y="61"/>
                      <a:pt x="184" y="60"/>
                      <a:pt x="184" y="60"/>
                    </a:cubicBezTo>
                    <a:cubicBezTo>
                      <a:pt x="184" y="57"/>
                      <a:pt x="184" y="53"/>
                      <a:pt x="183" y="50"/>
                    </a:cubicBezTo>
                    <a:cubicBezTo>
                      <a:pt x="181" y="37"/>
                      <a:pt x="175" y="25"/>
                      <a:pt x="166" y="16"/>
                    </a:cubicBezTo>
                    <a:cubicBezTo>
                      <a:pt x="164" y="15"/>
                      <a:pt x="163" y="14"/>
                      <a:pt x="162" y="13"/>
                    </a:cubicBezTo>
                    <a:cubicBezTo>
                      <a:pt x="154" y="6"/>
                      <a:pt x="145" y="3"/>
                      <a:pt x="136" y="1"/>
                    </a:cubicBezTo>
                    <a:cubicBezTo>
                      <a:pt x="126" y="0"/>
                      <a:pt x="116" y="2"/>
                      <a:pt x="107" y="5"/>
                    </a:cubicBezTo>
                    <a:cubicBezTo>
                      <a:pt x="102" y="7"/>
                      <a:pt x="92" y="10"/>
                      <a:pt x="92" y="10"/>
                    </a:cubicBezTo>
                    <a:cubicBezTo>
                      <a:pt x="92" y="10"/>
                      <a:pt x="82" y="7"/>
                      <a:pt x="77" y="5"/>
                    </a:cubicBezTo>
                    <a:cubicBezTo>
                      <a:pt x="68" y="2"/>
                      <a:pt x="59" y="0"/>
                      <a:pt x="49" y="1"/>
                    </a:cubicBezTo>
                    <a:cubicBezTo>
                      <a:pt x="39" y="3"/>
                      <a:pt x="30" y="6"/>
                      <a:pt x="23" y="13"/>
                    </a:cubicBezTo>
                    <a:cubicBezTo>
                      <a:pt x="22" y="14"/>
                      <a:pt x="20" y="15"/>
                      <a:pt x="19" y="1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7123113" y="2197380"/>
                <a:ext cx="96838" cy="107950"/>
              </a:xfrm>
              <a:custGeom>
                <a:avLst/>
                <a:gdLst>
                  <a:gd name="T0" fmla="*/ 14 w 45"/>
                  <a:gd name="T1" fmla="*/ 37 h 50"/>
                  <a:gd name="T2" fmla="*/ 32 w 45"/>
                  <a:gd name="T3" fmla="*/ 49 h 50"/>
                  <a:gd name="T4" fmla="*/ 43 w 45"/>
                  <a:gd name="T5" fmla="*/ 50 h 50"/>
                  <a:gd name="T6" fmla="*/ 44 w 45"/>
                  <a:gd name="T7" fmla="*/ 49 h 50"/>
                  <a:gd name="T8" fmla="*/ 35 w 45"/>
                  <a:gd name="T9" fmla="*/ 19 h 50"/>
                  <a:gd name="T10" fmla="*/ 4 w 45"/>
                  <a:gd name="T11" fmla="*/ 0 h 50"/>
                  <a:gd name="T12" fmla="*/ 2 w 45"/>
                  <a:gd name="T13" fmla="*/ 0 h 50"/>
                  <a:gd name="T14" fmla="*/ 1 w 45"/>
                  <a:gd name="T15" fmla="*/ 0 h 50"/>
                  <a:gd name="T16" fmla="*/ 1 w 45"/>
                  <a:gd name="T17" fmla="*/ 12 h 50"/>
                  <a:gd name="T18" fmla="*/ 14 w 45"/>
                  <a:gd name="T19" fmla="*/ 3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" h="50">
                    <a:moveTo>
                      <a:pt x="14" y="37"/>
                    </a:moveTo>
                    <a:cubicBezTo>
                      <a:pt x="19" y="42"/>
                      <a:pt x="25" y="47"/>
                      <a:pt x="32" y="49"/>
                    </a:cubicBezTo>
                    <a:cubicBezTo>
                      <a:pt x="36" y="50"/>
                      <a:pt x="39" y="50"/>
                      <a:pt x="43" y="50"/>
                    </a:cubicBezTo>
                    <a:cubicBezTo>
                      <a:pt x="44" y="50"/>
                      <a:pt x="44" y="49"/>
                      <a:pt x="44" y="49"/>
                    </a:cubicBezTo>
                    <a:cubicBezTo>
                      <a:pt x="45" y="38"/>
                      <a:pt x="41" y="28"/>
                      <a:pt x="35" y="19"/>
                    </a:cubicBezTo>
                    <a:cubicBezTo>
                      <a:pt x="27" y="9"/>
                      <a:pt x="17" y="3"/>
                      <a:pt x="4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4"/>
                      <a:pt x="1" y="8"/>
                      <a:pt x="1" y="12"/>
                    </a:cubicBezTo>
                    <a:cubicBezTo>
                      <a:pt x="3" y="22"/>
                      <a:pt x="8" y="30"/>
                      <a:pt x="14" y="3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9" name="Group 28"/>
          <p:cNvGrpSpPr/>
          <p:nvPr/>
        </p:nvGrpSpPr>
        <p:grpSpPr>
          <a:xfrm>
            <a:off x="2927350" y="2198934"/>
            <a:ext cx="1031875" cy="1020763"/>
            <a:chOff x="2927350" y="2198934"/>
            <a:chExt cx="1031875" cy="1020763"/>
          </a:xfrm>
        </p:grpSpPr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2927350" y="2198934"/>
              <a:ext cx="1031875" cy="1020763"/>
            </a:xfrm>
            <a:custGeom>
              <a:avLst/>
              <a:gdLst>
                <a:gd name="T0" fmla="*/ 162 w 316"/>
                <a:gd name="T1" fmla="*/ 0 h 312"/>
                <a:gd name="T2" fmla="*/ 0 w 316"/>
                <a:gd name="T3" fmla="*/ 0 h 312"/>
                <a:gd name="T4" fmla="*/ 0 w 316"/>
                <a:gd name="T5" fmla="*/ 164 h 312"/>
                <a:gd name="T6" fmla="*/ 150 w 316"/>
                <a:gd name="T7" fmla="*/ 312 h 312"/>
                <a:gd name="T8" fmla="*/ 316 w 316"/>
                <a:gd name="T9" fmla="*/ 312 h 312"/>
                <a:gd name="T10" fmla="*/ 316 w 316"/>
                <a:gd name="T11" fmla="*/ 152 h 312"/>
                <a:gd name="T12" fmla="*/ 162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>
                  <a:moveTo>
                    <a:pt x="16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247"/>
                    <a:pt x="67" y="312"/>
                    <a:pt x="150" y="312"/>
                  </a:cubicBezTo>
                  <a:cubicBezTo>
                    <a:pt x="316" y="312"/>
                    <a:pt x="316" y="312"/>
                    <a:pt x="316" y="312"/>
                  </a:cubicBezTo>
                  <a:cubicBezTo>
                    <a:pt x="316" y="152"/>
                    <a:pt x="316" y="152"/>
                    <a:pt x="316" y="152"/>
                  </a:cubicBezTo>
                  <a:cubicBezTo>
                    <a:pt x="316" y="68"/>
                    <a:pt x="245" y="0"/>
                    <a:pt x="162" y="0"/>
                  </a:cubicBezTo>
                </a:path>
              </a:pathLst>
            </a:custGeom>
            <a:solidFill>
              <a:srgbClr val="0099FF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3203717" y="2480715"/>
              <a:ext cx="454025" cy="457200"/>
              <a:chOff x="5456238" y="5539067"/>
              <a:chExt cx="454025" cy="457200"/>
            </a:xfrm>
            <a:solidFill>
              <a:schemeClr val="bg1"/>
            </a:solidFill>
          </p:grpSpPr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5646738" y="5545417"/>
                <a:ext cx="185738" cy="195263"/>
              </a:xfrm>
              <a:custGeom>
                <a:avLst/>
                <a:gdLst>
                  <a:gd name="T0" fmla="*/ 0 w 87"/>
                  <a:gd name="T1" fmla="*/ 73 h 91"/>
                  <a:gd name="T2" fmla="*/ 17 w 87"/>
                  <a:gd name="T3" fmla="*/ 91 h 91"/>
                  <a:gd name="T4" fmla="*/ 87 w 87"/>
                  <a:gd name="T5" fmla="*/ 24 h 91"/>
                  <a:gd name="T6" fmla="*/ 40 w 87"/>
                  <a:gd name="T7" fmla="*/ 0 h 91"/>
                  <a:gd name="T8" fmla="*/ 0 w 87"/>
                  <a:gd name="T9" fmla="*/ 73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91">
                    <a:moveTo>
                      <a:pt x="0" y="73"/>
                    </a:moveTo>
                    <a:cubicBezTo>
                      <a:pt x="17" y="91"/>
                      <a:pt x="17" y="91"/>
                      <a:pt x="17" y="91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73" y="12"/>
                      <a:pt x="57" y="4"/>
                      <a:pt x="40" y="0"/>
                    </a:cubicBezTo>
                    <a:cubicBezTo>
                      <a:pt x="34" y="26"/>
                      <a:pt x="20" y="52"/>
                      <a:pt x="0" y="7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5456238" y="5618442"/>
                <a:ext cx="136525" cy="152400"/>
              </a:xfrm>
              <a:custGeom>
                <a:avLst/>
                <a:gdLst>
                  <a:gd name="T0" fmla="*/ 1 w 64"/>
                  <a:gd name="T1" fmla="*/ 71 h 71"/>
                  <a:gd name="T2" fmla="*/ 64 w 64"/>
                  <a:gd name="T3" fmla="*/ 38 h 71"/>
                  <a:gd name="T4" fmla="*/ 27 w 64"/>
                  <a:gd name="T5" fmla="*/ 0 h 71"/>
                  <a:gd name="T6" fmla="*/ 1 w 64"/>
                  <a:gd name="T7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71">
                    <a:moveTo>
                      <a:pt x="1" y="71"/>
                    </a:moveTo>
                    <a:cubicBezTo>
                      <a:pt x="22" y="66"/>
                      <a:pt x="45" y="55"/>
                      <a:pt x="64" y="38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9" y="20"/>
                      <a:pt x="0" y="45"/>
                      <a:pt x="1" y="7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5461000" y="5727980"/>
                <a:ext cx="196850" cy="182563"/>
              </a:xfrm>
              <a:custGeom>
                <a:avLst/>
                <a:gdLst>
                  <a:gd name="T0" fmla="*/ 92 w 92"/>
                  <a:gd name="T1" fmla="*/ 18 h 85"/>
                  <a:gd name="T2" fmla="*/ 74 w 92"/>
                  <a:gd name="T3" fmla="*/ 0 h 85"/>
                  <a:gd name="T4" fmla="*/ 0 w 92"/>
                  <a:gd name="T5" fmla="*/ 37 h 85"/>
                  <a:gd name="T6" fmla="*/ 22 w 92"/>
                  <a:gd name="T7" fmla="*/ 85 h 85"/>
                  <a:gd name="T8" fmla="*/ 92 w 92"/>
                  <a:gd name="T9" fmla="*/ 18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85">
                    <a:moveTo>
                      <a:pt x="92" y="18"/>
                    </a:moveTo>
                    <a:cubicBezTo>
                      <a:pt x="74" y="0"/>
                      <a:pt x="74" y="0"/>
                      <a:pt x="74" y="0"/>
                    </a:cubicBezTo>
                    <a:cubicBezTo>
                      <a:pt x="52" y="19"/>
                      <a:pt x="26" y="32"/>
                      <a:pt x="0" y="37"/>
                    </a:cubicBezTo>
                    <a:cubicBezTo>
                      <a:pt x="3" y="54"/>
                      <a:pt x="11" y="71"/>
                      <a:pt x="22" y="85"/>
                    </a:cubicBezTo>
                    <a:lnTo>
                      <a:pt x="92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34"/>
              <p:cNvSpPr>
                <a:spLocks/>
              </p:cNvSpPr>
              <p:nvPr/>
            </p:nvSpPr>
            <p:spPr bwMode="auto">
              <a:xfrm>
                <a:off x="5667375" y="5856567"/>
                <a:ext cx="158750" cy="139700"/>
              </a:xfrm>
              <a:custGeom>
                <a:avLst/>
                <a:gdLst>
                  <a:gd name="T0" fmla="*/ 35 w 74"/>
                  <a:gd name="T1" fmla="*/ 0 h 65"/>
                  <a:gd name="T2" fmla="*/ 0 w 74"/>
                  <a:gd name="T3" fmla="*/ 64 h 65"/>
                  <a:gd name="T4" fmla="*/ 74 w 74"/>
                  <a:gd name="T5" fmla="*/ 40 h 65"/>
                  <a:gd name="T6" fmla="*/ 35 w 74"/>
                  <a:gd name="T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65">
                    <a:moveTo>
                      <a:pt x="35" y="0"/>
                    </a:moveTo>
                    <a:cubicBezTo>
                      <a:pt x="18" y="19"/>
                      <a:pt x="6" y="42"/>
                      <a:pt x="0" y="64"/>
                    </a:cubicBezTo>
                    <a:cubicBezTo>
                      <a:pt x="26" y="65"/>
                      <a:pt x="52" y="57"/>
                      <a:pt x="74" y="40"/>
                    </a:cubicBezTo>
                    <a:lnTo>
                      <a:pt x="3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35"/>
              <p:cNvSpPr>
                <a:spLocks/>
              </p:cNvSpPr>
              <p:nvPr/>
            </p:nvSpPr>
            <p:spPr bwMode="auto">
              <a:xfrm>
                <a:off x="5708650" y="5624792"/>
                <a:ext cx="196850" cy="180975"/>
              </a:xfrm>
              <a:custGeom>
                <a:avLst/>
                <a:gdLst>
                  <a:gd name="T0" fmla="*/ 70 w 92"/>
                  <a:gd name="T1" fmla="*/ 0 h 84"/>
                  <a:gd name="T2" fmla="*/ 0 w 92"/>
                  <a:gd name="T3" fmla="*/ 66 h 84"/>
                  <a:gd name="T4" fmla="*/ 17 w 92"/>
                  <a:gd name="T5" fmla="*/ 84 h 84"/>
                  <a:gd name="T6" fmla="*/ 92 w 92"/>
                  <a:gd name="T7" fmla="*/ 46 h 84"/>
                  <a:gd name="T8" fmla="*/ 70 w 92"/>
                  <a:gd name="T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84">
                    <a:moveTo>
                      <a:pt x="70" y="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17" y="84"/>
                      <a:pt x="17" y="84"/>
                      <a:pt x="17" y="84"/>
                    </a:cubicBezTo>
                    <a:cubicBezTo>
                      <a:pt x="39" y="64"/>
                      <a:pt x="66" y="51"/>
                      <a:pt x="92" y="46"/>
                    </a:cubicBezTo>
                    <a:cubicBezTo>
                      <a:pt x="88" y="30"/>
                      <a:pt x="81" y="14"/>
                      <a:pt x="7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36"/>
              <p:cNvSpPr>
                <a:spLocks/>
              </p:cNvSpPr>
              <p:nvPr/>
            </p:nvSpPr>
            <p:spPr bwMode="auto">
              <a:xfrm>
                <a:off x="5541963" y="5539067"/>
                <a:ext cx="153988" cy="134938"/>
              </a:xfrm>
              <a:custGeom>
                <a:avLst/>
                <a:gdLst>
                  <a:gd name="T0" fmla="*/ 0 w 72"/>
                  <a:gd name="T1" fmla="*/ 24 h 63"/>
                  <a:gd name="T2" fmla="*/ 37 w 72"/>
                  <a:gd name="T3" fmla="*/ 63 h 63"/>
                  <a:gd name="T4" fmla="*/ 72 w 72"/>
                  <a:gd name="T5" fmla="*/ 1 h 63"/>
                  <a:gd name="T6" fmla="*/ 0 w 72"/>
                  <a:gd name="T7" fmla="*/ 2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63">
                    <a:moveTo>
                      <a:pt x="0" y="24"/>
                    </a:moveTo>
                    <a:cubicBezTo>
                      <a:pt x="37" y="63"/>
                      <a:pt x="37" y="63"/>
                      <a:pt x="37" y="63"/>
                    </a:cubicBezTo>
                    <a:cubicBezTo>
                      <a:pt x="54" y="45"/>
                      <a:pt x="66" y="22"/>
                      <a:pt x="72" y="1"/>
                    </a:cubicBezTo>
                    <a:cubicBezTo>
                      <a:pt x="46" y="0"/>
                      <a:pt x="20" y="7"/>
                      <a:pt x="0" y="2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37"/>
              <p:cNvSpPr>
                <a:spLocks/>
              </p:cNvSpPr>
              <p:nvPr/>
            </p:nvSpPr>
            <p:spPr bwMode="auto">
              <a:xfrm>
                <a:off x="5532438" y="5794655"/>
                <a:ext cx="184150" cy="192088"/>
              </a:xfrm>
              <a:custGeom>
                <a:avLst/>
                <a:gdLst>
                  <a:gd name="T0" fmla="*/ 86 w 86"/>
                  <a:gd name="T1" fmla="*/ 17 h 90"/>
                  <a:gd name="T2" fmla="*/ 70 w 86"/>
                  <a:gd name="T3" fmla="*/ 0 h 90"/>
                  <a:gd name="T4" fmla="*/ 0 w 86"/>
                  <a:gd name="T5" fmla="*/ 66 h 90"/>
                  <a:gd name="T6" fmla="*/ 46 w 86"/>
                  <a:gd name="T7" fmla="*/ 90 h 90"/>
                  <a:gd name="T8" fmla="*/ 86 w 86"/>
                  <a:gd name="T9" fmla="*/ 1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90">
                    <a:moveTo>
                      <a:pt x="86" y="17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4" y="78"/>
                      <a:pt x="29" y="86"/>
                      <a:pt x="46" y="90"/>
                    </a:cubicBezTo>
                    <a:cubicBezTo>
                      <a:pt x="52" y="64"/>
                      <a:pt x="66" y="38"/>
                      <a:pt x="86" y="1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38"/>
              <p:cNvSpPr>
                <a:spLocks/>
              </p:cNvSpPr>
              <p:nvPr/>
            </p:nvSpPr>
            <p:spPr bwMode="auto">
              <a:xfrm>
                <a:off x="5770563" y="5762905"/>
                <a:ext cx="139700" cy="153988"/>
              </a:xfrm>
              <a:custGeom>
                <a:avLst/>
                <a:gdLst>
                  <a:gd name="T0" fmla="*/ 65 w 65"/>
                  <a:gd name="T1" fmla="*/ 0 h 72"/>
                  <a:gd name="T2" fmla="*/ 0 w 65"/>
                  <a:gd name="T3" fmla="*/ 32 h 72"/>
                  <a:gd name="T4" fmla="*/ 38 w 65"/>
                  <a:gd name="T5" fmla="*/ 72 h 72"/>
                  <a:gd name="T6" fmla="*/ 65 w 65"/>
                  <a:gd name="T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72">
                    <a:moveTo>
                      <a:pt x="65" y="0"/>
                    </a:moveTo>
                    <a:cubicBezTo>
                      <a:pt x="42" y="4"/>
                      <a:pt x="19" y="16"/>
                      <a:pt x="0" y="32"/>
                    </a:cubicBezTo>
                    <a:cubicBezTo>
                      <a:pt x="38" y="72"/>
                      <a:pt x="38" y="72"/>
                      <a:pt x="38" y="72"/>
                    </a:cubicBezTo>
                    <a:cubicBezTo>
                      <a:pt x="56" y="51"/>
                      <a:pt x="65" y="26"/>
                      <a:pt x="6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0" name="Group 39"/>
          <p:cNvGrpSpPr/>
          <p:nvPr/>
        </p:nvGrpSpPr>
        <p:grpSpPr>
          <a:xfrm>
            <a:off x="5187950" y="2198934"/>
            <a:ext cx="1019175" cy="1020763"/>
            <a:chOff x="5187950" y="2198934"/>
            <a:chExt cx="1019175" cy="1020763"/>
          </a:xfrm>
        </p:grpSpPr>
        <p:sp>
          <p:nvSpPr>
            <p:cNvPr id="41" name="Freeform 31"/>
            <p:cNvSpPr>
              <a:spLocks/>
            </p:cNvSpPr>
            <p:nvPr/>
          </p:nvSpPr>
          <p:spPr bwMode="auto">
            <a:xfrm>
              <a:off x="5187950" y="2198934"/>
              <a:ext cx="1019175" cy="1020763"/>
            </a:xfrm>
            <a:custGeom>
              <a:avLst/>
              <a:gdLst>
                <a:gd name="T0" fmla="*/ 312 w 312"/>
                <a:gd name="T1" fmla="*/ 0 h 312"/>
                <a:gd name="T2" fmla="*/ 153 w 312"/>
                <a:gd name="T3" fmla="*/ 0 h 312"/>
                <a:gd name="T4" fmla="*/ 0 w 312"/>
                <a:gd name="T5" fmla="*/ 152 h 312"/>
                <a:gd name="T6" fmla="*/ 0 w 312"/>
                <a:gd name="T7" fmla="*/ 312 h 312"/>
                <a:gd name="T8" fmla="*/ 165 w 312"/>
                <a:gd name="T9" fmla="*/ 312 h 312"/>
                <a:gd name="T10" fmla="*/ 312 w 312"/>
                <a:gd name="T11" fmla="*/ 164 h 312"/>
                <a:gd name="T12" fmla="*/ 312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>
                  <a:moveTo>
                    <a:pt x="312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69" y="0"/>
                    <a:pt x="0" y="68"/>
                    <a:pt x="0" y="152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5" y="312"/>
                    <a:pt x="165" y="312"/>
                    <a:pt x="165" y="312"/>
                  </a:cubicBezTo>
                  <a:cubicBezTo>
                    <a:pt x="248" y="312"/>
                    <a:pt x="312" y="247"/>
                    <a:pt x="312" y="164"/>
                  </a:cubicBezTo>
                  <a:cubicBezTo>
                    <a:pt x="312" y="0"/>
                    <a:pt x="312" y="0"/>
                    <a:pt x="312" y="0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453062" y="2516112"/>
              <a:ext cx="541338" cy="436563"/>
              <a:chOff x="6165850" y="5548592"/>
              <a:chExt cx="541338" cy="436563"/>
            </a:xfrm>
            <a:solidFill>
              <a:schemeClr val="bg1"/>
            </a:solidFill>
          </p:grpSpPr>
          <p:sp>
            <p:nvSpPr>
              <p:cNvPr id="43" name="Freeform 42"/>
              <p:cNvSpPr>
                <a:spLocks/>
              </p:cNvSpPr>
              <p:nvPr/>
            </p:nvSpPr>
            <p:spPr bwMode="auto">
              <a:xfrm>
                <a:off x="6165850" y="5651780"/>
                <a:ext cx="388938" cy="333375"/>
              </a:xfrm>
              <a:custGeom>
                <a:avLst/>
                <a:gdLst>
                  <a:gd name="T0" fmla="*/ 25 w 245"/>
                  <a:gd name="T1" fmla="*/ 210 h 210"/>
                  <a:gd name="T2" fmla="*/ 70 w 245"/>
                  <a:gd name="T3" fmla="*/ 164 h 210"/>
                  <a:gd name="T4" fmla="*/ 245 w 245"/>
                  <a:gd name="T5" fmla="*/ 164 h 210"/>
                  <a:gd name="T6" fmla="*/ 245 w 245"/>
                  <a:gd name="T7" fmla="*/ 114 h 210"/>
                  <a:gd name="T8" fmla="*/ 86 w 245"/>
                  <a:gd name="T9" fmla="*/ 114 h 210"/>
                  <a:gd name="T10" fmla="*/ 76 w 245"/>
                  <a:gd name="T11" fmla="*/ 114 h 210"/>
                  <a:gd name="T12" fmla="*/ 76 w 245"/>
                  <a:gd name="T13" fmla="*/ 106 h 210"/>
                  <a:gd name="T14" fmla="*/ 76 w 245"/>
                  <a:gd name="T15" fmla="*/ 0 h 210"/>
                  <a:gd name="T16" fmla="*/ 0 w 245"/>
                  <a:gd name="T17" fmla="*/ 0 h 210"/>
                  <a:gd name="T18" fmla="*/ 0 w 245"/>
                  <a:gd name="T19" fmla="*/ 164 h 210"/>
                  <a:gd name="T20" fmla="*/ 25 w 245"/>
                  <a:gd name="T21" fmla="*/ 164 h 210"/>
                  <a:gd name="T22" fmla="*/ 25 w 245"/>
                  <a:gd name="T2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0">
                    <a:moveTo>
                      <a:pt x="25" y="210"/>
                    </a:moveTo>
                    <a:lnTo>
                      <a:pt x="70" y="164"/>
                    </a:lnTo>
                    <a:lnTo>
                      <a:pt x="245" y="164"/>
                    </a:lnTo>
                    <a:lnTo>
                      <a:pt x="245" y="114"/>
                    </a:lnTo>
                    <a:lnTo>
                      <a:pt x="86" y="114"/>
                    </a:lnTo>
                    <a:lnTo>
                      <a:pt x="76" y="114"/>
                    </a:lnTo>
                    <a:lnTo>
                      <a:pt x="76" y="106"/>
                    </a:lnTo>
                    <a:lnTo>
                      <a:pt x="76" y="0"/>
                    </a:lnTo>
                    <a:lnTo>
                      <a:pt x="0" y="0"/>
                    </a:lnTo>
                    <a:lnTo>
                      <a:pt x="0" y="164"/>
                    </a:lnTo>
                    <a:lnTo>
                      <a:pt x="25" y="164"/>
                    </a:lnTo>
                    <a:lnTo>
                      <a:pt x="25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43"/>
              <p:cNvSpPr>
                <a:spLocks noEditPoints="1"/>
              </p:cNvSpPr>
              <p:nvPr/>
            </p:nvSpPr>
            <p:spPr bwMode="auto">
              <a:xfrm>
                <a:off x="6302375" y="5548592"/>
                <a:ext cx="404813" cy="349250"/>
              </a:xfrm>
              <a:custGeom>
                <a:avLst/>
                <a:gdLst>
                  <a:gd name="T0" fmla="*/ 136 w 189"/>
                  <a:gd name="T1" fmla="*/ 126 h 163"/>
                  <a:gd name="T2" fmla="*/ 168 w 189"/>
                  <a:gd name="T3" fmla="*/ 163 h 163"/>
                  <a:gd name="T4" fmla="*/ 168 w 189"/>
                  <a:gd name="T5" fmla="*/ 126 h 163"/>
                  <a:gd name="T6" fmla="*/ 189 w 189"/>
                  <a:gd name="T7" fmla="*/ 126 h 163"/>
                  <a:gd name="T8" fmla="*/ 189 w 189"/>
                  <a:gd name="T9" fmla="*/ 0 h 163"/>
                  <a:gd name="T10" fmla="*/ 0 w 189"/>
                  <a:gd name="T11" fmla="*/ 0 h 163"/>
                  <a:gd name="T12" fmla="*/ 0 w 189"/>
                  <a:gd name="T13" fmla="*/ 48 h 163"/>
                  <a:gd name="T14" fmla="*/ 0 w 189"/>
                  <a:gd name="T15" fmla="*/ 126 h 163"/>
                  <a:gd name="T16" fmla="*/ 118 w 189"/>
                  <a:gd name="T17" fmla="*/ 126 h 163"/>
                  <a:gd name="T18" fmla="*/ 136 w 189"/>
                  <a:gd name="T19" fmla="*/ 126 h 163"/>
                  <a:gd name="T20" fmla="*/ 158 w 189"/>
                  <a:gd name="T21" fmla="*/ 50 h 163"/>
                  <a:gd name="T22" fmla="*/ 172 w 189"/>
                  <a:gd name="T23" fmla="*/ 65 h 163"/>
                  <a:gd name="T24" fmla="*/ 158 w 189"/>
                  <a:gd name="T25" fmla="*/ 79 h 163"/>
                  <a:gd name="T26" fmla="*/ 143 w 189"/>
                  <a:gd name="T27" fmla="*/ 65 h 163"/>
                  <a:gd name="T28" fmla="*/ 158 w 189"/>
                  <a:gd name="T29" fmla="*/ 50 h 163"/>
                  <a:gd name="T30" fmla="*/ 37 w 189"/>
                  <a:gd name="T31" fmla="*/ 79 h 163"/>
                  <a:gd name="T32" fmla="*/ 23 w 189"/>
                  <a:gd name="T33" fmla="*/ 65 h 163"/>
                  <a:gd name="T34" fmla="*/ 37 w 189"/>
                  <a:gd name="T35" fmla="*/ 50 h 163"/>
                  <a:gd name="T36" fmla="*/ 51 w 189"/>
                  <a:gd name="T37" fmla="*/ 65 h 163"/>
                  <a:gd name="T38" fmla="*/ 37 w 189"/>
                  <a:gd name="T39" fmla="*/ 79 h 163"/>
                  <a:gd name="T40" fmla="*/ 77 w 189"/>
                  <a:gd name="T41" fmla="*/ 79 h 163"/>
                  <a:gd name="T42" fmla="*/ 63 w 189"/>
                  <a:gd name="T43" fmla="*/ 65 h 163"/>
                  <a:gd name="T44" fmla="*/ 77 w 189"/>
                  <a:gd name="T45" fmla="*/ 50 h 163"/>
                  <a:gd name="T46" fmla="*/ 92 w 189"/>
                  <a:gd name="T47" fmla="*/ 65 h 163"/>
                  <a:gd name="T48" fmla="*/ 77 w 189"/>
                  <a:gd name="T49" fmla="*/ 79 h 163"/>
                  <a:gd name="T50" fmla="*/ 117 w 189"/>
                  <a:gd name="T51" fmla="*/ 79 h 163"/>
                  <a:gd name="T52" fmla="*/ 103 w 189"/>
                  <a:gd name="T53" fmla="*/ 65 h 163"/>
                  <a:gd name="T54" fmla="*/ 117 w 189"/>
                  <a:gd name="T55" fmla="*/ 50 h 163"/>
                  <a:gd name="T56" fmla="*/ 118 w 189"/>
                  <a:gd name="T57" fmla="*/ 50 h 163"/>
                  <a:gd name="T58" fmla="*/ 132 w 189"/>
                  <a:gd name="T59" fmla="*/ 65 h 163"/>
                  <a:gd name="T60" fmla="*/ 118 w 189"/>
                  <a:gd name="T61" fmla="*/ 79 h 163"/>
                  <a:gd name="T62" fmla="*/ 117 w 189"/>
                  <a:gd name="T63" fmla="*/ 7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9" h="163">
                    <a:moveTo>
                      <a:pt x="136" y="126"/>
                    </a:moveTo>
                    <a:cubicBezTo>
                      <a:pt x="168" y="163"/>
                      <a:pt x="168" y="163"/>
                      <a:pt x="168" y="163"/>
                    </a:cubicBezTo>
                    <a:cubicBezTo>
                      <a:pt x="168" y="126"/>
                      <a:pt x="168" y="126"/>
                      <a:pt x="168" y="126"/>
                    </a:cubicBezTo>
                    <a:cubicBezTo>
                      <a:pt x="189" y="126"/>
                      <a:pt x="189" y="126"/>
                      <a:pt x="189" y="126"/>
                    </a:cubicBezTo>
                    <a:cubicBezTo>
                      <a:pt x="189" y="0"/>
                      <a:pt x="189" y="0"/>
                      <a:pt x="18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118" y="126"/>
                      <a:pt x="118" y="126"/>
                      <a:pt x="118" y="126"/>
                    </a:cubicBezTo>
                    <a:lnTo>
                      <a:pt x="136" y="126"/>
                    </a:lnTo>
                    <a:close/>
                    <a:moveTo>
                      <a:pt x="158" y="50"/>
                    </a:moveTo>
                    <a:cubicBezTo>
                      <a:pt x="166" y="50"/>
                      <a:pt x="172" y="57"/>
                      <a:pt x="172" y="65"/>
                    </a:cubicBezTo>
                    <a:cubicBezTo>
                      <a:pt x="172" y="73"/>
                      <a:pt x="166" y="79"/>
                      <a:pt x="158" y="79"/>
                    </a:cubicBezTo>
                    <a:cubicBezTo>
                      <a:pt x="150" y="79"/>
                      <a:pt x="143" y="73"/>
                      <a:pt x="143" y="65"/>
                    </a:cubicBezTo>
                    <a:cubicBezTo>
                      <a:pt x="143" y="57"/>
                      <a:pt x="150" y="50"/>
                      <a:pt x="158" y="50"/>
                    </a:cubicBezTo>
                    <a:moveTo>
                      <a:pt x="37" y="79"/>
                    </a:moveTo>
                    <a:cubicBezTo>
                      <a:pt x="29" y="79"/>
                      <a:pt x="23" y="73"/>
                      <a:pt x="23" y="65"/>
                    </a:cubicBezTo>
                    <a:cubicBezTo>
                      <a:pt x="23" y="57"/>
                      <a:pt x="29" y="50"/>
                      <a:pt x="37" y="50"/>
                    </a:cubicBezTo>
                    <a:cubicBezTo>
                      <a:pt x="45" y="50"/>
                      <a:pt x="51" y="57"/>
                      <a:pt x="51" y="65"/>
                    </a:cubicBezTo>
                    <a:cubicBezTo>
                      <a:pt x="51" y="73"/>
                      <a:pt x="45" y="79"/>
                      <a:pt x="37" y="79"/>
                    </a:cubicBezTo>
                    <a:moveTo>
                      <a:pt x="77" y="79"/>
                    </a:moveTo>
                    <a:cubicBezTo>
                      <a:pt x="69" y="79"/>
                      <a:pt x="63" y="73"/>
                      <a:pt x="63" y="65"/>
                    </a:cubicBezTo>
                    <a:cubicBezTo>
                      <a:pt x="63" y="57"/>
                      <a:pt x="69" y="50"/>
                      <a:pt x="77" y="50"/>
                    </a:cubicBezTo>
                    <a:cubicBezTo>
                      <a:pt x="85" y="50"/>
                      <a:pt x="92" y="57"/>
                      <a:pt x="92" y="65"/>
                    </a:cubicBezTo>
                    <a:cubicBezTo>
                      <a:pt x="92" y="73"/>
                      <a:pt x="85" y="79"/>
                      <a:pt x="77" y="79"/>
                    </a:cubicBezTo>
                    <a:moveTo>
                      <a:pt x="117" y="79"/>
                    </a:moveTo>
                    <a:cubicBezTo>
                      <a:pt x="110" y="79"/>
                      <a:pt x="103" y="73"/>
                      <a:pt x="103" y="65"/>
                    </a:cubicBezTo>
                    <a:cubicBezTo>
                      <a:pt x="103" y="57"/>
                      <a:pt x="110" y="50"/>
                      <a:pt x="117" y="50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26" y="51"/>
                      <a:pt x="132" y="57"/>
                      <a:pt x="132" y="65"/>
                    </a:cubicBezTo>
                    <a:cubicBezTo>
                      <a:pt x="132" y="72"/>
                      <a:pt x="126" y="78"/>
                      <a:pt x="118" y="79"/>
                    </a:cubicBezTo>
                    <a:cubicBezTo>
                      <a:pt x="118" y="79"/>
                      <a:pt x="118" y="79"/>
                      <a:pt x="117" y="7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5" name="Group 44"/>
          <p:cNvGrpSpPr/>
          <p:nvPr/>
        </p:nvGrpSpPr>
        <p:grpSpPr>
          <a:xfrm>
            <a:off x="4002087" y="1519484"/>
            <a:ext cx="1092200" cy="1450975"/>
            <a:chOff x="4002087" y="1519484"/>
            <a:chExt cx="1092200" cy="1450975"/>
          </a:xfrm>
        </p:grpSpPr>
        <p:sp>
          <p:nvSpPr>
            <p:cNvPr id="46" name="Freeform 26"/>
            <p:cNvSpPr>
              <a:spLocks/>
            </p:cNvSpPr>
            <p:nvPr/>
          </p:nvSpPr>
          <p:spPr bwMode="auto">
            <a:xfrm>
              <a:off x="4002087" y="1519484"/>
              <a:ext cx="1092200" cy="1450975"/>
            </a:xfrm>
            <a:custGeom>
              <a:avLst/>
              <a:gdLst>
                <a:gd name="T0" fmla="*/ 174 w 334"/>
                <a:gd name="T1" fmla="*/ 0 h 444"/>
                <a:gd name="T2" fmla="*/ 174 w 334"/>
                <a:gd name="T3" fmla="*/ 0 h 444"/>
                <a:gd name="T4" fmla="*/ 59 w 334"/>
                <a:gd name="T5" fmla="*/ 115 h 444"/>
                <a:gd name="T6" fmla="*/ 59 w 334"/>
                <a:gd name="T7" fmla="*/ 328 h 444"/>
                <a:gd name="T8" fmla="*/ 174 w 334"/>
                <a:gd name="T9" fmla="*/ 444 h 444"/>
                <a:gd name="T10" fmla="*/ 290 w 334"/>
                <a:gd name="T11" fmla="*/ 328 h 444"/>
                <a:gd name="T12" fmla="*/ 334 w 334"/>
                <a:gd name="T13" fmla="*/ 222 h 444"/>
                <a:gd name="T14" fmla="*/ 334 w 334"/>
                <a:gd name="T15" fmla="*/ 222 h 444"/>
                <a:gd name="T16" fmla="*/ 290 w 334"/>
                <a:gd name="T17" fmla="*/ 115 h 444"/>
                <a:gd name="T18" fmla="*/ 174 w 334"/>
                <a:gd name="T19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4" h="444">
                  <a:moveTo>
                    <a:pt x="174" y="0"/>
                  </a:moveTo>
                  <a:cubicBezTo>
                    <a:pt x="174" y="0"/>
                    <a:pt x="174" y="0"/>
                    <a:pt x="174" y="0"/>
                  </a:cubicBezTo>
                  <a:cubicBezTo>
                    <a:pt x="59" y="115"/>
                    <a:pt x="59" y="115"/>
                    <a:pt x="59" y="115"/>
                  </a:cubicBezTo>
                  <a:cubicBezTo>
                    <a:pt x="0" y="174"/>
                    <a:pt x="0" y="270"/>
                    <a:pt x="59" y="328"/>
                  </a:cubicBezTo>
                  <a:cubicBezTo>
                    <a:pt x="174" y="444"/>
                    <a:pt x="174" y="444"/>
                    <a:pt x="174" y="444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319" y="299"/>
                    <a:pt x="334" y="260"/>
                    <a:pt x="334" y="222"/>
                  </a:cubicBezTo>
                  <a:cubicBezTo>
                    <a:pt x="334" y="222"/>
                    <a:pt x="334" y="222"/>
                    <a:pt x="334" y="222"/>
                  </a:cubicBezTo>
                  <a:cubicBezTo>
                    <a:pt x="334" y="183"/>
                    <a:pt x="319" y="145"/>
                    <a:pt x="290" y="115"/>
                  </a:cubicBezTo>
                  <a:cubicBezTo>
                    <a:pt x="174" y="0"/>
                    <a:pt x="174" y="0"/>
                    <a:pt x="174" y="0"/>
                  </a:cubicBezTo>
                </a:path>
              </a:pathLst>
            </a:custGeom>
            <a:solidFill>
              <a:srgbClr val="CC33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4367211" y="2004717"/>
              <a:ext cx="411163" cy="520700"/>
              <a:chOff x="5476875" y="3005417"/>
              <a:chExt cx="411163" cy="520700"/>
            </a:xfrm>
            <a:solidFill>
              <a:schemeClr val="bg1"/>
            </a:solidFill>
          </p:grpSpPr>
          <p:sp>
            <p:nvSpPr>
              <p:cNvPr id="48" name="Freeform 47"/>
              <p:cNvSpPr>
                <a:spLocks/>
              </p:cNvSpPr>
              <p:nvPr/>
            </p:nvSpPr>
            <p:spPr bwMode="auto">
              <a:xfrm>
                <a:off x="5661025" y="3326092"/>
                <a:ext cx="42863" cy="200025"/>
              </a:xfrm>
              <a:custGeom>
                <a:avLst/>
                <a:gdLst>
                  <a:gd name="T0" fmla="*/ 20 w 20"/>
                  <a:gd name="T1" fmla="*/ 0 h 93"/>
                  <a:gd name="T2" fmla="*/ 10 w 20"/>
                  <a:gd name="T3" fmla="*/ 1 h 93"/>
                  <a:gd name="T4" fmla="*/ 0 w 20"/>
                  <a:gd name="T5" fmla="*/ 0 h 93"/>
                  <a:gd name="T6" fmla="*/ 0 w 20"/>
                  <a:gd name="T7" fmla="*/ 93 h 93"/>
                  <a:gd name="T8" fmla="*/ 20 w 20"/>
                  <a:gd name="T9" fmla="*/ 93 h 93"/>
                  <a:gd name="T10" fmla="*/ 20 w 20"/>
                  <a:gd name="T11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93">
                    <a:moveTo>
                      <a:pt x="20" y="0"/>
                    </a:moveTo>
                    <a:cubicBezTo>
                      <a:pt x="17" y="1"/>
                      <a:pt x="13" y="1"/>
                      <a:pt x="10" y="1"/>
                    </a:cubicBezTo>
                    <a:cubicBezTo>
                      <a:pt x="7" y="1"/>
                      <a:pt x="3" y="1"/>
                      <a:pt x="0" y="0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20" y="93"/>
                      <a:pt x="20" y="93"/>
                      <a:pt x="20" y="93"/>
                    </a:cubicBezTo>
                    <a:lnTo>
                      <a:pt x="2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48"/>
              <p:cNvSpPr>
                <a:spLocks/>
              </p:cNvSpPr>
              <p:nvPr/>
            </p:nvSpPr>
            <p:spPr bwMode="auto">
              <a:xfrm>
                <a:off x="5476875" y="3005417"/>
                <a:ext cx="411163" cy="307975"/>
              </a:xfrm>
              <a:custGeom>
                <a:avLst/>
                <a:gdLst>
                  <a:gd name="T0" fmla="*/ 86 w 192"/>
                  <a:gd name="T1" fmla="*/ 144 h 144"/>
                  <a:gd name="T2" fmla="*/ 96 w 192"/>
                  <a:gd name="T3" fmla="*/ 144 h 144"/>
                  <a:gd name="T4" fmla="*/ 106 w 192"/>
                  <a:gd name="T5" fmla="*/ 144 h 144"/>
                  <a:gd name="T6" fmla="*/ 192 w 192"/>
                  <a:gd name="T7" fmla="*/ 48 h 144"/>
                  <a:gd name="T8" fmla="*/ 179 w 192"/>
                  <a:gd name="T9" fmla="*/ 0 h 144"/>
                  <a:gd name="T10" fmla="*/ 138 w 192"/>
                  <a:gd name="T11" fmla="*/ 23 h 144"/>
                  <a:gd name="T12" fmla="*/ 96 w 192"/>
                  <a:gd name="T13" fmla="*/ 0 h 144"/>
                  <a:gd name="T14" fmla="*/ 54 w 192"/>
                  <a:gd name="T15" fmla="*/ 23 h 144"/>
                  <a:gd name="T16" fmla="*/ 13 w 192"/>
                  <a:gd name="T17" fmla="*/ 0 h 144"/>
                  <a:gd name="T18" fmla="*/ 0 w 192"/>
                  <a:gd name="T19" fmla="*/ 48 h 144"/>
                  <a:gd name="T20" fmla="*/ 86 w 192"/>
                  <a:gd name="T2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2" h="144">
                    <a:moveTo>
                      <a:pt x="86" y="144"/>
                    </a:moveTo>
                    <a:cubicBezTo>
                      <a:pt x="89" y="144"/>
                      <a:pt x="93" y="144"/>
                      <a:pt x="96" y="144"/>
                    </a:cubicBezTo>
                    <a:cubicBezTo>
                      <a:pt x="99" y="144"/>
                      <a:pt x="103" y="144"/>
                      <a:pt x="106" y="144"/>
                    </a:cubicBezTo>
                    <a:cubicBezTo>
                      <a:pt x="154" y="138"/>
                      <a:pt x="192" y="97"/>
                      <a:pt x="192" y="48"/>
                    </a:cubicBezTo>
                    <a:cubicBezTo>
                      <a:pt x="192" y="31"/>
                      <a:pt x="187" y="14"/>
                      <a:pt x="179" y="0"/>
                    </a:cubicBezTo>
                    <a:cubicBezTo>
                      <a:pt x="138" y="23"/>
                      <a:pt x="138" y="23"/>
                      <a:pt x="138" y="23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5" y="14"/>
                      <a:pt x="0" y="31"/>
                      <a:pt x="0" y="48"/>
                    </a:cubicBezTo>
                    <a:cubicBezTo>
                      <a:pt x="0" y="97"/>
                      <a:pt x="38" y="138"/>
                      <a:pt x="86" y="14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5719763" y="3318155"/>
                <a:ext cx="134938" cy="134938"/>
              </a:xfrm>
              <a:custGeom>
                <a:avLst/>
                <a:gdLst>
                  <a:gd name="T0" fmla="*/ 16 w 63"/>
                  <a:gd name="T1" fmla="*/ 17 h 63"/>
                  <a:gd name="T2" fmla="*/ 2 w 63"/>
                  <a:gd name="T3" fmla="*/ 61 h 63"/>
                  <a:gd name="T4" fmla="*/ 46 w 63"/>
                  <a:gd name="T5" fmla="*/ 47 h 63"/>
                  <a:gd name="T6" fmla="*/ 60 w 63"/>
                  <a:gd name="T7" fmla="*/ 3 h 63"/>
                  <a:gd name="T8" fmla="*/ 16 w 63"/>
                  <a:gd name="T9" fmla="*/ 1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63">
                    <a:moveTo>
                      <a:pt x="16" y="17"/>
                    </a:moveTo>
                    <a:cubicBezTo>
                      <a:pt x="4" y="29"/>
                      <a:pt x="0" y="45"/>
                      <a:pt x="2" y="61"/>
                    </a:cubicBezTo>
                    <a:cubicBezTo>
                      <a:pt x="18" y="63"/>
                      <a:pt x="34" y="59"/>
                      <a:pt x="46" y="47"/>
                    </a:cubicBezTo>
                    <a:cubicBezTo>
                      <a:pt x="58" y="35"/>
                      <a:pt x="63" y="18"/>
                      <a:pt x="60" y="3"/>
                    </a:cubicBezTo>
                    <a:cubicBezTo>
                      <a:pt x="45" y="0"/>
                      <a:pt x="28" y="5"/>
                      <a:pt x="16" y="1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1" name="Group 50"/>
          <p:cNvGrpSpPr/>
          <p:nvPr/>
        </p:nvGrpSpPr>
        <p:grpSpPr>
          <a:xfrm>
            <a:off x="2927350" y="4473821"/>
            <a:ext cx="1031875" cy="1020763"/>
            <a:chOff x="2927350" y="4473821"/>
            <a:chExt cx="1031875" cy="1020763"/>
          </a:xfrm>
        </p:grpSpPr>
        <p:sp>
          <p:nvSpPr>
            <p:cNvPr id="52" name="Freeform 32"/>
            <p:cNvSpPr>
              <a:spLocks/>
            </p:cNvSpPr>
            <p:nvPr/>
          </p:nvSpPr>
          <p:spPr bwMode="auto">
            <a:xfrm>
              <a:off x="2927350" y="4473821"/>
              <a:ext cx="1031875" cy="1020763"/>
            </a:xfrm>
            <a:custGeom>
              <a:avLst/>
              <a:gdLst>
                <a:gd name="T0" fmla="*/ 316 w 316"/>
                <a:gd name="T1" fmla="*/ 0 h 312"/>
                <a:gd name="T2" fmla="*/ 150 w 316"/>
                <a:gd name="T3" fmla="*/ 0 h 312"/>
                <a:gd name="T4" fmla="*/ 0 w 316"/>
                <a:gd name="T5" fmla="*/ 150 h 312"/>
                <a:gd name="T6" fmla="*/ 0 w 316"/>
                <a:gd name="T7" fmla="*/ 312 h 312"/>
                <a:gd name="T8" fmla="*/ 162 w 316"/>
                <a:gd name="T9" fmla="*/ 312 h 312"/>
                <a:gd name="T10" fmla="*/ 316 w 316"/>
                <a:gd name="T11" fmla="*/ 162 h 312"/>
                <a:gd name="T12" fmla="*/ 316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>
                  <a:moveTo>
                    <a:pt x="316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67" y="0"/>
                    <a:pt x="0" y="67"/>
                    <a:pt x="0" y="150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245" y="312"/>
                    <a:pt x="316" y="246"/>
                    <a:pt x="316" y="162"/>
                  </a:cubicBezTo>
                  <a:cubicBezTo>
                    <a:pt x="316" y="0"/>
                    <a:pt x="316" y="0"/>
                    <a:pt x="316" y="0"/>
                  </a:cubicBezTo>
                </a:path>
              </a:pathLst>
            </a:custGeom>
            <a:solidFill>
              <a:srgbClr val="CC33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3163235" y="4793887"/>
              <a:ext cx="503238" cy="398463"/>
              <a:chOff x="6965950" y="4719917"/>
              <a:chExt cx="503238" cy="398463"/>
            </a:xfrm>
            <a:solidFill>
              <a:schemeClr val="bg1"/>
            </a:solidFill>
          </p:grpSpPr>
          <p:sp>
            <p:nvSpPr>
              <p:cNvPr id="54" name="Freeform 53"/>
              <p:cNvSpPr>
                <a:spLocks/>
              </p:cNvSpPr>
              <p:nvPr/>
            </p:nvSpPr>
            <p:spPr bwMode="auto">
              <a:xfrm>
                <a:off x="7015163" y="4918355"/>
                <a:ext cx="404813" cy="200025"/>
              </a:xfrm>
              <a:custGeom>
                <a:avLst/>
                <a:gdLst>
                  <a:gd name="T0" fmla="*/ 125 w 189"/>
                  <a:gd name="T1" fmla="*/ 0 h 93"/>
                  <a:gd name="T2" fmla="*/ 118 w 189"/>
                  <a:gd name="T3" fmla="*/ 3 h 93"/>
                  <a:gd name="T4" fmla="*/ 71 w 189"/>
                  <a:gd name="T5" fmla="*/ 3 h 93"/>
                  <a:gd name="T6" fmla="*/ 65 w 189"/>
                  <a:gd name="T7" fmla="*/ 1 h 93"/>
                  <a:gd name="T8" fmla="*/ 0 w 189"/>
                  <a:gd name="T9" fmla="*/ 59 h 93"/>
                  <a:gd name="T10" fmla="*/ 31 w 189"/>
                  <a:gd name="T11" fmla="*/ 59 h 93"/>
                  <a:gd name="T12" fmla="*/ 31 w 189"/>
                  <a:gd name="T13" fmla="*/ 93 h 93"/>
                  <a:gd name="T14" fmla="*/ 95 w 189"/>
                  <a:gd name="T15" fmla="*/ 24 h 93"/>
                  <a:gd name="T16" fmla="*/ 159 w 189"/>
                  <a:gd name="T17" fmla="*/ 93 h 93"/>
                  <a:gd name="T18" fmla="*/ 159 w 189"/>
                  <a:gd name="T19" fmla="*/ 59 h 93"/>
                  <a:gd name="T20" fmla="*/ 189 w 189"/>
                  <a:gd name="T21" fmla="*/ 59 h 93"/>
                  <a:gd name="T22" fmla="*/ 125 w 189"/>
                  <a:gd name="T2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9" h="93">
                    <a:moveTo>
                      <a:pt x="125" y="0"/>
                    </a:moveTo>
                    <a:cubicBezTo>
                      <a:pt x="123" y="2"/>
                      <a:pt x="121" y="3"/>
                      <a:pt x="118" y="3"/>
                    </a:cubicBezTo>
                    <a:cubicBezTo>
                      <a:pt x="71" y="3"/>
                      <a:pt x="71" y="3"/>
                      <a:pt x="71" y="3"/>
                    </a:cubicBezTo>
                    <a:cubicBezTo>
                      <a:pt x="68" y="3"/>
                      <a:pt x="66" y="2"/>
                      <a:pt x="65" y="1"/>
                    </a:cubicBezTo>
                    <a:cubicBezTo>
                      <a:pt x="50" y="23"/>
                      <a:pt x="0" y="59"/>
                      <a:pt x="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93"/>
                      <a:pt x="31" y="93"/>
                      <a:pt x="31" y="93"/>
                    </a:cubicBezTo>
                    <a:cubicBezTo>
                      <a:pt x="69" y="75"/>
                      <a:pt x="87" y="46"/>
                      <a:pt x="95" y="24"/>
                    </a:cubicBezTo>
                    <a:cubicBezTo>
                      <a:pt x="103" y="46"/>
                      <a:pt x="120" y="75"/>
                      <a:pt x="159" y="93"/>
                    </a:cubicBezTo>
                    <a:cubicBezTo>
                      <a:pt x="159" y="59"/>
                      <a:pt x="159" y="59"/>
                      <a:pt x="159" y="59"/>
                    </a:cubicBezTo>
                    <a:cubicBezTo>
                      <a:pt x="189" y="59"/>
                      <a:pt x="189" y="59"/>
                      <a:pt x="189" y="59"/>
                    </a:cubicBezTo>
                    <a:cubicBezTo>
                      <a:pt x="189" y="59"/>
                      <a:pt x="139" y="23"/>
                      <a:pt x="12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54"/>
              <p:cNvSpPr>
                <a:spLocks noEditPoints="1"/>
              </p:cNvSpPr>
              <p:nvPr/>
            </p:nvSpPr>
            <p:spPr bwMode="auto">
              <a:xfrm>
                <a:off x="6965950" y="4719917"/>
                <a:ext cx="182563" cy="223838"/>
              </a:xfrm>
              <a:custGeom>
                <a:avLst/>
                <a:gdLst>
                  <a:gd name="T0" fmla="*/ 4 w 85"/>
                  <a:gd name="T1" fmla="*/ 93 h 105"/>
                  <a:gd name="T2" fmla="*/ 25 w 85"/>
                  <a:gd name="T3" fmla="*/ 98 h 105"/>
                  <a:gd name="T4" fmla="*/ 85 w 85"/>
                  <a:gd name="T5" fmla="*/ 84 h 105"/>
                  <a:gd name="T6" fmla="*/ 85 w 85"/>
                  <a:gd name="T7" fmla="*/ 47 h 105"/>
                  <a:gd name="T8" fmla="*/ 0 w 85"/>
                  <a:gd name="T9" fmla="*/ 30 h 105"/>
                  <a:gd name="T10" fmla="*/ 0 w 85"/>
                  <a:gd name="T11" fmla="*/ 84 h 105"/>
                  <a:gd name="T12" fmla="*/ 4 w 85"/>
                  <a:gd name="T13" fmla="*/ 93 h 105"/>
                  <a:gd name="T14" fmla="*/ 6 w 85"/>
                  <a:gd name="T15" fmla="*/ 80 h 105"/>
                  <a:gd name="T16" fmla="*/ 77 w 85"/>
                  <a:gd name="T17" fmla="*/ 79 h 105"/>
                  <a:gd name="T18" fmla="*/ 6 w 85"/>
                  <a:gd name="T19" fmla="*/ 8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" h="105">
                    <a:moveTo>
                      <a:pt x="4" y="93"/>
                    </a:moveTo>
                    <a:cubicBezTo>
                      <a:pt x="8" y="96"/>
                      <a:pt x="15" y="98"/>
                      <a:pt x="25" y="98"/>
                    </a:cubicBezTo>
                    <a:cubicBezTo>
                      <a:pt x="39" y="98"/>
                      <a:pt x="59" y="92"/>
                      <a:pt x="85" y="84"/>
                    </a:cubicBezTo>
                    <a:cubicBezTo>
                      <a:pt x="85" y="47"/>
                      <a:pt x="85" y="47"/>
                      <a:pt x="85" y="47"/>
                    </a:cubicBezTo>
                    <a:cubicBezTo>
                      <a:pt x="79" y="40"/>
                      <a:pt x="40" y="0"/>
                      <a:pt x="0" y="30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5"/>
                      <a:pt x="0" y="89"/>
                      <a:pt x="4" y="93"/>
                    </a:cubicBezTo>
                    <a:moveTo>
                      <a:pt x="6" y="80"/>
                    </a:moveTo>
                    <a:cubicBezTo>
                      <a:pt x="16" y="73"/>
                      <a:pt x="39" y="63"/>
                      <a:pt x="77" y="79"/>
                    </a:cubicBezTo>
                    <a:cubicBezTo>
                      <a:pt x="8" y="105"/>
                      <a:pt x="6" y="85"/>
                      <a:pt x="6" y="8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55"/>
              <p:cNvSpPr>
                <a:spLocks noEditPoints="1"/>
              </p:cNvSpPr>
              <p:nvPr/>
            </p:nvSpPr>
            <p:spPr bwMode="auto">
              <a:xfrm>
                <a:off x="7288213" y="4721505"/>
                <a:ext cx="180975" cy="222250"/>
              </a:xfrm>
              <a:custGeom>
                <a:avLst/>
                <a:gdLst>
                  <a:gd name="T0" fmla="*/ 84 w 85"/>
                  <a:gd name="T1" fmla="*/ 29 h 104"/>
                  <a:gd name="T2" fmla="*/ 0 w 85"/>
                  <a:gd name="T3" fmla="*/ 45 h 104"/>
                  <a:gd name="T4" fmla="*/ 0 w 85"/>
                  <a:gd name="T5" fmla="*/ 83 h 104"/>
                  <a:gd name="T6" fmla="*/ 60 w 85"/>
                  <a:gd name="T7" fmla="*/ 97 h 104"/>
                  <a:gd name="T8" fmla="*/ 80 w 85"/>
                  <a:gd name="T9" fmla="*/ 92 h 104"/>
                  <a:gd name="T10" fmla="*/ 84 w 85"/>
                  <a:gd name="T11" fmla="*/ 83 h 104"/>
                  <a:gd name="T12" fmla="*/ 84 w 85"/>
                  <a:gd name="T13" fmla="*/ 29 h 104"/>
                  <a:gd name="T14" fmla="*/ 7 w 85"/>
                  <a:gd name="T15" fmla="*/ 78 h 104"/>
                  <a:gd name="T16" fmla="*/ 78 w 85"/>
                  <a:gd name="T17" fmla="*/ 79 h 104"/>
                  <a:gd name="T18" fmla="*/ 7 w 85"/>
                  <a:gd name="T19" fmla="*/ 7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" h="104">
                    <a:moveTo>
                      <a:pt x="84" y="29"/>
                    </a:moveTo>
                    <a:cubicBezTo>
                      <a:pt x="46" y="0"/>
                      <a:pt x="9" y="36"/>
                      <a:pt x="0" y="45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26" y="91"/>
                      <a:pt x="46" y="97"/>
                      <a:pt x="60" y="97"/>
                    </a:cubicBezTo>
                    <a:cubicBezTo>
                      <a:pt x="69" y="97"/>
                      <a:pt x="76" y="95"/>
                      <a:pt x="80" y="92"/>
                    </a:cubicBezTo>
                    <a:cubicBezTo>
                      <a:pt x="85" y="88"/>
                      <a:pt x="84" y="84"/>
                      <a:pt x="84" y="83"/>
                    </a:cubicBezTo>
                    <a:lnTo>
                      <a:pt x="84" y="29"/>
                    </a:lnTo>
                    <a:close/>
                    <a:moveTo>
                      <a:pt x="7" y="78"/>
                    </a:moveTo>
                    <a:cubicBezTo>
                      <a:pt x="45" y="62"/>
                      <a:pt x="68" y="72"/>
                      <a:pt x="78" y="79"/>
                    </a:cubicBezTo>
                    <a:cubicBezTo>
                      <a:pt x="79" y="84"/>
                      <a:pt x="77" y="104"/>
                      <a:pt x="7" y="7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56"/>
              <p:cNvSpPr>
                <a:spLocks/>
              </p:cNvSpPr>
              <p:nvPr/>
            </p:nvSpPr>
            <p:spPr bwMode="auto">
              <a:xfrm>
                <a:off x="7161213" y="4800880"/>
                <a:ext cx="114300" cy="111125"/>
              </a:xfrm>
              <a:custGeom>
                <a:avLst/>
                <a:gdLst>
                  <a:gd name="T0" fmla="*/ 50 w 53"/>
                  <a:gd name="T1" fmla="*/ 52 h 52"/>
                  <a:gd name="T2" fmla="*/ 53 w 53"/>
                  <a:gd name="T3" fmla="*/ 50 h 52"/>
                  <a:gd name="T4" fmla="*/ 53 w 53"/>
                  <a:gd name="T5" fmla="*/ 46 h 52"/>
                  <a:gd name="T6" fmla="*/ 53 w 53"/>
                  <a:gd name="T7" fmla="*/ 2 h 52"/>
                  <a:gd name="T8" fmla="*/ 50 w 53"/>
                  <a:gd name="T9" fmla="*/ 0 h 52"/>
                  <a:gd name="T10" fmla="*/ 3 w 53"/>
                  <a:gd name="T11" fmla="*/ 0 h 52"/>
                  <a:gd name="T12" fmla="*/ 0 w 53"/>
                  <a:gd name="T13" fmla="*/ 2 h 52"/>
                  <a:gd name="T14" fmla="*/ 0 w 53"/>
                  <a:gd name="T15" fmla="*/ 48 h 52"/>
                  <a:gd name="T16" fmla="*/ 0 w 53"/>
                  <a:gd name="T17" fmla="*/ 50 h 52"/>
                  <a:gd name="T18" fmla="*/ 3 w 53"/>
                  <a:gd name="T19" fmla="*/ 52 h 52"/>
                  <a:gd name="T20" fmla="*/ 50 w 53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52">
                    <a:moveTo>
                      <a:pt x="50" y="52"/>
                    </a:moveTo>
                    <a:cubicBezTo>
                      <a:pt x="52" y="52"/>
                      <a:pt x="53" y="51"/>
                      <a:pt x="53" y="50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1"/>
                      <a:pt x="2" y="52"/>
                      <a:pt x="3" y="52"/>
                    </a:cubicBezTo>
                    <a:lnTo>
                      <a:pt x="50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8" name="Group 57"/>
          <p:cNvGrpSpPr/>
          <p:nvPr/>
        </p:nvGrpSpPr>
        <p:grpSpPr>
          <a:xfrm>
            <a:off x="2241550" y="3330821"/>
            <a:ext cx="1450975" cy="1038225"/>
            <a:chOff x="2241550" y="3330821"/>
            <a:chExt cx="1450975" cy="1038225"/>
          </a:xfrm>
        </p:grpSpPr>
        <p:sp>
          <p:nvSpPr>
            <p:cNvPr id="59" name="Freeform 28"/>
            <p:cNvSpPr>
              <a:spLocks/>
            </p:cNvSpPr>
            <p:nvPr/>
          </p:nvSpPr>
          <p:spPr bwMode="auto">
            <a:xfrm>
              <a:off x="2241550" y="3330821"/>
              <a:ext cx="1450975" cy="1038225"/>
            </a:xfrm>
            <a:custGeom>
              <a:avLst/>
              <a:gdLst>
                <a:gd name="T0" fmla="*/ 222 w 444"/>
                <a:gd name="T1" fmla="*/ 0 h 318"/>
                <a:gd name="T2" fmla="*/ 116 w 444"/>
                <a:gd name="T3" fmla="*/ 44 h 318"/>
                <a:gd name="T4" fmla="*/ 0 w 444"/>
                <a:gd name="T5" fmla="*/ 159 h 318"/>
                <a:gd name="T6" fmla="*/ 116 w 444"/>
                <a:gd name="T7" fmla="*/ 274 h 318"/>
                <a:gd name="T8" fmla="*/ 222 w 444"/>
                <a:gd name="T9" fmla="*/ 318 h 318"/>
                <a:gd name="T10" fmla="*/ 329 w 444"/>
                <a:gd name="T11" fmla="*/ 274 h 318"/>
                <a:gd name="T12" fmla="*/ 444 w 444"/>
                <a:gd name="T13" fmla="*/ 159 h 318"/>
                <a:gd name="T14" fmla="*/ 329 w 444"/>
                <a:gd name="T15" fmla="*/ 44 h 318"/>
                <a:gd name="T16" fmla="*/ 222 w 444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4" h="318">
                  <a:moveTo>
                    <a:pt x="222" y="0"/>
                  </a:moveTo>
                  <a:cubicBezTo>
                    <a:pt x="184" y="0"/>
                    <a:pt x="145" y="14"/>
                    <a:pt x="116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6" y="274"/>
                    <a:pt x="116" y="274"/>
                    <a:pt x="116" y="274"/>
                  </a:cubicBezTo>
                  <a:cubicBezTo>
                    <a:pt x="145" y="304"/>
                    <a:pt x="184" y="318"/>
                    <a:pt x="222" y="318"/>
                  </a:cubicBezTo>
                  <a:cubicBezTo>
                    <a:pt x="261" y="318"/>
                    <a:pt x="299" y="304"/>
                    <a:pt x="329" y="274"/>
                  </a:cubicBezTo>
                  <a:cubicBezTo>
                    <a:pt x="444" y="159"/>
                    <a:pt x="444" y="159"/>
                    <a:pt x="444" y="159"/>
                  </a:cubicBezTo>
                  <a:cubicBezTo>
                    <a:pt x="329" y="44"/>
                    <a:pt x="329" y="44"/>
                    <a:pt x="329" y="44"/>
                  </a:cubicBezTo>
                  <a:cubicBezTo>
                    <a:pt x="299" y="14"/>
                    <a:pt x="261" y="0"/>
                    <a:pt x="222" y="0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2767805" y="3618345"/>
              <a:ext cx="398463" cy="515938"/>
              <a:chOff x="7018338" y="3832505"/>
              <a:chExt cx="398463" cy="515938"/>
            </a:xfrm>
            <a:solidFill>
              <a:schemeClr val="bg1"/>
            </a:solidFill>
          </p:grpSpPr>
          <p:sp>
            <p:nvSpPr>
              <p:cNvPr id="61" name="Freeform 60"/>
              <p:cNvSpPr>
                <a:spLocks/>
              </p:cNvSpPr>
              <p:nvPr/>
            </p:nvSpPr>
            <p:spPr bwMode="auto">
              <a:xfrm>
                <a:off x="7205663" y="3832505"/>
                <a:ext cx="42863" cy="26988"/>
              </a:xfrm>
              <a:custGeom>
                <a:avLst/>
                <a:gdLst>
                  <a:gd name="T0" fmla="*/ 5 w 20"/>
                  <a:gd name="T1" fmla="*/ 12 h 13"/>
                  <a:gd name="T2" fmla="*/ 5 w 20"/>
                  <a:gd name="T3" fmla="*/ 12 h 13"/>
                  <a:gd name="T4" fmla="*/ 5 w 20"/>
                  <a:gd name="T5" fmla="*/ 12 h 13"/>
                  <a:gd name="T6" fmla="*/ 20 w 20"/>
                  <a:gd name="T7" fmla="*/ 13 h 13"/>
                  <a:gd name="T8" fmla="*/ 20 w 20"/>
                  <a:gd name="T9" fmla="*/ 0 h 13"/>
                  <a:gd name="T10" fmla="*/ 0 w 20"/>
                  <a:gd name="T11" fmla="*/ 0 h 13"/>
                  <a:gd name="T12" fmla="*/ 0 w 20"/>
                  <a:gd name="T13" fmla="*/ 12 h 13"/>
                  <a:gd name="T14" fmla="*/ 5 w 20"/>
                  <a:gd name="T15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3">
                    <a:moveTo>
                      <a:pt x="5" y="12"/>
                    </a:move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10" y="12"/>
                      <a:pt x="15" y="13"/>
                      <a:pt x="20" y="13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3" y="12"/>
                      <a:pt x="5" y="1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61"/>
              <p:cNvSpPr>
                <a:spLocks/>
              </p:cNvSpPr>
              <p:nvPr/>
            </p:nvSpPr>
            <p:spPr bwMode="auto">
              <a:xfrm>
                <a:off x="7058025" y="4184930"/>
                <a:ext cx="190500" cy="163513"/>
              </a:xfrm>
              <a:custGeom>
                <a:avLst/>
                <a:gdLst>
                  <a:gd name="T0" fmla="*/ 69 w 89"/>
                  <a:gd name="T1" fmla="*/ 32 h 76"/>
                  <a:gd name="T2" fmla="*/ 44 w 89"/>
                  <a:gd name="T3" fmla="*/ 57 h 76"/>
                  <a:gd name="T4" fmla="*/ 20 w 89"/>
                  <a:gd name="T5" fmla="*/ 32 h 76"/>
                  <a:gd name="T6" fmla="*/ 0 w 89"/>
                  <a:gd name="T7" fmla="*/ 32 h 76"/>
                  <a:gd name="T8" fmla="*/ 44 w 89"/>
                  <a:gd name="T9" fmla="*/ 76 h 76"/>
                  <a:gd name="T10" fmla="*/ 89 w 89"/>
                  <a:gd name="T11" fmla="*/ 32 h 76"/>
                  <a:gd name="T12" fmla="*/ 89 w 89"/>
                  <a:gd name="T13" fmla="*/ 0 h 76"/>
                  <a:gd name="T14" fmla="*/ 69 w 89"/>
                  <a:gd name="T15" fmla="*/ 0 h 76"/>
                  <a:gd name="T16" fmla="*/ 69 w 89"/>
                  <a:gd name="T17" fmla="*/ 3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9" h="76">
                    <a:moveTo>
                      <a:pt x="69" y="32"/>
                    </a:moveTo>
                    <a:cubicBezTo>
                      <a:pt x="69" y="46"/>
                      <a:pt x="58" y="57"/>
                      <a:pt x="44" y="57"/>
                    </a:cubicBezTo>
                    <a:cubicBezTo>
                      <a:pt x="31" y="57"/>
                      <a:pt x="20" y="46"/>
                      <a:pt x="2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6"/>
                      <a:pt x="20" y="76"/>
                      <a:pt x="44" y="76"/>
                    </a:cubicBezTo>
                    <a:cubicBezTo>
                      <a:pt x="69" y="76"/>
                      <a:pt x="89" y="56"/>
                      <a:pt x="89" y="32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69" y="0"/>
                      <a:pt x="69" y="0"/>
                      <a:pt x="69" y="0"/>
                    </a:cubicBezTo>
                    <a:lnTo>
                      <a:pt x="6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62"/>
              <p:cNvSpPr>
                <a:spLocks/>
              </p:cNvSpPr>
              <p:nvPr/>
            </p:nvSpPr>
            <p:spPr bwMode="auto">
              <a:xfrm>
                <a:off x="7018338" y="3872192"/>
                <a:ext cx="398463" cy="298450"/>
              </a:xfrm>
              <a:custGeom>
                <a:avLst/>
                <a:gdLst>
                  <a:gd name="T0" fmla="*/ 174 w 186"/>
                  <a:gd name="T1" fmla="*/ 139 h 139"/>
                  <a:gd name="T2" fmla="*/ 186 w 186"/>
                  <a:gd name="T3" fmla="*/ 93 h 139"/>
                  <a:gd name="T4" fmla="*/ 108 w 186"/>
                  <a:gd name="T5" fmla="*/ 1 h 139"/>
                  <a:gd name="T6" fmla="*/ 93 w 186"/>
                  <a:gd name="T7" fmla="*/ 0 h 139"/>
                  <a:gd name="T8" fmla="*/ 88 w 186"/>
                  <a:gd name="T9" fmla="*/ 0 h 139"/>
                  <a:gd name="T10" fmla="*/ 0 w 186"/>
                  <a:gd name="T11" fmla="*/ 93 h 139"/>
                  <a:gd name="T12" fmla="*/ 12 w 186"/>
                  <a:gd name="T13" fmla="*/ 139 h 139"/>
                  <a:gd name="T14" fmla="*/ 88 w 186"/>
                  <a:gd name="T15" fmla="*/ 139 h 139"/>
                  <a:gd name="T16" fmla="*/ 108 w 186"/>
                  <a:gd name="T17" fmla="*/ 139 h 139"/>
                  <a:gd name="T18" fmla="*/ 174 w 186"/>
                  <a:gd name="T19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6" h="139">
                    <a:moveTo>
                      <a:pt x="174" y="139"/>
                    </a:moveTo>
                    <a:cubicBezTo>
                      <a:pt x="182" y="126"/>
                      <a:pt x="186" y="110"/>
                      <a:pt x="186" y="93"/>
                    </a:cubicBezTo>
                    <a:cubicBezTo>
                      <a:pt x="186" y="47"/>
                      <a:pt x="152" y="8"/>
                      <a:pt x="108" y="1"/>
                    </a:cubicBezTo>
                    <a:cubicBezTo>
                      <a:pt x="103" y="0"/>
                      <a:pt x="98" y="0"/>
                      <a:pt x="93" y="0"/>
                    </a:cubicBezTo>
                    <a:cubicBezTo>
                      <a:pt x="91" y="0"/>
                      <a:pt x="90" y="0"/>
                      <a:pt x="88" y="0"/>
                    </a:cubicBezTo>
                    <a:cubicBezTo>
                      <a:pt x="39" y="3"/>
                      <a:pt x="0" y="44"/>
                      <a:pt x="0" y="93"/>
                    </a:cubicBezTo>
                    <a:cubicBezTo>
                      <a:pt x="0" y="110"/>
                      <a:pt x="5" y="126"/>
                      <a:pt x="12" y="139"/>
                    </a:cubicBezTo>
                    <a:cubicBezTo>
                      <a:pt x="88" y="139"/>
                      <a:pt x="88" y="139"/>
                      <a:pt x="88" y="139"/>
                    </a:cubicBezTo>
                    <a:cubicBezTo>
                      <a:pt x="108" y="139"/>
                      <a:pt x="108" y="139"/>
                      <a:pt x="108" y="139"/>
                    </a:cubicBezTo>
                    <a:lnTo>
                      <a:pt x="174" y="1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4" name="TextBox 63"/>
          <p:cNvSpPr txBox="1"/>
          <p:nvPr/>
        </p:nvSpPr>
        <p:spPr>
          <a:xfrm>
            <a:off x="3836193" y="1035736"/>
            <a:ext cx="1547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Solution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207125" y="2366971"/>
            <a:ext cx="1547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Investigative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981031" y="3692111"/>
            <a:ext cx="1547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Evolutionary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220494" y="5494584"/>
            <a:ext cx="1547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Requirements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515536" y="5494584"/>
            <a:ext cx="1547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Rapid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1830" y="3692111"/>
            <a:ext cx="1547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Animation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4" grpId="0"/>
      <p:bldP spid="65" grpId="0"/>
      <p:bldP spid="66" grpId="0"/>
      <p:bldP spid="67" grpId="0"/>
      <p:bldP spid="68" grpId="0"/>
      <p:bldP spid="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868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Design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35200" y="1847850"/>
            <a:ext cx="4648200" cy="284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marL="342900" indent="-342900" algn="ctr" rtl="0"/>
            <a:r>
              <a:rPr lang="en-US" sz="2000" dirty="0">
                <a:latin typeface="Arial" charset="0"/>
              </a:rPr>
              <a:t>Expend descriptive model into something specific by tackling the following factors:</a:t>
            </a:r>
          </a:p>
          <a:p>
            <a:pPr marL="342900" indent="-342900" algn="l" rtl="0">
              <a:buFontTx/>
              <a:buAutoNum type="arabicPeriod"/>
            </a:pPr>
            <a:r>
              <a:rPr lang="en-US" sz="2000" dirty="0">
                <a:latin typeface="Arial" charset="0"/>
              </a:rPr>
              <a:t>Identify subsystems</a:t>
            </a:r>
          </a:p>
          <a:p>
            <a:pPr marL="342900" indent="-342900" algn="l" rtl="0">
              <a:buFontTx/>
              <a:buAutoNum type="arabicPeriod"/>
            </a:pPr>
            <a:r>
              <a:rPr lang="en-US" sz="2000" dirty="0">
                <a:latin typeface="Arial" charset="0"/>
              </a:rPr>
              <a:t>Identify interface between subsystems</a:t>
            </a:r>
          </a:p>
          <a:p>
            <a:pPr marL="342900" indent="-342900" algn="l" rtl="0">
              <a:buFontTx/>
              <a:buAutoNum type="arabicPeriod"/>
            </a:pPr>
            <a:r>
              <a:rPr lang="en-US" sz="2000" dirty="0">
                <a:latin typeface="Arial" charset="0"/>
              </a:rPr>
              <a:t>Evaluate subsystem interaction</a:t>
            </a:r>
          </a:p>
          <a:p>
            <a:pPr marL="342900" indent="-342900" algn="l" rtl="0">
              <a:buFontTx/>
              <a:buAutoNum type="arabicPeriod"/>
            </a:pPr>
            <a:r>
              <a:rPr lang="en-US" sz="2000" dirty="0">
                <a:latin typeface="Arial" charset="0"/>
              </a:rPr>
              <a:t>Identify work-loading and allocation</a:t>
            </a:r>
          </a:p>
          <a:p>
            <a:pPr marL="342900" indent="-342900" algn="l" rtl="0">
              <a:buFontTx/>
              <a:buAutoNum type="arabicPeriod"/>
            </a:pPr>
            <a:r>
              <a:rPr lang="en-US" sz="2000" dirty="0">
                <a:latin typeface="Arial" charset="0"/>
              </a:rPr>
              <a:t>Assess man-power req.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15656" y="767042"/>
            <a:ext cx="46691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SG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A process to convert a system specifiction into a executable system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3031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Design – Important elements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0"/>
            <a:ext cx="4610100" cy="31881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3300" y="646668"/>
            <a:ext cx="2144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Modules/Packages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361168"/>
            <a:ext cx="4711700" cy="2400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5083" y="5417066"/>
            <a:ext cx="2213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Size and complexity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4203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Design methodologies- Data flow design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193800"/>
            <a:ext cx="50800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295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Design methodologies - OO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76768"/>
            <a:ext cx="6096000" cy="39550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22" y="4870450"/>
            <a:ext cx="1866900" cy="1327150"/>
          </a:xfrm>
          <a:prstGeom prst="rect">
            <a:avLst/>
          </a:prstGeom>
        </p:spPr>
      </p:pic>
      <p:sp>
        <p:nvSpPr>
          <p:cNvPr id="7" name="Plus 6"/>
          <p:cNvSpPr/>
          <p:nvPr/>
        </p:nvSpPr>
        <p:spPr>
          <a:xfrm>
            <a:off x="3581400" y="5092700"/>
            <a:ext cx="914400" cy="914400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54600" y="5403334"/>
            <a:ext cx="90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Helvetica Neue Light"/>
                <a:cs typeface="Helvetica Neue Light"/>
              </a:rPr>
              <a:t>Profiles</a:t>
            </a:r>
            <a:endParaRPr lang="en-US" dirty="0">
              <a:solidFill>
                <a:srgbClr val="0000FF"/>
              </a:solidFill>
              <a:latin typeface="Helvetica Neue Light"/>
              <a:cs typeface="Helvetica Neue Ligh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395" y="5189306"/>
            <a:ext cx="1063507" cy="5996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800" y="5189306"/>
            <a:ext cx="1103548" cy="64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3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UML-MARTE Profile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Diagram</a:t>
            </a:r>
          </a:p>
          <a:p>
            <a:r>
              <a:rPr lang="en-US" dirty="0" smtClean="0"/>
              <a:t>Sequence Diagram</a:t>
            </a:r>
          </a:p>
          <a:p>
            <a:r>
              <a:rPr lang="en-US" dirty="0" smtClean="0"/>
              <a:t>Cross reference with UML MARTE Profile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20954"/>
            <a:ext cx="13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UML Profile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0153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SD using UML-MARTE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0" y="1987550"/>
            <a:ext cx="53975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0954"/>
            <a:ext cx="1913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UML Profile -  SD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81278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485653" y="1384012"/>
            <a:ext cx="3505200" cy="3505200"/>
            <a:chOff x="2819400" y="1676400"/>
            <a:chExt cx="3505200" cy="3505200"/>
          </a:xfrm>
        </p:grpSpPr>
        <p:sp>
          <p:nvSpPr>
            <p:cNvPr id="8" name="Oval 7"/>
            <p:cNvSpPr/>
            <p:nvPr/>
          </p:nvSpPr>
          <p:spPr>
            <a:xfrm>
              <a:off x="2819400" y="1676400"/>
              <a:ext cx="3505200" cy="3505200"/>
            </a:xfrm>
            <a:prstGeom prst="ellipse">
              <a:avLst/>
            </a:prstGeom>
            <a:solidFill>
              <a:srgbClr val="CC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48674" y="3136612"/>
              <a:ext cx="19405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 smtClean="0">
                  <a:solidFill>
                    <a:schemeClr val="bg1"/>
                  </a:solidFill>
                </a:rPr>
                <a:t>Thank You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33" y="1275918"/>
            <a:ext cx="3903520" cy="31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2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0954"/>
            <a:ext cx="1956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Problem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rPr>
              <a:t>solving 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73508"/>
            <a:ext cx="9144000" cy="8736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13429"/>
            <a:ext cx="9144000" cy="244570"/>
          </a:xfrm>
          <a:prstGeom prst="rect">
            <a:avLst/>
          </a:prstGeom>
          <a:solidFill>
            <a:srgbClr val="40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ctr" anchorCtr="0"/>
          <a:lstStyle/>
          <a:p>
            <a:pPr algn="r"/>
            <a:r>
              <a:rPr lang="en-US" sz="1200" dirty="0" smtClean="0">
                <a:latin typeface="Helvetica Neue Light"/>
                <a:cs typeface="Helvetica Neue Light"/>
              </a:rPr>
              <a:t>SCSJ 4423 – Real-time </a:t>
            </a:r>
            <a:r>
              <a:rPr lang="en-US" sz="1200" dirty="0" smtClean="0">
                <a:solidFill>
                  <a:srgbClr val="FFFF00"/>
                </a:solidFill>
                <a:latin typeface="Helvetica Neue Light"/>
                <a:cs typeface="Helvetica Neue Light"/>
              </a:rPr>
              <a:t>Software Engineering</a:t>
            </a:r>
            <a:endParaRPr lang="en-US" sz="1200" dirty="0">
              <a:solidFill>
                <a:srgbClr val="FFFF00"/>
              </a:solidFill>
              <a:latin typeface="Helvetica Neue Light"/>
              <a:cs typeface="Helvetica Neue Ligh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0" y="727440"/>
            <a:ext cx="676769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Font typeface="Wingdings" charset="2"/>
              <a:buChar char="ü"/>
            </a:pPr>
            <a:r>
              <a:rPr lang="en-US" sz="2000" dirty="0">
                <a:latin typeface="Helvetica Neue Light"/>
                <a:cs typeface="Helvetica Neue Light"/>
              </a:rPr>
              <a:t>Start with your group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Char char="ü"/>
            </a:pPr>
            <a:r>
              <a:rPr lang="en-US" sz="2000" dirty="0" smtClean="0">
                <a:latin typeface="Helvetica Neue Light"/>
                <a:cs typeface="Helvetica Neue Light"/>
              </a:rPr>
              <a:t>Based on the case study in PS1, identify and explain in detail (</a:t>
            </a:r>
            <a:r>
              <a:rPr lang="en-US" sz="2000" b="1" dirty="0" smtClean="0">
                <a:latin typeface="Helvetica Neue Light"/>
                <a:cs typeface="Helvetica Neue Light"/>
              </a:rPr>
              <a:t>THREE</a:t>
            </a:r>
            <a:r>
              <a:rPr lang="en-US" sz="2000" dirty="0" smtClean="0">
                <a:latin typeface="Helvetica Neue Light"/>
                <a:cs typeface="Helvetica Neue Light"/>
              </a:rPr>
              <a:t>): </a:t>
            </a:r>
            <a:r>
              <a:rPr lang="en-US" sz="2000" dirty="0" smtClean="0">
                <a:solidFill>
                  <a:schemeClr val="accent6"/>
                </a:solidFill>
                <a:latin typeface="Helvetica Neue Light"/>
                <a:cs typeface="Helvetica Neue Light"/>
              </a:rPr>
              <a:t>Functionality</a:t>
            </a:r>
            <a:r>
              <a:rPr lang="en-US" sz="2000" dirty="0" smtClean="0">
                <a:latin typeface="Helvetica Neue Light"/>
                <a:cs typeface="Helvetica Neue Light"/>
              </a:rPr>
              <a:t>, </a:t>
            </a:r>
            <a:r>
              <a:rPr lang="en-US" sz="2000" dirty="0" smtClean="0">
                <a:solidFill>
                  <a:srgbClr val="FF0000"/>
                </a:solidFill>
                <a:latin typeface="Helvetica Neue Light"/>
                <a:cs typeface="Helvetica Neue Light"/>
              </a:rPr>
              <a:t>Non-functionality (Security)</a:t>
            </a:r>
            <a:r>
              <a:rPr lang="en-US" sz="2000" dirty="0" smtClean="0">
                <a:latin typeface="Helvetica Neue Light"/>
                <a:cs typeface="Helvetica Neue Light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Helvetica Neue Light"/>
                <a:cs typeface="Helvetica Neue Light"/>
              </a:rPr>
              <a:t>Interfaces</a:t>
            </a:r>
            <a:r>
              <a:rPr lang="en-US" sz="2000" dirty="0" smtClean="0">
                <a:latin typeface="Helvetica Neue Light"/>
                <a:cs typeface="Helvetica Neue Light"/>
              </a:rPr>
              <a:t> and </a:t>
            </a:r>
            <a:r>
              <a:rPr lang="en-US" sz="2000" dirty="0" smtClean="0">
                <a:solidFill>
                  <a:srgbClr val="7030A0"/>
                </a:solidFill>
                <a:latin typeface="Helvetica Neue Light"/>
                <a:cs typeface="Helvetica Neue Light"/>
              </a:rPr>
              <a:t>Constraint.</a:t>
            </a: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Char char="ü"/>
            </a:pPr>
            <a:r>
              <a:rPr lang="en-US" sz="2000" dirty="0" smtClean="0">
                <a:latin typeface="Helvetica Neue Light"/>
                <a:cs typeface="Helvetica Neue Light"/>
              </a:rPr>
              <a:t>Draw a </a:t>
            </a:r>
            <a:r>
              <a:rPr lang="en-US" sz="2000" dirty="0" smtClean="0">
                <a:solidFill>
                  <a:srgbClr val="FF0000"/>
                </a:solidFill>
                <a:latin typeface="Helvetica Neue Light"/>
                <a:cs typeface="Helvetica Neue Light"/>
              </a:rPr>
              <a:t>package diagram </a:t>
            </a:r>
            <a:r>
              <a:rPr lang="en-US" sz="2000" dirty="0" smtClean="0">
                <a:latin typeface="Helvetica Neue Light"/>
                <a:cs typeface="Helvetica Neue Light"/>
              </a:rPr>
              <a:t>with a tag value for </a:t>
            </a:r>
            <a:r>
              <a:rPr lang="en-US" sz="2000" dirty="0" smtClean="0">
                <a:solidFill>
                  <a:srgbClr val="FF0000"/>
                </a:solidFill>
                <a:latin typeface="Helvetica Neue Light"/>
                <a:cs typeface="Helvetica Neue Light"/>
              </a:rPr>
              <a:t>&lt;&lt;subsystem&gt;&gt; </a:t>
            </a:r>
            <a:r>
              <a:rPr lang="en-US" sz="2000" dirty="0" smtClean="0">
                <a:latin typeface="Helvetica Neue Light"/>
                <a:cs typeface="Helvetica Neue Light"/>
              </a:rPr>
              <a:t>for your case study.</a:t>
            </a:r>
            <a:endParaRPr lang="en-US" sz="2000" dirty="0" smtClean="0">
              <a:latin typeface="Helvetica Neue Light"/>
              <a:cs typeface="Helvetica Neue Light"/>
            </a:endParaRPr>
          </a:p>
          <a:p>
            <a:pPr marL="914400" lvl="1" indent="-457200" algn="just">
              <a:lnSpc>
                <a:spcPct val="90000"/>
              </a:lnSpc>
              <a:spcBef>
                <a:spcPct val="20000"/>
              </a:spcBef>
              <a:buFont typeface="Wingdings" charset="0"/>
              <a:buChar char="ü"/>
            </a:pPr>
            <a:r>
              <a:rPr lang="en-US" sz="2000" dirty="0" smtClean="0">
                <a:latin typeface="Helvetica Neue Light"/>
                <a:cs typeface="Helvetica Neue Light"/>
              </a:rPr>
              <a:t>Submit during a class</a:t>
            </a:r>
            <a:endParaRPr lang="en-US" sz="2000" dirty="0">
              <a:latin typeface="Helvetica Neue Light"/>
              <a:cs typeface="Helvetica Neue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568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24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2530</TotalTime>
  <Words>1122</Words>
  <Application>Microsoft Macintosh PowerPoint</Application>
  <PresentationFormat>On-screen Show (4:3)</PresentationFormat>
  <Paragraphs>200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</vt:lpstr>
      <vt:lpstr>Helvetica Neue Light</vt:lpstr>
      <vt:lpstr>ＭＳ Ｐゴシック</vt:lpstr>
      <vt:lpstr>Times New Roman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UML-MARTE Profile</vt:lpstr>
      <vt:lpstr>Example of SD using UML-MARTE</vt:lpstr>
      <vt:lpstr>PowerPoint Presentation</vt:lpstr>
      <vt:lpstr>PowerPoint Presentation</vt:lpstr>
    </vt:vector>
  </TitlesOfParts>
  <Company>utm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adham isa</dc:creator>
  <cp:lastModifiedBy>MOHD ADHAM BIN ISA</cp:lastModifiedBy>
  <cp:revision>33</cp:revision>
  <dcterms:created xsi:type="dcterms:W3CDTF">2015-03-11T06:32:57Z</dcterms:created>
  <dcterms:modified xsi:type="dcterms:W3CDTF">2018-02-28T02:51:09Z</dcterms:modified>
</cp:coreProperties>
</file>