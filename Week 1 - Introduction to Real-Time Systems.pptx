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Lst>
  <p:notesMasterIdLst>
    <p:notesMasterId r:id="rId17"/>
  </p:notesMasterIdLst>
  <p:sldIdLst>
    <p:sldId id="256" r:id="rId5"/>
    <p:sldId id="258" r:id="rId6"/>
    <p:sldId id="259" r:id="rId7"/>
    <p:sldId id="260" r:id="rId8"/>
    <p:sldId id="261" r:id="rId9"/>
    <p:sldId id="262" r:id="rId10"/>
    <p:sldId id="264" r:id="rId11"/>
    <p:sldId id="265" r:id="rId12"/>
    <p:sldId id="266" r:id="rId13"/>
    <p:sldId id="267" r:id="rId14"/>
    <p:sldId id="269" r:id="rId15"/>
    <p:sldId id="26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83" autoAdjust="0"/>
    <p:restoredTop sz="94782" autoAdjust="0"/>
  </p:normalViewPr>
  <p:slideViewPr>
    <p:cSldViewPr snapToGrid="0" snapToObjects="1">
      <p:cViewPr varScale="1">
        <p:scale>
          <a:sx n="136" d="100"/>
          <a:sy n="136" d="100"/>
        </p:scale>
        <p:origin x="2352" y="192"/>
      </p:cViewPr>
      <p:guideLst>
        <p:guide orient="horz" pos="2160"/>
        <p:guide pos="2880"/>
      </p:guideLst>
    </p:cSldViewPr>
  </p:slideViewPr>
  <p:notesTextViewPr>
    <p:cViewPr>
      <p:scale>
        <a:sx n="100" d="100"/>
        <a:sy n="100" d="100"/>
      </p:scale>
      <p:origin x="0" y="0"/>
    </p:cViewPr>
  </p:notesTextViewPr>
  <p:sorterViewPr>
    <p:cViewPr>
      <p:scale>
        <a:sx n="149" d="100"/>
        <a:sy n="149"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837130-8296-944A-8DFB-68D230C59F02}" type="datetimeFigureOut">
              <a:rPr lang="en-US" smtClean="0"/>
              <a:t>1/28/19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6A4D2C-0659-E04B-BBBD-EF6B6C26CF9F}" type="slidenum">
              <a:rPr lang="en-US" smtClean="0"/>
              <a:t>‹#›</a:t>
            </a:fld>
            <a:endParaRPr lang="en-US"/>
          </a:p>
        </p:txBody>
      </p:sp>
    </p:spTree>
    <p:extLst>
      <p:ext uri="{BB962C8B-B14F-4D97-AF65-F5344CB8AC3E}">
        <p14:creationId xmlns:p14="http://schemas.microsoft.com/office/powerpoint/2010/main" val="16142916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Responsiveness in real-time is the critical difference between embedded systems and other software systems, such as information systems, web-based systems or personal software systems.</a:t>
            </a:r>
          </a:p>
          <a:p>
            <a:r>
              <a:rPr lang="en-GB" dirty="0"/>
              <a:t>For non-real-time systems, correctness can be defined by specifying how system inputs map to corresponding outputs that should be produced by the system. </a:t>
            </a:r>
          </a:p>
          <a:p>
            <a:pPr marL="457200" indent="-457200" algn="just" rtl="0">
              <a:lnSpc>
                <a:spcPct val="90000"/>
              </a:lnSpc>
              <a:spcBef>
                <a:spcPct val="20000"/>
              </a:spcBef>
              <a:buFont typeface="Wingdings" charset="0"/>
              <a:buChar char="v"/>
            </a:pPr>
            <a:r>
              <a:rPr lang="en-GB" dirty="0"/>
              <a:t>In a real-time system, the correctness depends both on the response to an input and the time taken to generate that response. If the system takes too long to respond, then the required response may be ineffective. </a:t>
            </a:r>
            <a:r>
              <a:rPr lang="en-US" sz="2000" dirty="0"/>
              <a:t>Hard real time system</a:t>
            </a:r>
            <a:r>
              <a:rPr lang="en-US" dirty="0"/>
              <a:t> </a:t>
            </a:r>
          </a:p>
          <a:p>
            <a:pPr marL="914400" lvl="1" indent="-457200" algn="just" rtl="0">
              <a:lnSpc>
                <a:spcPct val="90000"/>
              </a:lnSpc>
              <a:spcBef>
                <a:spcPct val="20000"/>
              </a:spcBef>
              <a:buFont typeface="Wingdings" charset="0"/>
              <a:buChar char="ü"/>
            </a:pPr>
            <a:r>
              <a:rPr lang="en-US" dirty="0"/>
              <a:t>Response time to incoming events must be guaranteed even under extreme conditions</a:t>
            </a:r>
          </a:p>
          <a:p>
            <a:pPr marL="914400" lvl="1" indent="-457200" algn="just" rtl="0">
              <a:lnSpc>
                <a:spcPct val="90000"/>
              </a:lnSpc>
              <a:spcBef>
                <a:spcPct val="20000"/>
              </a:spcBef>
              <a:buFont typeface="Wingdings" charset="0"/>
              <a:buChar char="ü"/>
            </a:pPr>
            <a:r>
              <a:rPr lang="en-US" dirty="0"/>
              <a:t>Missed deadlines lead to severe consequences, </a:t>
            </a:r>
            <a:r>
              <a:rPr lang="en-US" dirty="0" err="1"/>
              <a:t>eg</a:t>
            </a:r>
            <a:r>
              <a:rPr lang="en-US" dirty="0"/>
              <a:t> flight control systems may cause loss of human life, </a:t>
            </a:r>
          </a:p>
          <a:p>
            <a:pPr marL="914400" lvl="1" indent="-457200" algn="just" rtl="0">
              <a:lnSpc>
                <a:spcPct val="90000"/>
              </a:lnSpc>
              <a:spcBef>
                <a:spcPct val="20000"/>
              </a:spcBef>
              <a:buFont typeface="Wingdings" charset="0"/>
              <a:buChar char="ü"/>
            </a:pPr>
            <a:r>
              <a:rPr lang="en-US" dirty="0"/>
              <a:t>Correctness is critical.</a:t>
            </a:r>
          </a:p>
          <a:p>
            <a:pPr marL="457200" indent="-457200" algn="just" rtl="0">
              <a:lnSpc>
                <a:spcPct val="90000"/>
              </a:lnSpc>
              <a:spcBef>
                <a:spcPct val="20000"/>
              </a:spcBef>
              <a:buFont typeface="Wingdings" charset="0"/>
              <a:buChar char="v"/>
            </a:pPr>
            <a:endParaRPr lang="en-US" dirty="0"/>
          </a:p>
          <a:p>
            <a:pPr marL="457200" indent="-457200" algn="just" rtl="0">
              <a:lnSpc>
                <a:spcPct val="90000"/>
              </a:lnSpc>
              <a:spcBef>
                <a:spcPct val="20000"/>
              </a:spcBef>
              <a:buFont typeface="Wingdings" charset="0"/>
              <a:buChar char="v"/>
            </a:pPr>
            <a:r>
              <a:rPr lang="en-US" sz="2000" dirty="0"/>
              <a:t>Soft real system</a:t>
            </a:r>
          </a:p>
          <a:p>
            <a:pPr marL="914400" lvl="1" indent="-457200" algn="just" rtl="0">
              <a:lnSpc>
                <a:spcPct val="90000"/>
              </a:lnSpc>
              <a:spcBef>
                <a:spcPct val="20000"/>
              </a:spcBef>
              <a:buFont typeface="Wingdings" charset="0"/>
              <a:buChar char="ü"/>
            </a:pPr>
            <a:r>
              <a:rPr lang="en-US" dirty="0"/>
              <a:t>Can miss events</a:t>
            </a:r>
            <a:r>
              <a:rPr lang="ja-JP" altLang="en-US" dirty="0">
                <a:latin typeface="Arial" charset="0"/>
              </a:rPr>
              <a:t>’</a:t>
            </a:r>
            <a:r>
              <a:rPr lang="en-US" dirty="0"/>
              <a:t> deadline and still function within parameters</a:t>
            </a:r>
          </a:p>
          <a:p>
            <a:pPr marL="914400" lvl="1" indent="-457200" algn="just" rtl="0">
              <a:lnSpc>
                <a:spcPct val="90000"/>
              </a:lnSpc>
              <a:spcBef>
                <a:spcPct val="20000"/>
              </a:spcBef>
              <a:buFont typeface="Wingdings" charset="0"/>
              <a:buChar char="ü"/>
            </a:pPr>
            <a:r>
              <a:rPr lang="en-US" dirty="0"/>
              <a:t>Here, overall performance is central concern but individual activity deadlines are not critical</a:t>
            </a:r>
          </a:p>
          <a:p>
            <a:pPr marL="914400" lvl="1" indent="-457200" algn="just" rtl="0">
              <a:lnSpc>
                <a:spcPct val="90000"/>
              </a:lnSpc>
              <a:spcBef>
                <a:spcPct val="20000"/>
              </a:spcBef>
              <a:buFont typeface="Wingdings" charset="0"/>
              <a:buChar char="ü"/>
            </a:pPr>
            <a:r>
              <a:rPr lang="en-US" dirty="0"/>
              <a:t>Failure may still be tolerable</a:t>
            </a:r>
          </a:p>
          <a:p>
            <a:endParaRPr lang="en-US" dirty="0"/>
          </a:p>
        </p:txBody>
      </p:sp>
      <p:sp>
        <p:nvSpPr>
          <p:cNvPr id="4" name="Slide Number Placeholder 3"/>
          <p:cNvSpPr>
            <a:spLocks noGrp="1"/>
          </p:cNvSpPr>
          <p:nvPr>
            <p:ph type="sldNum" sz="quarter" idx="10"/>
          </p:nvPr>
        </p:nvSpPr>
        <p:spPr/>
        <p:txBody>
          <a:bodyPr/>
          <a:lstStyle/>
          <a:p>
            <a:fld id="{CA6A4D2C-0659-E04B-BBBD-EF6B6C26CF9F}" type="slidenum">
              <a:rPr lang="en-US" smtClean="0"/>
              <a:t>4</a:t>
            </a:fld>
            <a:endParaRPr lang="en-US"/>
          </a:p>
        </p:txBody>
      </p:sp>
    </p:spTree>
    <p:extLst>
      <p:ext uri="{BB962C8B-B14F-4D97-AF65-F5344CB8AC3E}">
        <p14:creationId xmlns:p14="http://schemas.microsoft.com/office/powerpoint/2010/main" val="2918941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latin typeface="Lucida Calligraphy" charset="0"/>
              </a:rPr>
              <a:t>Embedded system</a:t>
            </a:r>
            <a:r>
              <a:rPr lang="en-US" dirty="0"/>
              <a:t> is a system, which contains microcomputer as a component, but the user does not see the system as a computer</a:t>
            </a:r>
            <a:r>
              <a:rPr lang="en-US" sz="1400" dirty="0">
                <a:latin typeface="Lucida Bright" charset="0"/>
                <a:cs typeface="Times New Roman" charset="0"/>
              </a:rPr>
              <a:t>. </a:t>
            </a:r>
          </a:p>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solidFill>
                  <a:srgbClr val="800080"/>
                </a:solidFill>
                <a:latin typeface="Palatino Linotype" charset="0"/>
              </a:rPr>
              <a:t>Embedded System</a:t>
            </a:r>
            <a:r>
              <a:rPr lang="en-US" sz="1400" dirty="0">
                <a:latin typeface="Palatino Linotype" charset="0"/>
              </a:rPr>
              <a:t> provides the major part of necessary technology for new trends of computing in:</a:t>
            </a:r>
          </a:p>
          <a:p>
            <a:pPr marL="355600" indent="-355600" algn="l" rtl="0">
              <a:lnSpc>
                <a:spcPct val="90000"/>
              </a:lnSpc>
              <a:spcBef>
                <a:spcPct val="20000"/>
              </a:spcBef>
              <a:buFontTx/>
              <a:buChar char="•"/>
            </a:pPr>
            <a:r>
              <a:rPr lang="en-US" sz="1400" b="1" dirty="0">
                <a:solidFill>
                  <a:srgbClr val="003366"/>
                </a:solidFill>
                <a:latin typeface="Palatino Linotype" charset="0"/>
              </a:rPr>
              <a:t>Ubiquitous/ pervasive computing</a:t>
            </a:r>
            <a:r>
              <a:rPr lang="en-US" sz="1400" dirty="0">
                <a:latin typeface="Palatino Linotype" charset="0"/>
              </a:rPr>
              <a:t> - </a:t>
            </a:r>
            <a:r>
              <a:rPr lang="ja-JP" altLang="en-US" sz="1400" i="1" dirty="0">
                <a:latin typeface="Palatino Linotype" charset="0"/>
              </a:rPr>
              <a:t>“</a:t>
            </a:r>
            <a:r>
              <a:rPr lang="en-US" sz="1400" i="1" dirty="0">
                <a:latin typeface="Palatino Linotype" charset="0"/>
              </a:rPr>
              <a:t>information anytime, anywhere</a:t>
            </a:r>
            <a:r>
              <a:rPr lang="ja-JP" altLang="en-US" sz="1400" i="1" dirty="0">
                <a:latin typeface="Palatino Linotype" charset="0"/>
              </a:rPr>
              <a:t>”</a:t>
            </a:r>
            <a:endParaRPr lang="en-US" sz="1400" dirty="0">
              <a:latin typeface="Palatino Linotype" charset="0"/>
            </a:endParaRPr>
          </a:p>
          <a:p>
            <a:pPr marL="355600" indent="-355600" algn="l" rtl="0">
              <a:lnSpc>
                <a:spcPct val="90000"/>
              </a:lnSpc>
              <a:spcBef>
                <a:spcPct val="20000"/>
              </a:spcBef>
              <a:buFontTx/>
              <a:buChar char="•"/>
            </a:pPr>
            <a:r>
              <a:rPr lang="en-US" sz="1400" b="1" dirty="0">
                <a:solidFill>
                  <a:srgbClr val="003366"/>
                </a:solidFill>
                <a:latin typeface="Palatino Linotype" charset="0"/>
              </a:rPr>
              <a:t>ambient intelligence </a:t>
            </a:r>
            <a:r>
              <a:rPr lang="en-US" sz="1200" b="1" dirty="0">
                <a:solidFill>
                  <a:srgbClr val="003366"/>
                </a:solidFill>
                <a:latin typeface="Palatino Linotype" charset="0"/>
              </a:rPr>
              <a:t>- </a:t>
            </a:r>
            <a:r>
              <a:rPr lang="en-US" sz="1400" dirty="0">
                <a:latin typeface="Palatino Linotype" charset="0"/>
              </a:rPr>
              <a:t>utilizes communication technology in future homes and smart buildings</a:t>
            </a:r>
          </a:p>
          <a:p>
            <a:pPr marL="0" marR="0" indent="0" algn="l" defTabSz="457200" rtl="0" eaLnBrk="1" fontAlgn="auto" latinLnBrk="0" hangingPunct="1">
              <a:lnSpc>
                <a:spcPct val="90000"/>
              </a:lnSpc>
              <a:spcBef>
                <a:spcPct val="20000"/>
              </a:spcBef>
              <a:spcAft>
                <a:spcPts val="0"/>
              </a:spcAft>
              <a:buClrTx/>
              <a:buSzTx/>
              <a:buFontTx/>
              <a:buNone/>
              <a:tabLst/>
              <a:defRPr/>
            </a:pPr>
            <a:r>
              <a:rPr lang="en-US" sz="1400" b="1" dirty="0">
                <a:solidFill>
                  <a:srgbClr val="800080"/>
                </a:solidFill>
                <a:latin typeface="Palatino Linotype" charset="0"/>
              </a:rPr>
              <a:t>Embedded System</a:t>
            </a:r>
            <a:r>
              <a:rPr lang="en-US" sz="1400" dirty="0">
                <a:latin typeface="Palatino Linotype" charset="0"/>
              </a:rPr>
              <a:t> frequently connects to environ-</a:t>
            </a:r>
            <a:r>
              <a:rPr lang="en-US" sz="1400" dirty="0" err="1">
                <a:latin typeface="Palatino Linotype" charset="0"/>
              </a:rPr>
              <a:t>ment</a:t>
            </a:r>
            <a:r>
              <a:rPr lang="en-US" sz="1400" dirty="0">
                <a:latin typeface="Palatino Linotype" charset="0"/>
              </a:rPr>
              <a:t> through sensors &amp; actuators.  </a:t>
            </a:r>
          </a:p>
          <a:p>
            <a:pPr marL="0" marR="0" indent="0" algn="l" defTabSz="457200" rtl="0" eaLnBrk="1" fontAlgn="auto" latinLnBrk="0" hangingPunct="1">
              <a:lnSpc>
                <a:spcPct val="90000"/>
              </a:lnSpc>
              <a:spcBef>
                <a:spcPct val="20000"/>
              </a:spcBef>
              <a:spcAft>
                <a:spcPts val="0"/>
              </a:spcAft>
              <a:buClrTx/>
              <a:buSzTx/>
              <a:buFontTx/>
              <a:buNone/>
              <a:tabLst/>
              <a:defRPr/>
            </a:pPr>
            <a:r>
              <a:rPr lang="en-US" sz="1400" dirty="0">
                <a:latin typeface="Palatino Linotype" charset="0"/>
              </a:rPr>
              <a:t>Thus, has an immediate impact on the environment. For </a:t>
            </a:r>
            <a:r>
              <a:rPr lang="en-US" sz="1400" b="1" i="1" dirty="0">
                <a:solidFill>
                  <a:srgbClr val="FF0000"/>
                </a:solidFill>
                <a:latin typeface="Palatino Linotype" charset="0"/>
              </a:rPr>
              <a:t>safety critical</a:t>
            </a:r>
            <a:r>
              <a:rPr lang="en-US" sz="1400" dirty="0">
                <a:latin typeface="Palatino Linotype" charset="0"/>
              </a:rPr>
              <a:t> embedded systems h/w &amp; </a:t>
            </a:r>
            <a:r>
              <a:rPr lang="en-US" sz="1400" b="1" dirty="0">
                <a:solidFill>
                  <a:srgbClr val="FF0000"/>
                </a:solidFill>
                <a:latin typeface="Palatino Linotype" charset="0"/>
              </a:rPr>
              <a:t>s/w</a:t>
            </a:r>
            <a:r>
              <a:rPr lang="en-US" sz="1400" dirty="0">
                <a:latin typeface="Palatino Linotype" charset="0"/>
              </a:rPr>
              <a:t> must be </a:t>
            </a:r>
            <a:r>
              <a:rPr lang="en-US" sz="1400" b="1" dirty="0">
                <a:solidFill>
                  <a:srgbClr val="003366"/>
                </a:solidFill>
                <a:latin typeface="Palatino Linotype" charset="0"/>
              </a:rPr>
              <a:t>dependable</a:t>
            </a:r>
            <a:r>
              <a:rPr lang="en-US" sz="1400" dirty="0">
                <a:latin typeface="Palatino Linotype" charset="0"/>
              </a:rPr>
              <a:t>.</a:t>
            </a:r>
          </a:p>
          <a:p>
            <a:pPr marL="355600" indent="-355600" algn="l" rtl="0">
              <a:lnSpc>
                <a:spcPct val="90000"/>
              </a:lnSpc>
              <a:spcBef>
                <a:spcPct val="20000"/>
              </a:spcBef>
              <a:buFontTx/>
              <a:buChar char="•"/>
            </a:pPr>
            <a:endParaRPr lang="en-US" sz="1400" dirty="0">
              <a:latin typeface="Palatino Linotype" charset="0"/>
            </a:endParaRPr>
          </a:p>
          <a:p>
            <a:pPr marL="355600" indent="-355600" algn="l" rtl="0">
              <a:lnSpc>
                <a:spcPct val="90000"/>
              </a:lnSpc>
              <a:spcBef>
                <a:spcPct val="20000"/>
              </a:spcBef>
              <a:buFontTx/>
              <a:buChar char="•"/>
            </a:pPr>
            <a:endParaRPr lang="en-US" sz="1200" b="1" dirty="0">
              <a:solidFill>
                <a:srgbClr val="003366"/>
              </a:solidFill>
              <a:latin typeface="Palatino Linotype" charset="0"/>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400" dirty="0">
              <a:latin typeface="Palatino Linotype" charset="0"/>
              <a:cs typeface="Times New Roman" charset="0"/>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400" dirty="0">
              <a:latin typeface="Lucida Bright" charset="0"/>
              <a:cs typeface="Times New Roman" charset="0"/>
            </a:endParaRPr>
          </a:p>
          <a:p>
            <a:endParaRPr lang="en-US" dirty="0"/>
          </a:p>
        </p:txBody>
      </p:sp>
      <p:sp>
        <p:nvSpPr>
          <p:cNvPr id="4" name="Slide Number Placeholder 3"/>
          <p:cNvSpPr>
            <a:spLocks noGrp="1"/>
          </p:cNvSpPr>
          <p:nvPr>
            <p:ph type="sldNum" sz="quarter" idx="10"/>
          </p:nvPr>
        </p:nvSpPr>
        <p:spPr/>
        <p:txBody>
          <a:bodyPr/>
          <a:lstStyle/>
          <a:p>
            <a:fld id="{CA6A4D2C-0659-E04B-BBBD-EF6B6C26CF9F}" type="slidenum">
              <a:rPr lang="en-US" smtClean="0"/>
              <a:t>5</a:t>
            </a:fld>
            <a:endParaRPr lang="en-US"/>
          </a:p>
        </p:txBody>
      </p:sp>
    </p:spTree>
    <p:extLst>
      <p:ext uri="{BB962C8B-B14F-4D97-AF65-F5344CB8AC3E}">
        <p14:creationId xmlns:p14="http://schemas.microsoft.com/office/powerpoint/2010/main" val="794617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rtl="0">
              <a:lnSpc>
                <a:spcPct val="90000"/>
              </a:lnSpc>
              <a:spcBef>
                <a:spcPct val="20000"/>
              </a:spcBef>
              <a:buFont typeface="Wingdings" charset="0"/>
              <a:buChar char="v"/>
            </a:pPr>
            <a:r>
              <a:rPr lang="en-US" sz="1200" dirty="0"/>
              <a:t>Have deadlines attached to some or all tasks</a:t>
            </a:r>
          </a:p>
          <a:p>
            <a:pPr marL="457200" indent="-457200" algn="just" rtl="0">
              <a:lnSpc>
                <a:spcPct val="90000"/>
              </a:lnSpc>
              <a:spcBef>
                <a:spcPct val="20000"/>
              </a:spcBef>
              <a:buFont typeface="Wingdings" charset="0"/>
              <a:buNone/>
            </a:pPr>
            <a:endParaRPr lang="en-US" sz="1200" dirty="0"/>
          </a:p>
          <a:p>
            <a:pPr marL="457200" indent="-457200" algn="just" rtl="0">
              <a:lnSpc>
                <a:spcPct val="90000"/>
              </a:lnSpc>
              <a:spcBef>
                <a:spcPct val="20000"/>
              </a:spcBef>
              <a:buFont typeface="Wingdings" charset="0"/>
              <a:buChar char="v"/>
            </a:pPr>
            <a:r>
              <a:rPr lang="en-US" sz="1200" dirty="0"/>
              <a:t>Faults in the system may lead to catastrophic</a:t>
            </a:r>
          </a:p>
          <a:p>
            <a:pPr marL="457200" indent="-457200" algn="just" rtl="0">
              <a:lnSpc>
                <a:spcPct val="90000"/>
              </a:lnSpc>
              <a:spcBef>
                <a:spcPct val="20000"/>
              </a:spcBef>
              <a:buFont typeface="Wingdings" charset="0"/>
              <a:buNone/>
            </a:pPr>
            <a:endParaRPr lang="en-US" sz="1200" dirty="0"/>
          </a:p>
          <a:p>
            <a:pPr marL="457200" indent="-457200" algn="just" rtl="0">
              <a:lnSpc>
                <a:spcPct val="90000"/>
              </a:lnSpc>
              <a:spcBef>
                <a:spcPct val="20000"/>
              </a:spcBef>
              <a:buFont typeface="Wingdings" charset="0"/>
              <a:buChar char="v"/>
            </a:pPr>
            <a:r>
              <a:rPr lang="en-US" sz="1200" dirty="0"/>
              <a:t>Must have the ability to deal with exceptions </a:t>
            </a:r>
          </a:p>
          <a:p>
            <a:pPr marL="457200" indent="-457200" algn="just" rtl="0">
              <a:lnSpc>
                <a:spcPct val="90000"/>
              </a:lnSpc>
              <a:spcBef>
                <a:spcPct val="20000"/>
              </a:spcBef>
              <a:buFont typeface="Wingdings" charset="0"/>
              <a:buNone/>
            </a:pPr>
            <a:endParaRPr lang="en-US" sz="1200" dirty="0"/>
          </a:p>
          <a:p>
            <a:pPr marL="457200" indent="-457200" algn="just" rtl="0">
              <a:lnSpc>
                <a:spcPct val="90000"/>
              </a:lnSpc>
              <a:spcBef>
                <a:spcPct val="20000"/>
              </a:spcBef>
              <a:buFont typeface="Wingdings" charset="0"/>
              <a:buChar char="v"/>
            </a:pPr>
            <a:r>
              <a:rPr lang="en-US" sz="1200"/>
              <a:t>Must be fast, predictable reliable, adaptive</a:t>
            </a:r>
          </a:p>
          <a:p>
            <a:pPr marL="0" indent="0" algn="just" rtl="0">
              <a:lnSpc>
                <a:spcPct val="90000"/>
              </a:lnSpc>
              <a:spcBef>
                <a:spcPct val="20000"/>
              </a:spcBef>
              <a:buFont typeface="Wingdings" charset="0"/>
              <a:buNone/>
            </a:pPr>
            <a:endParaRPr lang="en-US" dirty="0"/>
          </a:p>
          <a:p>
            <a:pPr marL="457200" indent="-457200" algn="just" rtl="0">
              <a:lnSpc>
                <a:spcPct val="90000"/>
              </a:lnSpc>
              <a:spcBef>
                <a:spcPct val="20000"/>
              </a:spcBef>
              <a:buFont typeface="Wingdings" charset="0"/>
              <a:buChar char="v"/>
            </a:pPr>
            <a:endParaRPr lang="en-US" dirty="0"/>
          </a:p>
          <a:p>
            <a:pPr marL="457200" indent="-457200" algn="just" rtl="0">
              <a:lnSpc>
                <a:spcPct val="90000"/>
              </a:lnSpc>
              <a:spcBef>
                <a:spcPct val="20000"/>
              </a:spcBef>
              <a:buFont typeface="Wingdings" charset="0"/>
              <a:buChar char="v"/>
            </a:pPr>
            <a:r>
              <a:rPr lang="en-US" dirty="0"/>
              <a:t>ERTs are </a:t>
            </a:r>
            <a:r>
              <a:rPr lang="en-US" dirty="0">
                <a:solidFill>
                  <a:srgbClr val="FF3300"/>
                </a:solidFill>
              </a:rPr>
              <a:t>dedicated</a:t>
            </a:r>
            <a:r>
              <a:rPr lang="en-US" dirty="0"/>
              <a:t> to specific tasks, whereas PCs are generic computing platforms.</a:t>
            </a:r>
          </a:p>
          <a:p>
            <a:pPr marL="457200" indent="-457200" algn="just" rtl="0">
              <a:lnSpc>
                <a:spcPct val="90000"/>
              </a:lnSpc>
              <a:spcBef>
                <a:spcPct val="20000"/>
              </a:spcBef>
              <a:buFont typeface="Wingdings" charset="0"/>
              <a:buChar char="v"/>
            </a:pPr>
            <a:r>
              <a:rPr lang="en-US" dirty="0"/>
              <a:t>ERTs are supported by a </a:t>
            </a:r>
            <a:r>
              <a:rPr lang="en-US" dirty="0">
                <a:solidFill>
                  <a:srgbClr val="FF3300"/>
                </a:solidFill>
              </a:rPr>
              <a:t>wide array</a:t>
            </a:r>
            <a:r>
              <a:rPr lang="en-US" dirty="0"/>
              <a:t> of processors and processor architectures.</a:t>
            </a:r>
          </a:p>
          <a:p>
            <a:pPr marL="457200" indent="-457200" algn="just" rtl="0">
              <a:lnSpc>
                <a:spcPct val="90000"/>
              </a:lnSpc>
              <a:spcBef>
                <a:spcPct val="20000"/>
              </a:spcBef>
              <a:buFont typeface="Wingdings" charset="0"/>
              <a:buChar char="v"/>
            </a:pPr>
            <a:r>
              <a:rPr lang="en-US" dirty="0"/>
              <a:t>ERTs are usually </a:t>
            </a:r>
            <a:r>
              <a:rPr lang="en-US" dirty="0">
                <a:solidFill>
                  <a:srgbClr val="FF3300"/>
                </a:solidFill>
              </a:rPr>
              <a:t>cost sensitive</a:t>
            </a:r>
            <a:r>
              <a:rPr lang="en-US" dirty="0"/>
              <a:t>.</a:t>
            </a:r>
          </a:p>
          <a:p>
            <a:pPr marL="457200" indent="-457200" algn="just" rtl="0">
              <a:lnSpc>
                <a:spcPct val="90000"/>
              </a:lnSpc>
              <a:spcBef>
                <a:spcPct val="20000"/>
              </a:spcBef>
              <a:buFont typeface="Wingdings" charset="0"/>
              <a:buChar char="v"/>
            </a:pPr>
            <a:r>
              <a:rPr lang="en-US" dirty="0"/>
              <a:t>Implementation </a:t>
            </a:r>
            <a:r>
              <a:rPr lang="en-US" dirty="0">
                <a:solidFill>
                  <a:srgbClr val="FF3300"/>
                </a:solidFill>
              </a:rPr>
              <a:t>constraints</a:t>
            </a:r>
            <a:r>
              <a:rPr lang="en-US" dirty="0"/>
              <a:t> in ERTs are real-time, resources and size.</a:t>
            </a:r>
          </a:p>
          <a:p>
            <a:pPr marL="457200" indent="-457200" algn="just" rtl="0">
              <a:lnSpc>
                <a:spcPct val="90000"/>
              </a:lnSpc>
              <a:spcBef>
                <a:spcPct val="20000"/>
              </a:spcBef>
              <a:buFont typeface="Wingdings" charset="0"/>
              <a:buChar char="v"/>
            </a:pPr>
            <a:r>
              <a:rPr lang="en-US" dirty="0"/>
              <a:t>If an ERTs is using an OS at all, it is most likely using a real-time operating system (</a:t>
            </a:r>
            <a:r>
              <a:rPr lang="en-US" dirty="0">
                <a:solidFill>
                  <a:srgbClr val="FF3300"/>
                </a:solidFill>
              </a:rPr>
              <a:t>RTOS</a:t>
            </a:r>
            <a:r>
              <a:rPr lang="en-US" dirty="0"/>
              <a:t>). </a:t>
            </a:r>
          </a:p>
          <a:p>
            <a:pPr marL="457200" indent="-457200" algn="just" rtl="0">
              <a:lnSpc>
                <a:spcPct val="90000"/>
              </a:lnSpc>
              <a:spcBef>
                <a:spcPct val="20000"/>
              </a:spcBef>
              <a:buFont typeface="Wingdings" charset="0"/>
              <a:buChar char="v"/>
            </a:pPr>
            <a:r>
              <a:rPr lang="en-US" dirty="0"/>
              <a:t>The implications of software </a:t>
            </a:r>
            <a:r>
              <a:rPr lang="en-US" dirty="0">
                <a:solidFill>
                  <a:srgbClr val="FF3300"/>
                </a:solidFill>
              </a:rPr>
              <a:t>failure</a:t>
            </a:r>
            <a:r>
              <a:rPr lang="en-US" dirty="0"/>
              <a:t> is much more severe in ERT than in desktop systems and run continuously. </a:t>
            </a:r>
          </a:p>
          <a:p>
            <a:pPr marL="457200" indent="-457200" algn="just" rtl="0">
              <a:lnSpc>
                <a:spcPct val="90000"/>
              </a:lnSpc>
              <a:spcBef>
                <a:spcPct val="20000"/>
              </a:spcBef>
              <a:buFont typeface="Wingdings" charset="0"/>
              <a:buChar char="v"/>
            </a:pPr>
            <a:r>
              <a:rPr lang="en-US" dirty="0"/>
              <a:t>ERT require </a:t>
            </a:r>
            <a:r>
              <a:rPr lang="en-US" dirty="0">
                <a:solidFill>
                  <a:srgbClr val="FF3300"/>
                </a:solidFill>
              </a:rPr>
              <a:t>specialized tools</a:t>
            </a:r>
            <a:r>
              <a:rPr lang="en-US" dirty="0"/>
              <a:t> and methods to be efficiently designed.  </a:t>
            </a:r>
          </a:p>
          <a:p>
            <a:endParaRPr lang="en-US" dirty="0"/>
          </a:p>
        </p:txBody>
      </p:sp>
      <p:sp>
        <p:nvSpPr>
          <p:cNvPr id="4" name="Slide Number Placeholder 3"/>
          <p:cNvSpPr>
            <a:spLocks noGrp="1"/>
          </p:cNvSpPr>
          <p:nvPr>
            <p:ph type="sldNum" sz="quarter" idx="10"/>
          </p:nvPr>
        </p:nvSpPr>
        <p:spPr/>
        <p:txBody>
          <a:bodyPr/>
          <a:lstStyle/>
          <a:p>
            <a:fld id="{CA6A4D2C-0659-E04B-BBBD-EF6B6C26CF9F}" type="slidenum">
              <a:rPr lang="en-US" smtClean="0"/>
              <a:t>6</a:t>
            </a:fld>
            <a:endParaRPr lang="en-US"/>
          </a:p>
        </p:txBody>
      </p:sp>
    </p:spTree>
    <p:extLst>
      <p:ext uri="{BB962C8B-B14F-4D97-AF65-F5344CB8AC3E}">
        <p14:creationId xmlns:p14="http://schemas.microsoft.com/office/powerpoint/2010/main" val="2640649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6A4D2C-0659-E04B-BBBD-EF6B6C26CF9F}" type="slidenum">
              <a:rPr lang="en-US" smtClean="0"/>
              <a:t>7</a:t>
            </a:fld>
            <a:endParaRPr lang="en-US"/>
          </a:p>
        </p:txBody>
      </p:sp>
    </p:spTree>
    <p:extLst>
      <p:ext uri="{BB962C8B-B14F-4D97-AF65-F5344CB8AC3E}">
        <p14:creationId xmlns:p14="http://schemas.microsoft.com/office/powerpoint/2010/main" val="2640649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rtl="0">
              <a:lnSpc>
                <a:spcPct val="90000"/>
              </a:lnSpc>
              <a:spcBef>
                <a:spcPct val="20000"/>
              </a:spcBef>
              <a:buFont typeface="Wingdings" charset="0"/>
              <a:buChar char="v"/>
            </a:pPr>
            <a:r>
              <a:rPr lang="en-US" b="1" dirty="0"/>
              <a:t>Timeliness</a:t>
            </a:r>
            <a:endParaRPr lang="en-US" sz="2000" dirty="0"/>
          </a:p>
          <a:p>
            <a:pPr marL="914400" lvl="1" indent="-457200" algn="just" rtl="0">
              <a:lnSpc>
                <a:spcPct val="90000"/>
              </a:lnSpc>
              <a:spcBef>
                <a:spcPct val="20000"/>
              </a:spcBef>
              <a:buFont typeface="Wingdings" charset="0"/>
              <a:buChar char="ü"/>
            </a:pPr>
            <a:r>
              <a:rPr lang="en-US" dirty="0"/>
              <a:t>Reaction to stimuli </a:t>
            </a:r>
            <a:r>
              <a:rPr lang="ja-JP" altLang="en-US" dirty="0">
                <a:latin typeface="Arial" charset="0"/>
              </a:rPr>
              <a:t>“</a:t>
            </a:r>
            <a:r>
              <a:rPr lang="en-US" dirty="0"/>
              <a:t>on time</a:t>
            </a:r>
            <a:r>
              <a:rPr lang="ja-JP" altLang="en-US" dirty="0">
                <a:latin typeface="Arial" charset="0"/>
              </a:rPr>
              <a:t>”</a:t>
            </a:r>
            <a:r>
              <a:rPr lang="en-US" dirty="0"/>
              <a:t> (deadlines must be met)</a:t>
            </a:r>
            <a:endParaRPr lang="en-US" sz="2000" dirty="0"/>
          </a:p>
          <a:p>
            <a:pPr marL="914400" lvl="1" indent="-457200" algn="just" rtl="0">
              <a:lnSpc>
                <a:spcPct val="90000"/>
              </a:lnSpc>
              <a:spcBef>
                <a:spcPct val="20000"/>
              </a:spcBef>
              <a:buFont typeface="Wingdings" charset="0"/>
              <a:buChar char="ü"/>
            </a:pPr>
            <a:r>
              <a:rPr lang="en-US" dirty="0"/>
              <a:t>Relative and absolute timing constraints </a:t>
            </a:r>
          </a:p>
          <a:p>
            <a:pPr marL="914400" lvl="1" indent="-457200" algn="just" rtl="0">
              <a:lnSpc>
                <a:spcPct val="90000"/>
              </a:lnSpc>
              <a:spcBef>
                <a:spcPct val="20000"/>
              </a:spcBef>
              <a:buFont typeface="Wingdings" charset="0"/>
              <a:buNone/>
            </a:pPr>
            <a:endParaRPr lang="en-US" dirty="0"/>
          </a:p>
          <a:p>
            <a:pPr marL="457200" indent="-457200" algn="just" rtl="0">
              <a:lnSpc>
                <a:spcPct val="90000"/>
              </a:lnSpc>
              <a:spcBef>
                <a:spcPct val="20000"/>
              </a:spcBef>
              <a:buFont typeface="Wingdings" charset="0"/>
              <a:buChar char="v"/>
            </a:pPr>
            <a:r>
              <a:rPr lang="en-US" b="1" dirty="0"/>
              <a:t>Reliability</a:t>
            </a:r>
            <a:endParaRPr lang="en-US" dirty="0"/>
          </a:p>
          <a:p>
            <a:pPr marL="914400" lvl="1" indent="-457200" algn="just" rtl="0">
              <a:lnSpc>
                <a:spcPct val="90000"/>
              </a:lnSpc>
              <a:spcBef>
                <a:spcPct val="20000"/>
              </a:spcBef>
              <a:buFont typeface="Wingdings" charset="0"/>
              <a:buChar char="ü"/>
            </a:pPr>
            <a:r>
              <a:rPr lang="en-US" dirty="0"/>
              <a:t>Many errors have roots in incorrect specification </a:t>
            </a:r>
          </a:p>
          <a:p>
            <a:pPr marL="914400" lvl="1" indent="-457200" algn="just" rtl="0">
              <a:lnSpc>
                <a:spcPct val="90000"/>
              </a:lnSpc>
              <a:spcBef>
                <a:spcPct val="20000"/>
              </a:spcBef>
              <a:buFont typeface="Wingdings" charset="0"/>
              <a:buChar char="ü"/>
            </a:pPr>
            <a:r>
              <a:rPr lang="en-US" dirty="0"/>
              <a:t>Formal techniques needed for safety-critical systems </a:t>
            </a:r>
          </a:p>
          <a:p>
            <a:pPr marL="914400" lvl="1" indent="-457200" algn="just" rtl="0">
              <a:lnSpc>
                <a:spcPct val="90000"/>
              </a:lnSpc>
              <a:spcBef>
                <a:spcPct val="20000"/>
              </a:spcBef>
              <a:buFont typeface="Wingdings" charset="0"/>
              <a:buNone/>
            </a:pPr>
            <a:endParaRPr lang="en-US" dirty="0"/>
          </a:p>
          <a:p>
            <a:pPr marL="457200" indent="-457200" algn="just" rtl="0">
              <a:lnSpc>
                <a:spcPct val="90000"/>
              </a:lnSpc>
              <a:spcBef>
                <a:spcPct val="20000"/>
              </a:spcBef>
              <a:buFont typeface="Wingdings" charset="0"/>
              <a:buChar char="v"/>
            </a:pPr>
            <a:r>
              <a:rPr lang="en-US" b="1" dirty="0"/>
              <a:t>Intensive dynamics</a:t>
            </a:r>
            <a:endParaRPr lang="en-US" dirty="0"/>
          </a:p>
          <a:p>
            <a:pPr marL="914400" lvl="1" indent="-457200" algn="just" rtl="0">
              <a:lnSpc>
                <a:spcPct val="90000"/>
              </a:lnSpc>
              <a:spcBef>
                <a:spcPct val="20000"/>
              </a:spcBef>
              <a:buFont typeface="Wingdings" charset="0"/>
              <a:buChar char="ü"/>
            </a:pPr>
            <a:r>
              <a:rPr lang="en-US" dirty="0"/>
              <a:t>Models to describe behavior are necessary (based on finite state machines). </a:t>
            </a:r>
          </a:p>
          <a:p>
            <a:pPr marL="914400" lvl="1" indent="-457200" algn="just" rtl="0">
              <a:lnSpc>
                <a:spcPct val="90000"/>
              </a:lnSpc>
              <a:spcBef>
                <a:spcPct val="20000"/>
              </a:spcBef>
              <a:buFont typeface="Wingdings" charset="0"/>
              <a:buChar char="ü"/>
            </a:pPr>
            <a:r>
              <a:rPr lang="en-US" dirty="0"/>
              <a:t>Systems can adapt to situation changes</a:t>
            </a:r>
          </a:p>
          <a:p>
            <a:pPr marL="914400" lvl="1" indent="-457200" algn="just" rtl="0">
              <a:lnSpc>
                <a:spcPct val="90000"/>
              </a:lnSpc>
              <a:spcBef>
                <a:spcPct val="20000"/>
              </a:spcBef>
              <a:buFont typeface="Wingdings" charset="0"/>
              <a:buChar char="ü"/>
            </a:pPr>
            <a:endParaRPr lang="en-US" dirty="0"/>
          </a:p>
          <a:p>
            <a:pPr marL="457200" indent="-457200" algn="just" rtl="0">
              <a:lnSpc>
                <a:spcPct val="90000"/>
              </a:lnSpc>
              <a:spcBef>
                <a:spcPct val="20000"/>
              </a:spcBef>
              <a:buFont typeface="Wingdings" charset="0"/>
              <a:buChar char="v"/>
            </a:pPr>
            <a:r>
              <a:rPr lang="en-US" b="1" dirty="0"/>
              <a:t>Exception handling</a:t>
            </a:r>
            <a:endParaRPr lang="en-US" dirty="0"/>
          </a:p>
          <a:p>
            <a:pPr marL="914400" lvl="1" indent="-457200" algn="just" rtl="0">
              <a:lnSpc>
                <a:spcPct val="90000"/>
              </a:lnSpc>
              <a:spcBef>
                <a:spcPct val="20000"/>
              </a:spcBef>
              <a:buFont typeface="Wingdings" charset="0"/>
              <a:buChar char="ü"/>
            </a:pPr>
            <a:r>
              <a:rPr lang="en-US" dirty="0"/>
              <a:t>Priorities should be assigned to stimuli/events</a:t>
            </a:r>
          </a:p>
          <a:p>
            <a:pPr marL="914400" lvl="1" indent="-457200" algn="just" rtl="0">
              <a:lnSpc>
                <a:spcPct val="90000"/>
              </a:lnSpc>
              <a:spcBef>
                <a:spcPct val="20000"/>
              </a:spcBef>
              <a:buFont typeface="Wingdings" charset="0"/>
              <a:buChar char="ü"/>
            </a:pPr>
            <a:r>
              <a:rPr lang="en-US" dirty="0"/>
              <a:t>Mechanisms for handling interrupts need be developed</a:t>
            </a:r>
          </a:p>
          <a:p>
            <a:pPr marL="457200" indent="-457200" algn="just" rtl="0">
              <a:lnSpc>
                <a:spcPct val="90000"/>
              </a:lnSpc>
              <a:spcBef>
                <a:spcPct val="20000"/>
              </a:spcBef>
              <a:buFont typeface="Wingdings" charset="0"/>
              <a:buChar char="v"/>
            </a:pPr>
            <a:r>
              <a:rPr lang="en-US" b="1" dirty="0"/>
              <a:t>Concurrency</a:t>
            </a:r>
            <a:endParaRPr lang="en-US" sz="2000" dirty="0"/>
          </a:p>
          <a:p>
            <a:pPr marL="914400" lvl="1" indent="-457200" algn="just" rtl="0">
              <a:lnSpc>
                <a:spcPct val="90000"/>
              </a:lnSpc>
              <a:spcBef>
                <a:spcPct val="20000"/>
              </a:spcBef>
              <a:buFont typeface="Wingdings" charset="0"/>
              <a:buChar char="ü"/>
            </a:pPr>
            <a:r>
              <a:rPr lang="en-US" dirty="0"/>
              <a:t>Parallel tasks are inherent in RTS</a:t>
            </a:r>
            <a:endParaRPr lang="en-US" sz="2000" dirty="0"/>
          </a:p>
          <a:p>
            <a:pPr marL="914400" lvl="1" indent="-457200" algn="just" rtl="0">
              <a:lnSpc>
                <a:spcPct val="90000"/>
              </a:lnSpc>
              <a:spcBef>
                <a:spcPct val="20000"/>
              </a:spcBef>
              <a:buFont typeface="Wingdings" charset="0"/>
              <a:buChar char="ü"/>
            </a:pPr>
            <a:r>
              <a:rPr lang="en-US" dirty="0"/>
              <a:t>The environment is also </a:t>
            </a:r>
            <a:r>
              <a:rPr lang="ja-JP" altLang="en-US" dirty="0">
                <a:latin typeface="Arial" charset="0"/>
              </a:rPr>
              <a:t>“</a:t>
            </a:r>
            <a:r>
              <a:rPr lang="en-US" dirty="0"/>
              <a:t>concurrent</a:t>
            </a:r>
            <a:r>
              <a:rPr lang="ja-JP" altLang="en-US" dirty="0">
                <a:latin typeface="Arial" charset="0"/>
              </a:rPr>
              <a:t>”</a:t>
            </a:r>
            <a:r>
              <a:rPr lang="en-US" dirty="0"/>
              <a:t> in nature</a:t>
            </a:r>
          </a:p>
          <a:p>
            <a:pPr marL="914400" lvl="1" indent="-457200" algn="just" rtl="0">
              <a:lnSpc>
                <a:spcPct val="90000"/>
              </a:lnSpc>
              <a:spcBef>
                <a:spcPct val="20000"/>
              </a:spcBef>
              <a:buFont typeface="Wingdings" charset="0"/>
              <a:buNone/>
            </a:pPr>
            <a:endParaRPr lang="en-US" dirty="0"/>
          </a:p>
          <a:p>
            <a:pPr marL="457200" indent="-457200" algn="just" rtl="0">
              <a:lnSpc>
                <a:spcPct val="90000"/>
              </a:lnSpc>
              <a:spcBef>
                <a:spcPct val="20000"/>
              </a:spcBef>
              <a:buFont typeface="Wingdings" charset="0"/>
              <a:buChar char="v"/>
            </a:pPr>
            <a:r>
              <a:rPr lang="en-US" b="1" dirty="0"/>
              <a:t>Distribution &amp; resource allocation</a:t>
            </a:r>
            <a:endParaRPr lang="en-US" dirty="0"/>
          </a:p>
          <a:p>
            <a:pPr marL="914400" lvl="1" indent="-457200" algn="just" rtl="0">
              <a:lnSpc>
                <a:spcPct val="90000"/>
              </a:lnSpc>
              <a:spcBef>
                <a:spcPct val="20000"/>
              </a:spcBef>
              <a:buFont typeface="Wingdings" charset="0"/>
              <a:buChar char="ü"/>
            </a:pPr>
            <a:r>
              <a:rPr lang="en-US" dirty="0"/>
              <a:t>Distribution is not necessarily a characteristic of RTS, but should be taken into consideration in larger applications</a:t>
            </a:r>
          </a:p>
          <a:p>
            <a:pPr marL="914400" lvl="1" indent="-457200" algn="just" rtl="0">
              <a:lnSpc>
                <a:spcPct val="90000"/>
              </a:lnSpc>
              <a:spcBef>
                <a:spcPct val="20000"/>
              </a:spcBef>
              <a:buFont typeface="Wingdings" charset="0"/>
              <a:buNone/>
            </a:pPr>
            <a:endParaRPr lang="en-US" dirty="0"/>
          </a:p>
          <a:p>
            <a:pPr marL="457200" indent="-457200" algn="just" rtl="0">
              <a:lnSpc>
                <a:spcPct val="90000"/>
              </a:lnSpc>
              <a:spcBef>
                <a:spcPct val="20000"/>
              </a:spcBef>
              <a:buFont typeface="Wingdings" charset="0"/>
              <a:buChar char="v"/>
            </a:pPr>
            <a:r>
              <a:rPr lang="en-US" b="1" dirty="0"/>
              <a:t>Communication and synchronization</a:t>
            </a:r>
            <a:endParaRPr lang="en-US" dirty="0"/>
          </a:p>
          <a:p>
            <a:pPr marL="914400" lvl="1" indent="-457200" algn="just" rtl="0">
              <a:lnSpc>
                <a:spcPct val="90000"/>
              </a:lnSpc>
              <a:spcBef>
                <a:spcPct val="20000"/>
              </a:spcBef>
              <a:buFont typeface="Wingdings" charset="0"/>
              <a:buChar char="ü"/>
            </a:pPr>
            <a:r>
              <a:rPr lang="en-US" dirty="0"/>
              <a:t>Synchronous and asynchronous communication mechanisms should be designed</a:t>
            </a:r>
          </a:p>
          <a:p>
            <a:pPr marL="914400" lvl="1" indent="-457200" algn="just" rtl="0">
              <a:lnSpc>
                <a:spcPct val="90000"/>
              </a:lnSpc>
              <a:spcBef>
                <a:spcPct val="20000"/>
              </a:spcBef>
              <a:buFont typeface="Wingdings" charset="0"/>
              <a:buNone/>
            </a:pPr>
            <a:endParaRPr lang="en-US" dirty="0"/>
          </a:p>
          <a:p>
            <a:pPr marL="457200" indent="-457200" algn="just" rtl="0">
              <a:lnSpc>
                <a:spcPct val="90000"/>
              </a:lnSpc>
              <a:spcBef>
                <a:spcPct val="20000"/>
              </a:spcBef>
              <a:buFont typeface="Wingdings" charset="0"/>
              <a:buChar char="v"/>
            </a:pPr>
            <a:r>
              <a:rPr lang="en-US" b="1" dirty="0"/>
              <a:t>Size</a:t>
            </a:r>
            <a:endParaRPr lang="en-US" dirty="0"/>
          </a:p>
          <a:p>
            <a:pPr marL="914400" lvl="1" indent="-457200" algn="just" rtl="0">
              <a:lnSpc>
                <a:spcPct val="90000"/>
              </a:lnSpc>
              <a:spcBef>
                <a:spcPct val="20000"/>
              </a:spcBef>
              <a:buFont typeface="Wingdings" charset="0"/>
              <a:buChar char="ü"/>
            </a:pPr>
            <a:r>
              <a:rPr lang="en-US" dirty="0"/>
              <a:t>In larger applications, there are numerous processes and threads</a:t>
            </a:r>
          </a:p>
          <a:p>
            <a:pPr marL="914400" lvl="1" indent="-457200" algn="just" rtl="0">
              <a:lnSpc>
                <a:spcPct val="90000"/>
              </a:lnSpc>
              <a:spcBef>
                <a:spcPct val="20000"/>
              </a:spcBef>
              <a:buFont typeface="Wingdings" charset="0"/>
              <a:buChar char="ü"/>
            </a:pPr>
            <a:r>
              <a:rPr lang="en-US" dirty="0"/>
              <a:t>Size is associated with continuous change </a:t>
            </a:r>
          </a:p>
          <a:p>
            <a:pPr marL="914400" lvl="1" indent="-457200" algn="just" rtl="0">
              <a:lnSpc>
                <a:spcPct val="90000"/>
              </a:lnSpc>
              <a:spcBef>
                <a:spcPct val="20000"/>
              </a:spcBef>
              <a:buFont typeface="Wingdings" charset="0"/>
              <a:buChar char="ü"/>
            </a:pPr>
            <a:r>
              <a:rPr lang="en-US" dirty="0"/>
              <a:t>Decomposition in smaller units is needed, as are mechanisms for modeling hierarchical structures</a:t>
            </a:r>
          </a:p>
          <a:p>
            <a:pPr marL="914400" lvl="1" indent="-457200" algn="just" rtl="0">
              <a:lnSpc>
                <a:spcPct val="90000"/>
              </a:lnSpc>
              <a:spcBef>
                <a:spcPct val="20000"/>
              </a:spcBef>
              <a:buFont typeface="Wingdings" charset="0"/>
              <a:buChar char="ü"/>
            </a:pPr>
            <a:endParaRPr lang="en-US" dirty="0"/>
          </a:p>
          <a:p>
            <a:endParaRPr lang="en-US" dirty="0"/>
          </a:p>
        </p:txBody>
      </p:sp>
      <p:sp>
        <p:nvSpPr>
          <p:cNvPr id="4" name="Slide Number Placeholder 3"/>
          <p:cNvSpPr>
            <a:spLocks noGrp="1"/>
          </p:cNvSpPr>
          <p:nvPr>
            <p:ph type="sldNum" sz="quarter" idx="10"/>
          </p:nvPr>
        </p:nvSpPr>
        <p:spPr/>
        <p:txBody>
          <a:bodyPr/>
          <a:lstStyle/>
          <a:p>
            <a:fld id="{CA6A4D2C-0659-E04B-BBBD-EF6B6C26CF9F}" type="slidenum">
              <a:rPr lang="en-US" smtClean="0"/>
              <a:t>8</a:t>
            </a:fld>
            <a:endParaRPr lang="en-US"/>
          </a:p>
        </p:txBody>
      </p:sp>
    </p:spTree>
    <p:extLst>
      <p:ext uri="{BB962C8B-B14F-4D97-AF65-F5344CB8AC3E}">
        <p14:creationId xmlns:p14="http://schemas.microsoft.com/office/powerpoint/2010/main" val="2640649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ACDB3CC-F982-40F9-8DD6-BCC9AFBF44BD}" type="datetime1">
              <a:rPr lang="en-US" smtClean="0"/>
              <a:pPr/>
              <a:t>1/28/19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F88E988-FB04-AB4E-BE5A-59F242AF7F7A}" type="slidenum">
              <a:rPr lang="en-US" smtClean="0"/>
              <a:t>‹#›</a:t>
            </a:fld>
            <a:endParaRPr lang="en-US"/>
          </a:p>
        </p:txBody>
      </p:sp>
    </p:spTree>
    <p:extLst>
      <p:ext uri="{BB962C8B-B14F-4D97-AF65-F5344CB8AC3E}">
        <p14:creationId xmlns:p14="http://schemas.microsoft.com/office/powerpoint/2010/main" val="1728351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C2560D-EC28-3B41-86E8-18F1CE0113B4}" type="datetimeFigureOut">
              <a:rPr lang="en-US" smtClean="0"/>
              <a:t>1/28/19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3220382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9E7B99-7C3F-4BC3-B7B8-7E1F8C620B24}" type="datetime1">
              <a:rPr lang="en-US" smtClean="0"/>
              <a:pPr/>
              <a:t>1/28/19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AF2B4D-6B12-4EDF-87BB-2B55CECB6611}" type="slidenum">
              <a:rPr lang="en-US" smtClean="0"/>
              <a:pPr/>
              <a:t>‹#›</a:t>
            </a:fld>
            <a:endParaRPr lang="en-US"/>
          </a:p>
        </p:txBody>
      </p:sp>
    </p:spTree>
    <p:extLst>
      <p:ext uri="{BB962C8B-B14F-4D97-AF65-F5344CB8AC3E}">
        <p14:creationId xmlns:p14="http://schemas.microsoft.com/office/powerpoint/2010/main" val="1122394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C2560D-EC28-3B41-86E8-18F1CE0113B4}" type="datetimeFigureOut">
              <a:rPr lang="en-US" smtClean="0"/>
              <a:t>1/28/19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1260594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8C2560D-EC28-3B41-86E8-18F1CE0113B4}" type="datetimeFigureOut">
              <a:rPr lang="en-US" smtClean="0"/>
              <a:t>1/28/19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2486824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C2560D-EC28-3B41-86E8-18F1CE0113B4}" type="datetimeFigureOut">
              <a:rPr lang="en-US" smtClean="0"/>
              <a:t>1/28/19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1084712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C2560D-EC28-3B41-86E8-18F1CE0113B4}" type="datetimeFigureOut">
              <a:rPr lang="en-US" smtClean="0"/>
              <a:t>1/28/19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1249224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C2560D-EC28-3B41-86E8-18F1CE0113B4}" type="datetimeFigureOut">
              <a:rPr lang="en-US" smtClean="0"/>
              <a:t>1/28/19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dirty="0">
              <a:solidFill>
                <a:schemeClr val="accent3">
                  <a:shade val="75000"/>
                </a:schemeClr>
              </a:solidFill>
            </a:endParaRPr>
          </a:p>
        </p:txBody>
      </p:sp>
    </p:spTree>
    <p:extLst>
      <p:ext uri="{BB962C8B-B14F-4D97-AF65-F5344CB8AC3E}">
        <p14:creationId xmlns:p14="http://schemas.microsoft.com/office/powerpoint/2010/main" val="1218220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C2560D-EC28-3B41-86E8-18F1CE0113B4}" type="datetimeFigureOut">
              <a:rPr lang="en-US" smtClean="0"/>
              <a:t>1/28/19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3615983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C2560D-EC28-3B41-86E8-18F1CE0113B4}" type="datetimeFigureOut">
              <a:rPr lang="en-US" smtClean="0"/>
              <a:t>1/28/19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3723317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C2560D-EC28-3B41-86E8-18F1CE0113B4}" type="datetimeFigureOut">
              <a:rPr lang="en-US" smtClean="0"/>
              <a:t>1/28/19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2417996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C2560D-EC28-3B41-86E8-18F1CE0113B4}" type="datetimeFigureOut">
              <a:rPr lang="en-US" smtClean="0"/>
              <a:t>1/28/19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66355A-084C-D24E-9AD2-7E4FC41EA627}" type="slidenum">
              <a:rPr lang="en-US" smtClean="0"/>
              <a:t>‹#›</a:t>
            </a:fld>
            <a:endParaRPr lang="en-US"/>
          </a:p>
        </p:txBody>
      </p:sp>
    </p:spTree>
    <p:extLst>
      <p:ext uri="{BB962C8B-B14F-4D97-AF65-F5344CB8AC3E}">
        <p14:creationId xmlns:p14="http://schemas.microsoft.com/office/powerpoint/2010/main" val="3693843513"/>
      </p:ext>
    </p:extLst>
  </p:cSld>
  <p:clrMap bg1="lt1" tx1="dk1" bg2="lt2" tx2="dk2" accent1="accent1" accent2="accent2" accent3="accent3" accent4="accent4" accent5="accent5" accent6="accent6" hlink="hlink" folHlink="folHlink"/>
  <p:sldLayoutIdLst>
    <p:sldLayoutId id="2147493456" r:id="rId1"/>
    <p:sldLayoutId id="2147493457" r:id="rId2"/>
    <p:sldLayoutId id="2147493458" r:id="rId3"/>
    <p:sldLayoutId id="2147493459" r:id="rId4"/>
    <p:sldLayoutId id="2147493460" r:id="rId5"/>
    <p:sldLayoutId id="2147493461" r:id="rId6"/>
    <p:sldLayoutId id="2147493462" r:id="rId7"/>
    <p:sldLayoutId id="2147493463" r:id="rId8"/>
    <p:sldLayoutId id="2147493464" r:id="rId9"/>
    <p:sldLayoutId id="2147493465" r:id="rId10"/>
    <p:sldLayoutId id="2147493466"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2.xml"/><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1.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513180" y="0"/>
            <a:ext cx="5630820" cy="5028603"/>
          </a:xfrm>
          <a:prstGeom prst="rect">
            <a:avLst/>
          </a:prstGeom>
        </p:spPr>
      </p:pic>
      <p:sp>
        <p:nvSpPr>
          <p:cNvPr id="7" name="Rectangle 6"/>
          <p:cNvSpPr/>
          <p:nvPr/>
        </p:nvSpPr>
        <p:spPr>
          <a:xfrm>
            <a:off x="0" y="1638649"/>
            <a:ext cx="3513180" cy="1741064"/>
          </a:xfrm>
          <a:prstGeom prst="rect">
            <a:avLst/>
          </a:prstGeom>
          <a:solidFill>
            <a:srgbClr val="E46C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Helvetica Neue Light"/>
                <a:cs typeface="Helvetica Neue Light"/>
              </a:rPr>
              <a:t>Real-time Software Engineering</a:t>
            </a:r>
          </a:p>
          <a:p>
            <a:pPr algn="ctr"/>
            <a:r>
              <a:rPr lang="en-US" dirty="0">
                <a:latin typeface="Helvetica Neue Light"/>
                <a:cs typeface="Helvetica Neue Light"/>
              </a:rPr>
              <a:t>(RTSE)</a:t>
            </a:r>
          </a:p>
          <a:p>
            <a:pPr algn="ctr"/>
            <a:endParaRPr lang="en-US" dirty="0">
              <a:latin typeface="Helvetica Neue Light"/>
              <a:cs typeface="Helvetica Neue Light"/>
            </a:endParaRPr>
          </a:p>
        </p:txBody>
      </p:sp>
      <p:sp>
        <p:nvSpPr>
          <p:cNvPr id="9" name="Rectangle 8"/>
          <p:cNvSpPr/>
          <p:nvPr/>
        </p:nvSpPr>
        <p:spPr>
          <a:xfrm>
            <a:off x="4291612" y="5028603"/>
            <a:ext cx="4043230" cy="1829397"/>
          </a:xfrm>
          <a:prstGeom prst="rect">
            <a:avLst/>
          </a:prstGeom>
          <a:solidFill>
            <a:srgbClr val="E46C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Helvetica Neue Light"/>
                <a:cs typeface="Helvetica Neue Light"/>
              </a:rPr>
              <a:t>Department of software engineering</a:t>
            </a:r>
          </a:p>
          <a:p>
            <a:pPr algn="ctr"/>
            <a:r>
              <a:rPr lang="en-US" dirty="0">
                <a:latin typeface="Helvetica Neue Light"/>
                <a:cs typeface="Helvetica Neue Light"/>
              </a:rPr>
              <a:t>Faculty of Computing</a:t>
            </a:r>
          </a:p>
          <a:p>
            <a:pPr algn="ctr"/>
            <a:r>
              <a:rPr lang="en-US" dirty="0">
                <a:latin typeface="Helvetica Neue Light"/>
                <a:cs typeface="Helvetica Neue Light"/>
              </a:rPr>
              <a:t>UTM</a:t>
            </a:r>
          </a:p>
        </p:txBody>
      </p:sp>
    </p:spTree>
    <p:extLst>
      <p:ext uri="{BB962C8B-B14F-4D97-AF65-F5344CB8AC3E}">
        <p14:creationId xmlns:p14="http://schemas.microsoft.com/office/powerpoint/2010/main" val="265022163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954"/>
            <a:ext cx="1364657" cy="369332"/>
          </a:xfrm>
          <a:prstGeom prst="rect">
            <a:avLst/>
          </a:prstGeom>
          <a:noFill/>
        </p:spPr>
        <p:txBody>
          <a:bodyPr wrap="none" rtlCol="0">
            <a:spAutoFit/>
          </a:bodyPr>
          <a:lstStyle/>
          <a:p>
            <a:r>
              <a:rPr lang="en-US" dirty="0">
                <a:solidFill>
                  <a:schemeClr val="tx1">
                    <a:lumMod val="50000"/>
                    <a:lumOff val="50000"/>
                  </a:schemeClr>
                </a:solidFill>
                <a:latin typeface="Helvetica Neue Light"/>
                <a:cs typeface="Helvetica Neue Light"/>
              </a:rPr>
              <a:t>Introduction</a:t>
            </a:r>
          </a:p>
        </p:txBody>
      </p:sp>
      <p:sp>
        <p:nvSpPr>
          <p:cNvPr id="5" name="Rectangle 4"/>
          <p:cNvSpPr/>
          <p:nvPr/>
        </p:nvSpPr>
        <p:spPr>
          <a:xfrm>
            <a:off x="0" y="373508"/>
            <a:ext cx="9144000" cy="8736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dirty="0">
              <a:latin typeface="Helvetica Neue Light"/>
              <a:cs typeface="Helvetica Neue Light"/>
            </a:endParaRPr>
          </a:p>
        </p:txBody>
      </p:sp>
      <p:sp>
        <p:nvSpPr>
          <p:cNvPr id="6" name="Rectangle 5"/>
          <p:cNvSpPr/>
          <p:nvPr/>
        </p:nvSpPr>
        <p:spPr>
          <a:xfrm>
            <a:off x="0" y="6339521"/>
            <a:ext cx="9144000" cy="518478"/>
          </a:xfrm>
          <a:prstGeom prst="rect">
            <a:avLst/>
          </a:prstGeom>
          <a:solidFill>
            <a:srgbClr val="31859C"/>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nchorCtr="0"/>
          <a:lstStyle/>
          <a:p>
            <a:endParaRPr lang="en-US" sz="2800" dirty="0">
              <a:latin typeface="Helvetica Neue Light"/>
              <a:cs typeface="Helvetica Neue Light"/>
            </a:endParaRPr>
          </a:p>
        </p:txBody>
      </p:sp>
      <p:sp>
        <p:nvSpPr>
          <p:cNvPr id="7" name="Rectangle 6"/>
          <p:cNvSpPr/>
          <p:nvPr/>
        </p:nvSpPr>
        <p:spPr>
          <a:xfrm>
            <a:off x="0" y="6339521"/>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Tips</a:t>
            </a:r>
          </a:p>
        </p:txBody>
      </p:sp>
      <p:sp>
        <p:nvSpPr>
          <p:cNvPr id="9" name="TextBox 8"/>
          <p:cNvSpPr txBox="1"/>
          <p:nvPr/>
        </p:nvSpPr>
        <p:spPr>
          <a:xfrm>
            <a:off x="94278" y="539298"/>
            <a:ext cx="2787943" cy="307777"/>
          </a:xfrm>
          <a:prstGeom prst="rect">
            <a:avLst/>
          </a:prstGeom>
          <a:noFill/>
        </p:spPr>
        <p:txBody>
          <a:bodyPr wrap="none" rtlCol="0">
            <a:spAutoFit/>
          </a:bodyPr>
          <a:lstStyle/>
          <a:p>
            <a:pPr marL="285750" indent="-285750">
              <a:buFont typeface="Wingdings" charset="2"/>
              <a:buChar char="ü"/>
            </a:pPr>
            <a:r>
              <a:rPr lang="en-US" sz="1400" dirty="0">
                <a:latin typeface="Helvetica Neue Light"/>
                <a:cs typeface="Helvetica Neue Light"/>
              </a:rPr>
              <a:t>Current and future technology</a:t>
            </a:r>
            <a:endParaRPr lang="en-US" sz="1400" dirty="0">
              <a:solidFill>
                <a:srgbClr val="FF0000"/>
              </a:solidFill>
              <a:latin typeface="Helvetica Neue Light"/>
              <a:cs typeface="Helvetica Neue Light"/>
            </a:endParaRPr>
          </a:p>
        </p:txBody>
      </p:sp>
      <p:pic>
        <p:nvPicPr>
          <p:cNvPr id="2" name="Picture 1"/>
          <p:cNvPicPr>
            <a:picLocks noChangeAspect="1"/>
          </p:cNvPicPr>
          <p:nvPr/>
        </p:nvPicPr>
        <p:blipFill>
          <a:blip r:embed="rId2"/>
          <a:stretch>
            <a:fillRect/>
          </a:stretch>
        </p:blipFill>
        <p:spPr>
          <a:xfrm>
            <a:off x="5868958" y="656346"/>
            <a:ext cx="2992948" cy="1893801"/>
          </a:xfrm>
          <a:prstGeom prst="rect">
            <a:avLst/>
          </a:prstGeom>
        </p:spPr>
      </p:pic>
      <p:pic>
        <p:nvPicPr>
          <p:cNvPr id="3" name="Picture 2"/>
          <p:cNvPicPr>
            <a:picLocks noChangeAspect="1"/>
          </p:cNvPicPr>
          <p:nvPr/>
        </p:nvPicPr>
        <p:blipFill>
          <a:blip r:embed="rId3"/>
          <a:stretch>
            <a:fillRect/>
          </a:stretch>
        </p:blipFill>
        <p:spPr>
          <a:xfrm>
            <a:off x="280495" y="974457"/>
            <a:ext cx="3810000" cy="2857500"/>
          </a:xfrm>
          <a:prstGeom prst="rect">
            <a:avLst/>
          </a:prstGeom>
        </p:spPr>
      </p:pic>
      <p:pic>
        <p:nvPicPr>
          <p:cNvPr id="13" name="Picture 12"/>
          <p:cNvPicPr>
            <a:picLocks noChangeAspect="1"/>
          </p:cNvPicPr>
          <p:nvPr/>
        </p:nvPicPr>
        <p:blipFill>
          <a:blip r:embed="rId4"/>
          <a:stretch>
            <a:fillRect/>
          </a:stretch>
        </p:blipFill>
        <p:spPr>
          <a:xfrm>
            <a:off x="4391854" y="2975495"/>
            <a:ext cx="4500852" cy="3004106"/>
          </a:xfrm>
          <a:prstGeom prst="rect">
            <a:avLst/>
          </a:prstGeom>
        </p:spPr>
      </p:pic>
      <p:sp>
        <p:nvSpPr>
          <p:cNvPr id="15" name="TextBox 14"/>
          <p:cNvSpPr txBox="1"/>
          <p:nvPr/>
        </p:nvSpPr>
        <p:spPr>
          <a:xfrm>
            <a:off x="1364657" y="6458073"/>
            <a:ext cx="5771766" cy="307777"/>
          </a:xfrm>
          <a:prstGeom prst="rect">
            <a:avLst/>
          </a:prstGeom>
          <a:noFill/>
        </p:spPr>
        <p:txBody>
          <a:bodyPr wrap="none" rtlCol="0">
            <a:spAutoFit/>
          </a:bodyPr>
          <a:lstStyle/>
          <a:p>
            <a:r>
              <a:rPr lang="en-US" sz="1400" dirty="0">
                <a:solidFill>
                  <a:schemeClr val="bg1"/>
                </a:solidFill>
                <a:latin typeface="Helvetica Neue Light"/>
                <a:cs typeface="Helvetica Neue Light"/>
              </a:rPr>
              <a:t>How to develop this system with a proper software engineering concept?</a:t>
            </a:r>
          </a:p>
        </p:txBody>
      </p:sp>
      <p:pic>
        <p:nvPicPr>
          <p:cNvPr id="8" name="Picture 7"/>
          <p:cNvPicPr>
            <a:picLocks noChangeAspect="1"/>
          </p:cNvPicPr>
          <p:nvPr/>
        </p:nvPicPr>
        <p:blipFill>
          <a:blip r:embed="rId5"/>
          <a:stretch>
            <a:fillRect/>
          </a:stretch>
        </p:blipFill>
        <p:spPr>
          <a:xfrm>
            <a:off x="0" y="3831957"/>
            <a:ext cx="4090496" cy="2507564"/>
          </a:xfrm>
          <a:prstGeom prst="rect">
            <a:avLst/>
          </a:prstGeom>
        </p:spPr>
      </p:pic>
    </p:spTree>
    <p:extLst>
      <p:ext uri="{BB962C8B-B14F-4D97-AF65-F5344CB8AC3E}">
        <p14:creationId xmlns:p14="http://schemas.microsoft.com/office/powerpoint/2010/main" val="242984424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954"/>
            <a:ext cx="1364657" cy="369332"/>
          </a:xfrm>
          <a:prstGeom prst="rect">
            <a:avLst/>
          </a:prstGeom>
          <a:noFill/>
        </p:spPr>
        <p:txBody>
          <a:bodyPr wrap="none" rtlCol="0">
            <a:spAutoFit/>
          </a:bodyPr>
          <a:lstStyle/>
          <a:p>
            <a:r>
              <a:rPr lang="en-US" dirty="0">
                <a:solidFill>
                  <a:schemeClr val="tx1">
                    <a:lumMod val="50000"/>
                    <a:lumOff val="50000"/>
                  </a:schemeClr>
                </a:solidFill>
                <a:latin typeface="Helvetica Neue Light"/>
                <a:cs typeface="Helvetica Neue Light"/>
              </a:rPr>
              <a:t>Introduction</a:t>
            </a:r>
          </a:p>
        </p:txBody>
      </p:sp>
      <p:sp>
        <p:nvSpPr>
          <p:cNvPr id="5" name="Rectangle 4"/>
          <p:cNvSpPr/>
          <p:nvPr/>
        </p:nvSpPr>
        <p:spPr>
          <a:xfrm>
            <a:off x="0" y="373508"/>
            <a:ext cx="9144000" cy="8736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dirty="0">
              <a:latin typeface="Helvetica Neue Light"/>
              <a:cs typeface="Helvetica Neue Light"/>
            </a:endParaRPr>
          </a:p>
        </p:txBody>
      </p:sp>
      <p:sp>
        <p:nvSpPr>
          <p:cNvPr id="6" name="Rectangle 5"/>
          <p:cNvSpPr/>
          <p:nvPr/>
        </p:nvSpPr>
        <p:spPr>
          <a:xfrm>
            <a:off x="0" y="6339521"/>
            <a:ext cx="9144000" cy="518478"/>
          </a:xfrm>
          <a:prstGeom prst="rect">
            <a:avLst/>
          </a:prstGeom>
          <a:solidFill>
            <a:srgbClr val="31859C"/>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nchorCtr="0"/>
          <a:lstStyle/>
          <a:p>
            <a:endParaRPr lang="en-US" sz="2800" dirty="0">
              <a:latin typeface="Helvetica Neue Light"/>
              <a:cs typeface="Helvetica Neue Light"/>
            </a:endParaRPr>
          </a:p>
        </p:txBody>
      </p:sp>
      <p:sp>
        <p:nvSpPr>
          <p:cNvPr id="7" name="Rectangle 6"/>
          <p:cNvSpPr/>
          <p:nvPr/>
        </p:nvSpPr>
        <p:spPr>
          <a:xfrm>
            <a:off x="0" y="6339521"/>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Tips</a:t>
            </a:r>
          </a:p>
        </p:txBody>
      </p:sp>
      <p:sp>
        <p:nvSpPr>
          <p:cNvPr id="9" name="TextBox 8"/>
          <p:cNvSpPr txBox="1"/>
          <p:nvPr/>
        </p:nvSpPr>
        <p:spPr>
          <a:xfrm>
            <a:off x="94278" y="539298"/>
            <a:ext cx="5006499" cy="1384995"/>
          </a:xfrm>
          <a:prstGeom prst="rect">
            <a:avLst/>
          </a:prstGeom>
          <a:noFill/>
        </p:spPr>
        <p:txBody>
          <a:bodyPr wrap="none" rtlCol="0">
            <a:spAutoFit/>
          </a:bodyPr>
          <a:lstStyle/>
          <a:p>
            <a:pPr marL="285750" indent="-285750">
              <a:buFont typeface="Wingdings" charset="2"/>
              <a:buChar char="ü"/>
            </a:pPr>
            <a:r>
              <a:rPr lang="en-US" sz="1400" dirty="0">
                <a:latin typeface="Helvetica Neue Light"/>
                <a:cs typeface="Helvetica Neue Light"/>
              </a:rPr>
              <a:t>What is </a:t>
            </a:r>
            <a:r>
              <a:rPr lang="en-US" sz="1400" dirty="0">
                <a:solidFill>
                  <a:srgbClr val="FF0000"/>
                </a:solidFill>
                <a:latin typeface="Helvetica Neue Light"/>
                <a:cs typeface="Helvetica Neue Light"/>
              </a:rPr>
              <a:t>real time </a:t>
            </a:r>
            <a:r>
              <a:rPr lang="en-US" sz="1400" dirty="0">
                <a:latin typeface="Helvetica Neue Light"/>
                <a:cs typeface="Helvetica Neue Light"/>
              </a:rPr>
              <a:t>system?</a:t>
            </a:r>
          </a:p>
          <a:p>
            <a:pPr marL="285750" indent="-285750">
              <a:buFont typeface="Wingdings" charset="2"/>
              <a:buChar char="ü"/>
            </a:pPr>
            <a:r>
              <a:rPr lang="en-US" sz="1400" dirty="0">
                <a:latin typeface="Helvetica Neue Light"/>
                <a:cs typeface="Helvetica Neue Light"/>
              </a:rPr>
              <a:t>What is </a:t>
            </a:r>
            <a:r>
              <a:rPr lang="en-US" sz="1400" dirty="0">
                <a:solidFill>
                  <a:srgbClr val="FF0000"/>
                </a:solidFill>
                <a:latin typeface="Helvetica Neue Light"/>
                <a:cs typeface="Helvetica Neue Light"/>
              </a:rPr>
              <a:t>embedded</a:t>
            </a:r>
            <a:r>
              <a:rPr lang="en-US" sz="1400" dirty="0">
                <a:latin typeface="Helvetica Neue Light"/>
                <a:cs typeface="Helvetica Neue Light"/>
              </a:rPr>
              <a:t> system?</a:t>
            </a:r>
          </a:p>
          <a:p>
            <a:pPr marL="285750" indent="-285750">
              <a:buFont typeface="Wingdings" charset="2"/>
              <a:buChar char="ü"/>
            </a:pPr>
            <a:r>
              <a:rPr lang="en-US" sz="1400" dirty="0">
                <a:latin typeface="Helvetica Neue Light"/>
                <a:cs typeface="Helvetica Neue Light"/>
              </a:rPr>
              <a:t>What is the </a:t>
            </a:r>
            <a:r>
              <a:rPr lang="en-US" sz="1400" dirty="0">
                <a:solidFill>
                  <a:srgbClr val="FF0000"/>
                </a:solidFill>
                <a:latin typeface="Helvetica Neue Light"/>
                <a:cs typeface="Helvetica Neue Light"/>
              </a:rPr>
              <a:t>relationship</a:t>
            </a:r>
            <a:r>
              <a:rPr lang="en-US" sz="1400" dirty="0">
                <a:latin typeface="Helvetica Neue Light"/>
                <a:cs typeface="Helvetica Neue Light"/>
              </a:rPr>
              <a:t> between real-time system and SE?</a:t>
            </a:r>
          </a:p>
          <a:p>
            <a:pPr marL="285750" indent="-285750">
              <a:buFont typeface="Wingdings" charset="2"/>
              <a:buChar char="ü"/>
            </a:pPr>
            <a:r>
              <a:rPr lang="en-US" sz="1400" dirty="0">
                <a:solidFill>
                  <a:srgbClr val="FF0000"/>
                </a:solidFill>
                <a:latin typeface="Helvetica Neue Light"/>
                <a:cs typeface="Helvetica Neue Light"/>
              </a:rPr>
              <a:t>Characteristics</a:t>
            </a:r>
            <a:r>
              <a:rPr lang="en-US" sz="1400" dirty="0">
                <a:latin typeface="Helvetica Neue Light"/>
                <a:cs typeface="Helvetica Neue Light"/>
              </a:rPr>
              <a:t> of real-time system</a:t>
            </a:r>
          </a:p>
          <a:p>
            <a:pPr marL="285750" indent="-285750">
              <a:buFont typeface="Wingdings" charset="2"/>
              <a:buChar char="ü"/>
            </a:pPr>
            <a:r>
              <a:rPr lang="en-US" sz="1400" dirty="0">
                <a:solidFill>
                  <a:srgbClr val="FF0000"/>
                </a:solidFill>
                <a:latin typeface="Helvetica Neue Light"/>
                <a:cs typeface="Helvetica Neue Light"/>
              </a:rPr>
              <a:t>Challenges</a:t>
            </a:r>
            <a:r>
              <a:rPr lang="en-US" sz="1400" dirty="0">
                <a:latin typeface="Helvetica Neue Light"/>
                <a:cs typeface="Helvetica Neue Light"/>
              </a:rPr>
              <a:t> in RTSE</a:t>
            </a:r>
          </a:p>
          <a:p>
            <a:pPr marL="285750" indent="-285750">
              <a:buFont typeface="Wingdings" charset="2"/>
              <a:buChar char="ü"/>
            </a:pPr>
            <a:endParaRPr lang="en-US" sz="1400" dirty="0">
              <a:solidFill>
                <a:srgbClr val="FF0000"/>
              </a:solidFill>
              <a:latin typeface="Helvetica Neue Light"/>
              <a:cs typeface="Helvetica Neue Light"/>
            </a:endParaRPr>
          </a:p>
        </p:txBody>
      </p:sp>
      <p:sp>
        <p:nvSpPr>
          <p:cNvPr id="15" name="TextBox 14"/>
          <p:cNvSpPr txBox="1"/>
          <p:nvPr/>
        </p:nvSpPr>
        <p:spPr>
          <a:xfrm>
            <a:off x="1364657" y="6458073"/>
            <a:ext cx="2159566" cy="307777"/>
          </a:xfrm>
          <a:prstGeom prst="rect">
            <a:avLst/>
          </a:prstGeom>
          <a:noFill/>
        </p:spPr>
        <p:txBody>
          <a:bodyPr wrap="none" rtlCol="0">
            <a:spAutoFit/>
          </a:bodyPr>
          <a:lstStyle/>
          <a:p>
            <a:r>
              <a:rPr lang="en-US" sz="1400" dirty="0">
                <a:solidFill>
                  <a:schemeClr val="bg1"/>
                </a:solidFill>
                <a:latin typeface="Helvetica Neue Light"/>
                <a:cs typeface="Helvetica Neue Light"/>
              </a:rPr>
              <a:t>Understand the concepts</a:t>
            </a:r>
          </a:p>
        </p:txBody>
      </p:sp>
      <p:pic>
        <p:nvPicPr>
          <p:cNvPr id="8" name="Picture 7"/>
          <p:cNvPicPr>
            <a:picLocks noChangeAspect="1"/>
          </p:cNvPicPr>
          <p:nvPr/>
        </p:nvPicPr>
        <p:blipFill>
          <a:blip r:embed="rId2"/>
          <a:stretch>
            <a:fillRect/>
          </a:stretch>
        </p:blipFill>
        <p:spPr>
          <a:xfrm>
            <a:off x="295466" y="1924293"/>
            <a:ext cx="3454400" cy="3454400"/>
          </a:xfrm>
          <a:prstGeom prst="rect">
            <a:avLst/>
          </a:prstGeom>
        </p:spPr>
      </p:pic>
      <p:sp>
        <p:nvSpPr>
          <p:cNvPr id="12" name="Rectangle 11"/>
          <p:cNvSpPr/>
          <p:nvPr/>
        </p:nvSpPr>
        <p:spPr>
          <a:xfrm>
            <a:off x="6001964" y="2143964"/>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Input</a:t>
            </a:r>
          </a:p>
        </p:txBody>
      </p:sp>
      <p:sp>
        <p:nvSpPr>
          <p:cNvPr id="14" name="Rectangle 13"/>
          <p:cNvSpPr/>
          <p:nvPr/>
        </p:nvSpPr>
        <p:spPr>
          <a:xfrm>
            <a:off x="6001964" y="4624328"/>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Output</a:t>
            </a:r>
          </a:p>
        </p:txBody>
      </p:sp>
      <p:sp>
        <p:nvSpPr>
          <p:cNvPr id="10" name="Oval 9"/>
          <p:cNvSpPr/>
          <p:nvPr/>
        </p:nvSpPr>
        <p:spPr>
          <a:xfrm>
            <a:off x="5858834" y="3050060"/>
            <a:ext cx="1575953" cy="1186650"/>
          </a:xfrm>
          <a:prstGeom prst="ellipse">
            <a:avLst/>
          </a:prstGeom>
          <a:solidFill>
            <a:schemeClr val="accent6">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Process</a:t>
            </a:r>
          </a:p>
        </p:txBody>
      </p:sp>
      <p:sp>
        <p:nvSpPr>
          <p:cNvPr id="17" name="Down Arrow 16"/>
          <p:cNvSpPr/>
          <p:nvPr/>
        </p:nvSpPr>
        <p:spPr>
          <a:xfrm>
            <a:off x="6467088" y="2662442"/>
            <a:ext cx="253885" cy="387618"/>
          </a:xfrm>
          <a:prstGeom prst="downArrow">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Down Arrow 18"/>
          <p:cNvSpPr/>
          <p:nvPr/>
        </p:nvSpPr>
        <p:spPr>
          <a:xfrm>
            <a:off x="6492545" y="4236710"/>
            <a:ext cx="253885" cy="387618"/>
          </a:xfrm>
          <a:prstGeom prst="downArrow">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93959255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4278" y="539298"/>
            <a:ext cx="2441694" cy="307777"/>
          </a:xfrm>
          <a:prstGeom prst="rect">
            <a:avLst/>
          </a:prstGeom>
          <a:noFill/>
        </p:spPr>
        <p:txBody>
          <a:bodyPr wrap="none" rtlCol="0">
            <a:spAutoFit/>
          </a:bodyPr>
          <a:lstStyle/>
          <a:p>
            <a:pPr marL="285750" indent="-285750">
              <a:buFont typeface="Wingdings" charset="2"/>
              <a:buChar char="ü"/>
            </a:pPr>
            <a:r>
              <a:rPr lang="en-US" sz="1400" dirty="0">
                <a:latin typeface="Helvetica Neue Light"/>
                <a:cs typeface="Helvetica Neue Light"/>
              </a:rPr>
              <a:t>What is </a:t>
            </a:r>
            <a:r>
              <a:rPr lang="en-US" sz="1400" dirty="0">
                <a:solidFill>
                  <a:srgbClr val="FF0000"/>
                </a:solidFill>
                <a:latin typeface="Helvetica Neue Light"/>
                <a:cs typeface="Helvetica Neue Light"/>
              </a:rPr>
              <a:t>real time </a:t>
            </a:r>
            <a:r>
              <a:rPr lang="en-US" sz="1400" dirty="0">
                <a:latin typeface="Helvetica Neue Light"/>
                <a:cs typeface="Helvetica Neue Light"/>
              </a:rPr>
              <a:t>system?</a:t>
            </a:r>
          </a:p>
        </p:txBody>
      </p:sp>
      <p:pic>
        <p:nvPicPr>
          <p:cNvPr id="14" name="Picture 13"/>
          <p:cNvPicPr>
            <a:picLocks noChangeAspect="1"/>
          </p:cNvPicPr>
          <p:nvPr/>
        </p:nvPicPr>
        <p:blipFill>
          <a:blip r:embed="rId3"/>
          <a:stretch>
            <a:fillRect/>
          </a:stretch>
        </p:blipFill>
        <p:spPr>
          <a:xfrm>
            <a:off x="2707169" y="847074"/>
            <a:ext cx="4332791" cy="2086961"/>
          </a:xfrm>
          <a:prstGeom prst="rect">
            <a:avLst/>
          </a:prstGeom>
        </p:spPr>
      </p:pic>
      <p:sp>
        <p:nvSpPr>
          <p:cNvPr id="10" name="Rectangle 9"/>
          <p:cNvSpPr/>
          <p:nvPr/>
        </p:nvSpPr>
        <p:spPr>
          <a:xfrm>
            <a:off x="169107" y="847075"/>
            <a:ext cx="2663304" cy="916879"/>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Helvetica Neue Light"/>
                <a:cs typeface="Helvetica Neue Light"/>
              </a:rPr>
              <a:t>Correctness is depending on </a:t>
            </a:r>
            <a:r>
              <a:rPr lang="en-US" dirty="0">
                <a:solidFill>
                  <a:schemeClr val="tx1"/>
                </a:solidFill>
                <a:latin typeface="Helvetica Neue Light"/>
                <a:cs typeface="Helvetica Neue Light"/>
              </a:rPr>
              <a:t>TIMING</a:t>
            </a:r>
          </a:p>
        </p:txBody>
      </p:sp>
      <p:sp>
        <p:nvSpPr>
          <p:cNvPr id="4" name="TextBox 3"/>
          <p:cNvSpPr txBox="1"/>
          <p:nvPr/>
        </p:nvSpPr>
        <p:spPr>
          <a:xfrm>
            <a:off x="0" y="20954"/>
            <a:ext cx="1364657" cy="369332"/>
          </a:xfrm>
          <a:prstGeom prst="rect">
            <a:avLst/>
          </a:prstGeom>
          <a:noFill/>
        </p:spPr>
        <p:txBody>
          <a:bodyPr wrap="none" rtlCol="0">
            <a:spAutoFit/>
          </a:bodyPr>
          <a:lstStyle/>
          <a:p>
            <a:r>
              <a:rPr lang="en-US" dirty="0">
                <a:solidFill>
                  <a:schemeClr val="tx1">
                    <a:lumMod val="50000"/>
                    <a:lumOff val="50000"/>
                  </a:schemeClr>
                </a:solidFill>
                <a:latin typeface="Helvetica Neue Light"/>
                <a:cs typeface="Helvetica Neue Light"/>
              </a:rPr>
              <a:t>Introduction</a:t>
            </a:r>
          </a:p>
        </p:txBody>
      </p:sp>
      <p:sp>
        <p:nvSpPr>
          <p:cNvPr id="5" name="Rectangle 4"/>
          <p:cNvSpPr/>
          <p:nvPr/>
        </p:nvSpPr>
        <p:spPr>
          <a:xfrm>
            <a:off x="0" y="373508"/>
            <a:ext cx="9144000" cy="8736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dirty="0">
              <a:latin typeface="Helvetica Neue Light"/>
              <a:cs typeface="Helvetica Neue Light"/>
            </a:endParaRPr>
          </a:p>
        </p:txBody>
      </p:sp>
      <p:sp>
        <p:nvSpPr>
          <p:cNvPr id="6" name="Rectangle 5"/>
          <p:cNvSpPr/>
          <p:nvPr/>
        </p:nvSpPr>
        <p:spPr>
          <a:xfrm>
            <a:off x="0" y="6339521"/>
            <a:ext cx="9144000" cy="518478"/>
          </a:xfrm>
          <a:prstGeom prst="rect">
            <a:avLst/>
          </a:prstGeom>
          <a:solidFill>
            <a:srgbClr val="31859C"/>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nchorCtr="0"/>
          <a:lstStyle/>
          <a:p>
            <a:endParaRPr lang="en-US" sz="2800" dirty="0">
              <a:latin typeface="Helvetica Neue Light"/>
              <a:cs typeface="Helvetica Neue Light"/>
            </a:endParaRPr>
          </a:p>
        </p:txBody>
      </p:sp>
      <p:sp>
        <p:nvSpPr>
          <p:cNvPr id="7" name="Rectangle 6"/>
          <p:cNvSpPr/>
          <p:nvPr/>
        </p:nvSpPr>
        <p:spPr>
          <a:xfrm>
            <a:off x="0" y="6339521"/>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Tips</a:t>
            </a:r>
          </a:p>
        </p:txBody>
      </p:sp>
      <p:sp>
        <p:nvSpPr>
          <p:cNvPr id="15" name="TextBox 14"/>
          <p:cNvSpPr txBox="1"/>
          <p:nvPr/>
        </p:nvSpPr>
        <p:spPr>
          <a:xfrm>
            <a:off x="1364657" y="6458073"/>
            <a:ext cx="3047871" cy="307777"/>
          </a:xfrm>
          <a:prstGeom prst="rect">
            <a:avLst/>
          </a:prstGeom>
          <a:noFill/>
        </p:spPr>
        <p:txBody>
          <a:bodyPr wrap="none" rtlCol="0">
            <a:spAutoFit/>
          </a:bodyPr>
          <a:lstStyle/>
          <a:p>
            <a:r>
              <a:rPr lang="en-US" sz="1400" dirty="0">
                <a:solidFill>
                  <a:schemeClr val="bg1"/>
                </a:solidFill>
                <a:latin typeface="Helvetica Neue Light"/>
                <a:cs typeface="Helvetica Neue Light"/>
              </a:rPr>
              <a:t>Understand the concepts of real time</a:t>
            </a:r>
          </a:p>
        </p:txBody>
      </p:sp>
      <p:pic>
        <p:nvPicPr>
          <p:cNvPr id="2" name="Picture 1"/>
          <p:cNvPicPr>
            <a:picLocks noChangeAspect="1"/>
          </p:cNvPicPr>
          <p:nvPr/>
        </p:nvPicPr>
        <p:blipFill>
          <a:blip r:embed="rId4"/>
          <a:stretch>
            <a:fillRect/>
          </a:stretch>
        </p:blipFill>
        <p:spPr>
          <a:xfrm>
            <a:off x="94278" y="3202299"/>
            <a:ext cx="6046064" cy="3137222"/>
          </a:xfrm>
          <a:prstGeom prst="rect">
            <a:avLst/>
          </a:prstGeom>
        </p:spPr>
      </p:pic>
      <p:sp>
        <p:nvSpPr>
          <p:cNvPr id="11" name="TextBox 10"/>
          <p:cNvSpPr txBox="1"/>
          <p:nvPr/>
        </p:nvSpPr>
        <p:spPr>
          <a:xfrm>
            <a:off x="6354437" y="3997851"/>
            <a:ext cx="2557110" cy="523220"/>
          </a:xfrm>
          <a:prstGeom prst="rect">
            <a:avLst/>
          </a:prstGeom>
          <a:noFill/>
        </p:spPr>
        <p:txBody>
          <a:bodyPr wrap="none" rtlCol="0">
            <a:spAutoFit/>
          </a:bodyPr>
          <a:lstStyle/>
          <a:p>
            <a:pPr marL="285750" indent="-285750">
              <a:buFont typeface="Wingdings" charset="2"/>
              <a:buChar char="ü"/>
            </a:pPr>
            <a:r>
              <a:rPr lang="en-US" sz="1400" dirty="0">
                <a:latin typeface="Helvetica Neue Light"/>
                <a:cs typeface="Helvetica Neue Light"/>
              </a:rPr>
              <a:t>Missed deadline could lead </a:t>
            </a:r>
          </a:p>
          <a:p>
            <a:r>
              <a:rPr lang="en-US" sz="1400" dirty="0">
                <a:latin typeface="Helvetica Neue Light"/>
                <a:cs typeface="Helvetica Neue Light"/>
              </a:rPr>
              <a:t>severe consequences</a:t>
            </a:r>
          </a:p>
        </p:txBody>
      </p:sp>
      <p:sp>
        <p:nvSpPr>
          <p:cNvPr id="3" name="Left Arrow 2"/>
          <p:cNvSpPr/>
          <p:nvPr/>
        </p:nvSpPr>
        <p:spPr>
          <a:xfrm>
            <a:off x="5083744" y="4258998"/>
            <a:ext cx="1270693" cy="262073"/>
          </a:xfrm>
          <a:prstGeom prst="leftArrow">
            <a:avLst>
              <a:gd name="adj1" fmla="val 34615"/>
              <a:gd name="adj2" fmla="val 50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5"/>
          <a:stretch>
            <a:fillRect/>
          </a:stretch>
        </p:blipFill>
        <p:spPr>
          <a:xfrm>
            <a:off x="6225645" y="4521071"/>
            <a:ext cx="2771205" cy="1582706"/>
          </a:xfrm>
          <a:prstGeom prst="rect">
            <a:avLst/>
          </a:prstGeom>
        </p:spPr>
      </p:pic>
      <p:pic>
        <p:nvPicPr>
          <p:cNvPr id="13" name="Picture 12"/>
          <p:cNvPicPr>
            <a:picLocks noChangeAspect="1"/>
          </p:cNvPicPr>
          <p:nvPr/>
        </p:nvPicPr>
        <p:blipFill>
          <a:blip r:embed="rId6"/>
          <a:stretch>
            <a:fillRect/>
          </a:stretch>
        </p:blipFill>
        <p:spPr>
          <a:xfrm>
            <a:off x="6380885" y="847073"/>
            <a:ext cx="2615965" cy="2355225"/>
          </a:xfrm>
          <a:prstGeom prst="rect">
            <a:avLst/>
          </a:prstGeom>
        </p:spPr>
      </p:pic>
      <p:sp>
        <p:nvSpPr>
          <p:cNvPr id="16" name="Down Arrow 15"/>
          <p:cNvSpPr/>
          <p:nvPr/>
        </p:nvSpPr>
        <p:spPr>
          <a:xfrm>
            <a:off x="251987" y="1929409"/>
            <a:ext cx="510440" cy="1084367"/>
          </a:xfrm>
          <a:prstGeom prst="downArrow">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TextBox 16"/>
          <p:cNvSpPr txBox="1"/>
          <p:nvPr/>
        </p:nvSpPr>
        <p:spPr>
          <a:xfrm>
            <a:off x="597068" y="2093542"/>
            <a:ext cx="1535178" cy="646331"/>
          </a:xfrm>
          <a:prstGeom prst="rect">
            <a:avLst/>
          </a:prstGeom>
          <a:noFill/>
        </p:spPr>
        <p:txBody>
          <a:bodyPr wrap="none" rtlCol="0">
            <a:spAutoFit/>
          </a:bodyPr>
          <a:lstStyle/>
          <a:p>
            <a:r>
              <a:rPr lang="en-US" dirty="0">
                <a:latin typeface="Helvetica Neue Light"/>
                <a:cs typeface="Helvetica Neue Light"/>
              </a:rPr>
              <a:t>Timing </a:t>
            </a:r>
          </a:p>
          <a:p>
            <a:r>
              <a:rPr lang="en-US" dirty="0">
                <a:latin typeface="Helvetica Neue Light"/>
                <a:cs typeface="Helvetica Neue Light"/>
              </a:rPr>
              <a:t>requirements</a:t>
            </a:r>
          </a:p>
        </p:txBody>
      </p:sp>
    </p:spTree>
    <p:extLst>
      <p:ext uri="{BB962C8B-B14F-4D97-AF65-F5344CB8AC3E}">
        <p14:creationId xmlns:p14="http://schemas.microsoft.com/office/powerpoint/2010/main" val="37423409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954"/>
            <a:ext cx="1364657" cy="369332"/>
          </a:xfrm>
          <a:prstGeom prst="rect">
            <a:avLst/>
          </a:prstGeom>
          <a:noFill/>
        </p:spPr>
        <p:txBody>
          <a:bodyPr wrap="none" rtlCol="0">
            <a:spAutoFit/>
          </a:bodyPr>
          <a:lstStyle/>
          <a:p>
            <a:r>
              <a:rPr lang="en-US" dirty="0">
                <a:solidFill>
                  <a:schemeClr val="tx1">
                    <a:lumMod val="50000"/>
                    <a:lumOff val="50000"/>
                  </a:schemeClr>
                </a:solidFill>
                <a:latin typeface="Helvetica Neue Light"/>
                <a:cs typeface="Helvetica Neue Light"/>
              </a:rPr>
              <a:t>Introduction</a:t>
            </a:r>
          </a:p>
        </p:txBody>
      </p:sp>
      <p:sp>
        <p:nvSpPr>
          <p:cNvPr id="5" name="Rectangle 4"/>
          <p:cNvSpPr/>
          <p:nvPr/>
        </p:nvSpPr>
        <p:spPr>
          <a:xfrm>
            <a:off x="0" y="373508"/>
            <a:ext cx="9144000" cy="8736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dirty="0">
              <a:latin typeface="Helvetica Neue Light"/>
              <a:cs typeface="Helvetica Neue Light"/>
            </a:endParaRPr>
          </a:p>
        </p:txBody>
      </p:sp>
      <p:sp>
        <p:nvSpPr>
          <p:cNvPr id="6" name="Rectangle 5"/>
          <p:cNvSpPr/>
          <p:nvPr/>
        </p:nvSpPr>
        <p:spPr>
          <a:xfrm>
            <a:off x="0" y="6339521"/>
            <a:ext cx="9144000" cy="518478"/>
          </a:xfrm>
          <a:prstGeom prst="rect">
            <a:avLst/>
          </a:prstGeom>
          <a:solidFill>
            <a:srgbClr val="31859C"/>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nchorCtr="0"/>
          <a:lstStyle/>
          <a:p>
            <a:endParaRPr lang="en-US" sz="2800" dirty="0">
              <a:latin typeface="Helvetica Neue Light"/>
              <a:cs typeface="Helvetica Neue Light"/>
            </a:endParaRPr>
          </a:p>
        </p:txBody>
      </p:sp>
      <p:sp>
        <p:nvSpPr>
          <p:cNvPr id="7" name="Rectangle 6"/>
          <p:cNvSpPr/>
          <p:nvPr/>
        </p:nvSpPr>
        <p:spPr>
          <a:xfrm>
            <a:off x="0" y="6339521"/>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Tips</a:t>
            </a:r>
          </a:p>
        </p:txBody>
      </p:sp>
      <p:sp>
        <p:nvSpPr>
          <p:cNvPr id="9" name="TextBox 8"/>
          <p:cNvSpPr txBox="1"/>
          <p:nvPr/>
        </p:nvSpPr>
        <p:spPr>
          <a:xfrm>
            <a:off x="94278" y="539298"/>
            <a:ext cx="2634054" cy="307777"/>
          </a:xfrm>
          <a:prstGeom prst="rect">
            <a:avLst/>
          </a:prstGeom>
          <a:noFill/>
        </p:spPr>
        <p:txBody>
          <a:bodyPr wrap="none" rtlCol="0">
            <a:spAutoFit/>
          </a:bodyPr>
          <a:lstStyle/>
          <a:p>
            <a:pPr marL="285750" indent="-285750">
              <a:buFont typeface="Wingdings" charset="2"/>
              <a:buChar char="ü"/>
            </a:pPr>
            <a:r>
              <a:rPr lang="en-US" sz="1400" dirty="0">
                <a:latin typeface="Helvetica Neue Light"/>
                <a:cs typeface="Helvetica Neue Light"/>
              </a:rPr>
              <a:t>What is </a:t>
            </a:r>
            <a:r>
              <a:rPr lang="en-US" sz="1400" dirty="0">
                <a:solidFill>
                  <a:srgbClr val="FF0000"/>
                </a:solidFill>
                <a:latin typeface="Helvetica Neue Light"/>
                <a:cs typeface="Helvetica Neue Light"/>
              </a:rPr>
              <a:t>embedded</a:t>
            </a:r>
            <a:r>
              <a:rPr lang="en-US" sz="1400" dirty="0">
                <a:latin typeface="Helvetica Neue Light"/>
                <a:cs typeface="Helvetica Neue Light"/>
              </a:rPr>
              <a:t> system?</a:t>
            </a:r>
          </a:p>
        </p:txBody>
      </p:sp>
      <p:sp>
        <p:nvSpPr>
          <p:cNvPr id="15" name="TextBox 14"/>
          <p:cNvSpPr txBox="1"/>
          <p:nvPr/>
        </p:nvSpPr>
        <p:spPr>
          <a:xfrm>
            <a:off x="1364657" y="6458073"/>
            <a:ext cx="3929281" cy="307777"/>
          </a:xfrm>
          <a:prstGeom prst="rect">
            <a:avLst/>
          </a:prstGeom>
          <a:noFill/>
        </p:spPr>
        <p:txBody>
          <a:bodyPr wrap="none" rtlCol="0">
            <a:spAutoFit/>
          </a:bodyPr>
          <a:lstStyle/>
          <a:p>
            <a:r>
              <a:rPr lang="en-US" sz="1400" dirty="0">
                <a:solidFill>
                  <a:schemeClr val="bg1"/>
                </a:solidFill>
                <a:latin typeface="Helvetica Neue Light"/>
                <a:cs typeface="Helvetica Neue Light"/>
              </a:rPr>
              <a:t>Understand the concepts of embedded systems</a:t>
            </a:r>
          </a:p>
        </p:txBody>
      </p:sp>
      <p:pic>
        <p:nvPicPr>
          <p:cNvPr id="2" name="Picture 1"/>
          <p:cNvPicPr>
            <a:picLocks noChangeAspect="1"/>
          </p:cNvPicPr>
          <p:nvPr/>
        </p:nvPicPr>
        <p:blipFill>
          <a:blip r:embed="rId4"/>
          <a:stretch>
            <a:fillRect/>
          </a:stretch>
        </p:blipFill>
        <p:spPr>
          <a:xfrm>
            <a:off x="213382" y="4406936"/>
            <a:ext cx="2813756" cy="1791587"/>
          </a:xfrm>
          <a:prstGeom prst="rect">
            <a:avLst/>
          </a:prstGeom>
        </p:spPr>
      </p:pic>
      <p:pic>
        <p:nvPicPr>
          <p:cNvPr id="3" name="Picture 2"/>
          <p:cNvPicPr>
            <a:picLocks noChangeAspect="1"/>
          </p:cNvPicPr>
          <p:nvPr/>
        </p:nvPicPr>
        <p:blipFill>
          <a:blip r:embed="rId5"/>
          <a:stretch>
            <a:fillRect/>
          </a:stretch>
        </p:blipFill>
        <p:spPr>
          <a:xfrm>
            <a:off x="3137252" y="4714618"/>
            <a:ext cx="3004559" cy="1483905"/>
          </a:xfrm>
          <a:prstGeom prst="rect">
            <a:avLst/>
          </a:prstGeom>
        </p:spPr>
      </p:pic>
      <p:graphicFrame>
        <p:nvGraphicFramePr>
          <p:cNvPr id="16" name="Content Placeholder 15"/>
          <p:cNvGraphicFramePr>
            <a:graphicFrameLocks noGrp="1" noChangeAspect="1"/>
          </p:cNvGraphicFramePr>
          <p:nvPr>
            <p:ph/>
            <p:extLst>
              <p:ext uri="{D42A27DB-BD31-4B8C-83A1-F6EECF244321}">
                <p14:modId xmlns:p14="http://schemas.microsoft.com/office/powerpoint/2010/main" val="3469555200"/>
              </p:ext>
            </p:extLst>
          </p:nvPr>
        </p:nvGraphicFramePr>
        <p:xfrm>
          <a:off x="213382" y="847074"/>
          <a:ext cx="5843126" cy="2991225"/>
        </p:xfrm>
        <a:graphic>
          <a:graphicData uri="http://schemas.openxmlformats.org/presentationml/2006/ole">
            <mc:AlternateContent xmlns:mc="http://schemas.openxmlformats.org/markup-compatibility/2006">
              <mc:Choice xmlns:v="urn:schemas-microsoft-com:vml" Requires="v">
                <p:oleObj spid="_x0000_s1098" name="Visio" r:id="rId6" imgW="6749279" imgH="3172389" progId="Visio.Drawing.6">
                  <p:embed/>
                </p:oleObj>
              </mc:Choice>
              <mc:Fallback>
                <p:oleObj name="Visio" r:id="rId6" imgW="6749279" imgH="3172389"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82" y="847074"/>
                        <a:ext cx="5843126" cy="2991225"/>
                      </a:xfrm>
                      <a:prstGeom prst="rect">
                        <a:avLst/>
                      </a:prstGeom>
                      <a:noFill/>
                      <a:ln>
                        <a:noFill/>
                      </a:ln>
                      <a:effectLst/>
                    </p:spPr>
                  </p:pic>
                </p:oleObj>
              </mc:Fallback>
            </mc:AlternateContent>
          </a:graphicData>
        </a:graphic>
      </p:graphicFrame>
      <p:pic>
        <p:nvPicPr>
          <p:cNvPr id="11" name="Picture 10"/>
          <p:cNvPicPr>
            <a:picLocks noChangeAspect="1"/>
          </p:cNvPicPr>
          <p:nvPr/>
        </p:nvPicPr>
        <p:blipFill>
          <a:blip r:embed="rId8"/>
          <a:stretch>
            <a:fillRect/>
          </a:stretch>
        </p:blipFill>
        <p:spPr>
          <a:xfrm>
            <a:off x="5293938" y="2101017"/>
            <a:ext cx="3690384" cy="2507885"/>
          </a:xfrm>
          <a:prstGeom prst="rect">
            <a:avLst/>
          </a:prstGeom>
        </p:spPr>
      </p:pic>
      <p:pic>
        <p:nvPicPr>
          <p:cNvPr id="8" name="Picture 7"/>
          <p:cNvPicPr>
            <a:picLocks noChangeAspect="1"/>
          </p:cNvPicPr>
          <p:nvPr/>
        </p:nvPicPr>
        <p:blipFill>
          <a:blip r:embed="rId9"/>
          <a:stretch>
            <a:fillRect/>
          </a:stretch>
        </p:blipFill>
        <p:spPr>
          <a:xfrm>
            <a:off x="6720974" y="4896480"/>
            <a:ext cx="1835521" cy="1218327"/>
          </a:xfrm>
          <a:prstGeom prst="rect">
            <a:avLst/>
          </a:prstGeom>
        </p:spPr>
      </p:pic>
    </p:spTree>
    <p:extLst>
      <p:ext uri="{BB962C8B-B14F-4D97-AF65-F5344CB8AC3E}">
        <p14:creationId xmlns:p14="http://schemas.microsoft.com/office/powerpoint/2010/main" val="251673668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954"/>
            <a:ext cx="1364657" cy="369332"/>
          </a:xfrm>
          <a:prstGeom prst="rect">
            <a:avLst/>
          </a:prstGeom>
          <a:noFill/>
        </p:spPr>
        <p:txBody>
          <a:bodyPr wrap="none" rtlCol="0">
            <a:spAutoFit/>
          </a:bodyPr>
          <a:lstStyle/>
          <a:p>
            <a:r>
              <a:rPr lang="en-US" dirty="0">
                <a:solidFill>
                  <a:schemeClr val="tx1">
                    <a:lumMod val="50000"/>
                    <a:lumOff val="50000"/>
                  </a:schemeClr>
                </a:solidFill>
                <a:latin typeface="Helvetica Neue Light"/>
                <a:cs typeface="Helvetica Neue Light"/>
              </a:rPr>
              <a:t>Introduction</a:t>
            </a:r>
          </a:p>
        </p:txBody>
      </p:sp>
      <p:sp>
        <p:nvSpPr>
          <p:cNvPr id="5" name="Rectangle 4"/>
          <p:cNvSpPr/>
          <p:nvPr/>
        </p:nvSpPr>
        <p:spPr>
          <a:xfrm>
            <a:off x="0" y="373508"/>
            <a:ext cx="9144000" cy="8736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dirty="0">
              <a:latin typeface="Helvetica Neue Light"/>
              <a:cs typeface="Helvetica Neue Light"/>
            </a:endParaRPr>
          </a:p>
        </p:txBody>
      </p:sp>
      <p:sp>
        <p:nvSpPr>
          <p:cNvPr id="6" name="Rectangle 5"/>
          <p:cNvSpPr/>
          <p:nvPr/>
        </p:nvSpPr>
        <p:spPr>
          <a:xfrm>
            <a:off x="0" y="6339521"/>
            <a:ext cx="9144000" cy="518478"/>
          </a:xfrm>
          <a:prstGeom prst="rect">
            <a:avLst/>
          </a:prstGeom>
          <a:solidFill>
            <a:srgbClr val="31859C"/>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nchorCtr="0"/>
          <a:lstStyle/>
          <a:p>
            <a:endParaRPr lang="en-US" sz="2800" dirty="0">
              <a:latin typeface="Helvetica Neue Light"/>
              <a:cs typeface="Helvetica Neue Light"/>
            </a:endParaRPr>
          </a:p>
        </p:txBody>
      </p:sp>
      <p:sp>
        <p:nvSpPr>
          <p:cNvPr id="7" name="Rectangle 6"/>
          <p:cNvSpPr/>
          <p:nvPr/>
        </p:nvSpPr>
        <p:spPr>
          <a:xfrm>
            <a:off x="0" y="6339521"/>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Tips</a:t>
            </a:r>
          </a:p>
        </p:txBody>
      </p:sp>
      <p:sp>
        <p:nvSpPr>
          <p:cNvPr id="9" name="TextBox 8"/>
          <p:cNvSpPr txBox="1"/>
          <p:nvPr/>
        </p:nvSpPr>
        <p:spPr>
          <a:xfrm>
            <a:off x="94278" y="539298"/>
            <a:ext cx="2441694" cy="307777"/>
          </a:xfrm>
          <a:prstGeom prst="rect">
            <a:avLst/>
          </a:prstGeom>
          <a:noFill/>
        </p:spPr>
        <p:txBody>
          <a:bodyPr wrap="none" rtlCol="0">
            <a:spAutoFit/>
          </a:bodyPr>
          <a:lstStyle/>
          <a:p>
            <a:pPr marL="285750" indent="-285750">
              <a:buFont typeface="Wingdings" charset="2"/>
              <a:buChar char="ü"/>
            </a:pPr>
            <a:r>
              <a:rPr lang="en-US" sz="1400" dirty="0">
                <a:latin typeface="Helvetica Neue Light"/>
                <a:cs typeface="Helvetica Neue Light"/>
              </a:rPr>
              <a:t>What are the </a:t>
            </a:r>
            <a:r>
              <a:rPr lang="en-US" sz="1400" dirty="0">
                <a:solidFill>
                  <a:srgbClr val="FF0000"/>
                </a:solidFill>
                <a:latin typeface="Helvetica Neue Light"/>
                <a:cs typeface="Helvetica Neue Light"/>
              </a:rPr>
              <a:t>differences</a:t>
            </a:r>
            <a:r>
              <a:rPr lang="en-US" sz="1400" dirty="0">
                <a:latin typeface="Helvetica Neue Light"/>
                <a:cs typeface="Helvetica Neue Light"/>
              </a:rPr>
              <a:t>?</a:t>
            </a:r>
          </a:p>
        </p:txBody>
      </p:sp>
      <p:sp>
        <p:nvSpPr>
          <p:cNvPr id="15" name="TextBox 14"/>
          <p:cNvSpPr txBox="1"/>
          <p:nvPr/>
        </p:nvSpPr>
        <p:spPr>
          <a:xfrm>
            <a:off x="1364657" y="6458073"/>
            <a:ext cx="5570756" cy="307777"/>
          </a:xfrm>
          <a:prstGeom prst="rect">
            <a:avLst/>
          </a:prstGeom>
          <a:noFill/>
        </p:spPr>
        <p:txBody>
          <a:bodyPr wrap="none" rtlCol="0">
            <a:spAutoFit/>
          </a:bodyPr>
          <a:lstStyle/>
          <a:p>
            <a:r>
              <a:rPr lang="en-US" sz="1400" dirty="0">
                <a:solidFill>
                  <a:schemeClr val="bg1"/>
                </a:solidFill>
                <a:latin typeface="Helvetica Neue Light"/>
                <a:cs typeface="Helvetica Neue Light"/>
              </a:rPr>
              <a:t>Differences between RTS and non-RTS as well as ERTs and non-ERTs</a:t>
            </a:r>
          </a:p>
        </p:txBody>
      </p:sp>
      <p:sp>
        <p:nvSpPr>
          <p:cNvPr id="16" name="Rectangle 15"/>
          <p:cNvSpPr/>
          <p:nvPr/>
        </p:nvSpPr>
        <p:spPr>
          <a:xfrm>
            <a:off x="389352" y="2286832"/>
            <a:ext cx="1943012" cy="1401153"/>
          </a:xfrm>
          <a:prstGeom prst="rect">
            <a:avLst/>
          </a:prstGeom>
          <a:solidFill>
            <a:schemeClr val="accent6">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Helvetica Neue Light"/>
                <a:cs typeface="Helvetica Neue Light"/>
              </a:rPr>
              <a:t>Deadlines</a:t>
            </a:r>
          </a:p>
        </p:txBody>
      </p:sp>
      <p:sp>
        <p:nvSpPr>
          <p:cNvPr id="18" name="Rectangle 17"/>
          <p:cNvSpPr/>
          <p:nvPr/>
        </p:nvSpPr>
        <p:spPr>
          <a:xfrm>
            <a:off x="2369522" y="2286832"/>
            <a:ext cx="1943012" cy="1401153"/>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FFFF"/>
                </a:solidFill>
                <a:latin typeface="Helvetica Neue Light"/>
                <a:cs typeface="Helvetica Neue Light"/>
              </a:rPr>
              <a:t>Faults leads to major loss</a:t>
            </a:r>
          </a:p>
        </p:txBody>
      </p:sp>
      <p:sp>
        <p:nvSpPr>
          <p:cNvPr id="20" name="Rectangle 19"/>
          <p:cNvSpPr/>
          <p:nvPr/>
        </p:nvSpPr>
        <p:spPr>
          <a:xfrm>
            <a:off x="389352" y="3728128"/>
            <a:ext cx="1943012" cy="1401153"/>
          </a:xfrm>
          <a:prstGeom prst="rect">
            <a:avLst/>
          </a:prstGeom>
          <a:solidFill>
            <a:schemeClr val="accent6">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Helvetica Neue Light"/>
                <a:cs typeface="Helvetica Neue Light"/>
              </a:rPr>
              <a:t>Deal with exceptions</a:t>
            </a:r>
          </a:p>
        </p:txBody>
      </p:sp>
      <p:sp>
        <p:nvSpPr>
          <p:cNvPr id="21" name="Rectangle 20"/>
          <p:cNvSpPr/>
          <p:nvPr/>
        </p:nvSpPr>
        <p:spPr>
          <a:xfrm>
            <a:off x="2379000" y="3728128"/>
            <a:ext cx="1943012" cy="1401153"/>
          </a:xfrm>
          <a:prstGeom prst="rect">
            <a:avLst/>
          </a:pr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Helvetica Neue Light"/>
                <a:cs typeface="Helvetica Neue Light"/>
              </a:rPr>
              <a:t>Predictable, fast, reliable, adaptive</a:t>
            </a:r>
          </a:p>
        </p:txBody>
      </p:sp>
      <p:sp>
        <p:nvSpPr>
          <p:cNvPr id="2" name="TextBox 1"/>
          <p:cNvSpPr txBox="1"/>
          <p:nvPr/>
        </p:nvSpPr>
        <p:spPr>
          <a:xfrm>
            <a:off x="1479937" y="1916495"/>
            <a:ext cx="2033739" cy="369332"/>
          </a:xfrm>
          <a:prstGeom prst="rect">
            <a:avLst/>
          </a:prstGeom>
          <a:noFill/>
        </p:spPr>
        <p:txBody>
          <a:bodyPr wrap="none" rtlCol="0">
            <a:spAutoFit/>
          </a:bodyPr>
          <a:lstStyle/>
          <a:p>
            <a:r>
              <a:rPr lang="en-US" b="1" dirty="0">
                <a:latin typeface="Helvetica Neue"/>
                <a:cs typeface="Helvetica Neue"/>
              </a:rPr>
              <a:t>RTS </a:t>
            </a:r>
            <a:r>
              <a:rPr lang="en-US" b="1" dirty="0" err="1">
                <a:latin typeface="Helvetica Neue"/>
                <a:cs typeface="Helvetica Neue"/>
              </a:rPr>
              <a:t>vs</a:t>
            </a:r>
            <a:r>
              <a:rPr lang="en-US" b="1" dirty="0">
                <a:latin typeface="Helvetica Neue"/>
                <a:cs typeface="Helvetica Neue"/>
              </a:rPr>
              <a:t> non-RTS</a:t>
            </a:r>
          </a:p>
        </p:txBody>
      </p:sp>
      <p:sp>
        <p:nvSpPr>
          <p:cNvPr id="22" name="Rectangle 21"/>
          <p:cNvSpPr/>
          <p:nvPr/>
        </p:nvSpPr>
        <p:spPr>
          <a:xfrm>
            <a:off x="4825414" y="2975820"/>
            <a:ext cx="1943012" cy="1401153"/>
          </a:xfrm>
          <a:prstGeom prst="rect">
            <a:avLst/>
          </a:prstGeom>
          <a:solidFill>
            <a:schemeClr val="tx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Helvetica Neue Light"/>
                <a:cs typeface="Helvetica Neue Light"/>
              </a:rPr>
              <a:t>Many processor</a:t>
            </a:r>
          </a:p>
        </p:txBody>
      </p:sp>
      <p:sp>
        <p:nvSpPr>
          <p:cNvPr id="23" name="Rectangle 22"/>
          <p:cNvSpPr/>
          <p:nvPr/>
        </p:nvSpPr>
        <p:spPr>
          <a:xfrm>
            <a:off x="6805584" y="2975820"/>
            <a:ext cx="1943012" cy="698673"/>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FFFF"/>
                </a:solidFill>
                <a:latin typeface="Helvetica Neue Light"/>
                <a:cs typeface="Helvetica Neue Light"/>
              </a:rPr>
              <a:t>Cost sensitive</a:t>
            </a:r>
          </a:p>
        </p:txBody>
      </p:sp>
      <p:sp>
        <p:nvSpPr>
          <p:cNvPr id="24" name="Rectangle 23"/>
          <p:cNvSpPr/>
          <p:nvPr/>
        </p:nvSpPr>
        <p:spPr>
          <a:xfrm>
            <a:off x="6804479" y="4399144"/>
            <a:ext cx="1943012" cy="1401153"/>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FFFF"/>
                </a:solidFill>
                <a:latin typeface="Helvetica Neue Light"/>
                <a:cs typeface="Helvetica Neue Light"/>
              </a:rPr>
              <a:t>Constraints on resources and size</a:t>
            </a:r>
          </a:p>
        </p:txBody>
      </p:sp>
      <p:sp>
        <p:nvSpPr>
          <p:cNvPr id="25" name="Rectangle 24"/>
          <p:cNvSpPr/>
          <p:nvPr/>
        </p:nvSpPr>
        <p:spPr>
          <a:xfrm>
            <a:off x="6804479" y="3716540"/>
            <a:ext cx="1943012" cy="660434"/>
          </a:xfrm>
          <a:prstGeom prst="rect">
            <a:avLst/>
          </a:prstGeom>
          <a:solidFill>
            <a:schemeClr val="tx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Helvetica Neue Light"/>
                <a:cs typeface="Helvetica Neue Light"/>
              </a:rPr>
              <a:t>Dedicated RTOS</a:t>
            </a:r>
          </a:p>
        </p:txBody>
      </p:sp>
      <p:sp>
        <p:nvSpPr>
          <p:cNvPr id="26" name="Rectangle 25"/>
          <p:cNvSpPr/>
          <p:nvPr/>
        </p:nvSpPr>
        <p:spPr>
          <a:xfrm>
            <a:off x="4825414" y="1547651"/>
            <a:ext cx="3923182" cy="1401153"/>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Helvetica Neue Light"/>
                <a:cs typeface="Helvetica Neue Light"/>
              </a:rPr>
              <a:t>Dedicated to specific task</a:t>
            </a:r>
          </a:p>
        </p:txBody>
      </p:sp>
      <p:sp>
        <p:nvSpPr>
          <p:cNvPr id="27" name="Rectangle 26"/>
          <p:cNvSpPr/>
          <p:nvPr/>
        </p:nvSpPr>
        <p:spPr>
          <a:xfrm>
            <a:off x="4825414" y="4396955"/>
            <a:ext cx="1943012" cy="698673"/>
          </a:xfrm>
          <a:prstGeom prst="rect">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FFFF"/>
                </a:solidFill>
                <a:latin typeface="Helvetica Neue Light"/>
                <a:cs typeface="Helvetica Neue Light"/>
              </a:rPr>
              <a:t>Failure leads to major loss</a:t>
            </a:r>
          </a:p>
        </p:txBody>
      </p:sp>
      <p:sp>
        <p:nvSpPr>
          <p:cNvPr id="28" name="Rectangle 27"/>
          <p:cNvSpPr/>
          <p:nvPr/>
        </p:nvSpPr>
        <p:spPr>
          <a:xfrm>
            <a:off x="4824309" y="5137675"/>
            <a:ext cx="1943012" cy="660434"/>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Helvetica Neue Light"/>
                <a:cs typeface="Helvetica Neue Light"/>
              </a:rPr>
              <a:t>Dedicated tools for development</a:t>
            </a:r>
          </a:p>
        </p:txBody>
      </p:sp>
      <p:sp>
        <p:nvSpPr>
          <p:cNvPr id="29" name="TextBox 28"/>
          <p:cNvSpPr txBox="1"/>
          <p:nvPr/>
        </p:nvSpPr>
        <p:spPr>
          <a:xfrm>
            <a:off x="5750451" y="1084645"/>
            <a:ext cx="2274982" cy="369332"/>
          </a:xfrm>
          <a:prstGeom prst="rect">
            <a:avLst/>
          </a:prstGeom>
          <a:noFill/>
        </p:spPr>
        <p:txBody>
          <a:bodyPr wrap="none" rtlCol="0">
            <a:spAutoFit/>
          </a:bodyPr>
          <a:lstStyle/>
          <a:p>
            <a:r>
              <a:rPr lang="en-US" b="1" dirty="0">
                <a:latin typeface="Helvetica Neue"/>
                <a:cs typeface="Helvetica Neue"/>
              </a:rPr>
              <a:t>ERTS </a:t>
            </a:r>
            <a:r>
              <a:rPr lang="en-US" b="1" dirty="0" err="1">
                <a:latin typeface="Helvetica Neue"/>
                <a:cs typeface="Helvetica Neue"/>
              </a:rPr>
              <a:t>vs</a:t>
            </a:r>
            <a:r>
              <a:rPr lang="en-US" b="1" dirty="0">
                <a:latin typeface="Helvetica Neue"/>
                <a:cs typeface="Helvetica Neue"/>
              </a:rPr>
              <a:t> non-ERTS</a:t>
            </a:r>
          </a:p>
        </p:txBody>
      </p:sp>
    </p:spTree>
    <p:extLst>
      <p:ext uri="{BB962C8B-B14F-4D97-AF65-F5344CB8AC3E}">
        <p14:creationId xmlns:p14="http://schemas.microsoft.com/office/powerpoint/2010/main" val="1188836055"/>
      </p:ext>
    </p:extLst>
  </p:cSld>
  <p:clrMapOvr>
    <a:masterClrMapping/>
  </p:clrMapOvr>
  <mc:AlternateContent xmlns:mc="http://schemas.openxmlformats.org/markup-compatibility/2006" xmlns:p14="http://schemas.microsoft.com/office/powerpoint/2010/main">
    <mc:Choice Requires="p14">
      <p:transition spd="slow" p14:dur="1600" advClick="0">
        <p14:prism isContent="1" isInverted="1"/>
      </p:transition>
    </mc:Choice>
    <mc:Fallback xmlns="">
      <p:transition xmlns:p14="http://schemas.microsoft.com/office/powerpoint/2010/mai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954"/>
            <a:ext cx="2542121" cy="369332"/>
          </a:xfrm>
          <a:prstGeom prst="rect">
            <a:avLst/>
          </a:prstGeom>
          <a:noFill/>
        </p:spPr>
        <p:txBody>
          <a:bodyPr wrap="none" rtlCol="0">
            <a:spAutoFit/>
          </a:bodyPr>
          <a:lstStyle/>
          <a:p>
            <a:r>
              <a:rPr lang="en-US" dirty="0">
                <a:solidFill>
                  <a:schemeClr val="tx1">
                    <a:lumMod val="50000"/>
                    <a:lumOff val="50000"/>
                  </a:schemeClr>
                </a:solidFill>
                <a:latin typeface="Helvetica Neue Light"/>
                <a:cs typeface="Helvetica Neue Light"/>
              </a:rPr>
              <a:t>Characteristics of RTSE</a:t>
            </a:r>
          </a:p>
        </p:txBody>
      </p:sp>
      <p:sp>
        <p:nvSpPr>
          <p:cNvPr id="5" name="Rectangle 4"/>
          <p:cNvSpPr/>
          <p:nvPr/>
        </p:nvSpPr>
        <p:spPr>
          <a:xfrm>
            <a:off x="0" y="373508"/>
            <a:ext cx="9144000" cy="8736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dirty="0">
              <a:latin typeface="Helvetica Neue Light"/>
              <a:cs typeface="Helvetica Neue Light"/>
            </a:endParaRPr>
          </a:p>
        </p:txBody>
      </p:sp>
      <p:sp>
        <p:nvSpPr>
          <p:cNvPr id="6" name="Rectangle 5"/>
          <p:cNvSpPr/>
          <p:nvPr/>
        </p:nvSpPr>
        <p:spPr>
          <a:xfrm>
            <a:off x="0" y="6339521"/>
            <a:ext cx="9144000" cy="518478"/>
          </a:xfrm>
          <a:prstGeom prst="rect">
            <a:avLst/>
          </a:prstGeom>
          <a:solidFill>
            <a:srgbClr val="31859C"/>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nchorCtr="0"/>
          <a:lstStyle/>
          <a:p>
            <a:endParaRPr lang="en-US" sz="2800" dirty="0">
              <a:latin typeface="Helvetica Neue Light"/>
              <a:cs typeface="Helvetica Neue Light"/>
            </a:endParaRPr>
          </a:p>
        </p:txBody>
      </p:sp>
      <p:sp>
        <p:nvSpPr>
          <p:cNvPr id="7" name="Rectangle 6"/>
          <p:cNvSpPr/>
          <p:nvPr/>
        </p:nvSpPr>
        <p:spPr>
          <a:xfrm>
            <a:off x="0" y="6339521"/>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Tips</a:t>
            </a:r>
          </a:p>
        </p:txBody>
      </p:sp>
      <p:sp>
        <p:nvSpPr>
          <p:cNvPr id="9" name="TextBox 8"/>
          <p:cNvSpPr txBox="1"/>
          <p:nvPr/>
        </p:nvSpPr>
        <p:spPr>
          <a:xfrm>
            <a:off x="94278" y="539298"/>
            <a:ext cx="3826689" cy="307777"/>
          </a:xfrm>
          <a:prstGeom prst="rect">
            <a:avLst/>
          </a:prstGeom>
          <a:noFill/>
        </p:spPr>
        <p:txBody>
          <a:bodyPr wrap="none" rtlCol="0">
            <a:spAutoFit/>
          </a:bodyPr>
          <a:lstStyle/>
          <a:p>
            <a:pPr marL="285750" indent="-285750">
              <a:buFont typeface="Wingdings" charset="2"/>
              <a:buChar char="ü"/>
            </a:pPr>
            <a:r>
              <a:rPr lang="en-US" sz="1400" dirty="0">
                <a:latin typeface="Helvetica Neue Light"/>
                <a:cs typeface="Helvetica Neue Light"/>
              </a:rPr>
              <a:t>What are the </a:t>
            </a:r>
            <a:r>
              <a:rPr lang="en-US" sz="1400" dirty="0">
                <a:solidFill>
                  <a:srgbClr val="FF0000"/>
                </a:solidFill>
                <a:latin typeface="Helvetica Neue Light"/>
                <a:cs typeface="Helvetica Neue Light"/>
              </a:rPr>
              <a:t>main characteristics of RTSE</a:t>
            </a:r>
            <a:r>
              <a:rPr lang="en-US" sz="1400" dirty="0">
                <a:latin typeface="Helvetica Neue Light"/>
                <a:cs typeface="Helvetica Neue Light"/>
              </a:rPr>
              <a:t>?</a:t>
            </a:r>
          </a:p>
        </p:txBody>
      </p:sp>
      <p:sp>
        <p:nvSpPr>
          <p:cNvPr id="15" name="TextBox 14"/>
          <p:cNvSpPr txBox="1"/>
          <p:nvPr/>
        </p:nvSpPr>
        <p:spPr>
          <a:xfrm>
            <a:off x="1364657" y="6458073"/>
            <a:ext cx="1788799" cy="307777"/>
          </a:xfrm>
          <a:prstGeom prst="rect">
            <a:avLst/>
          </a:prstGeom>
          <a:noFill/>
        </p:spPr>
        <p:txBody>
          <a:bodyPr wrap="none" rtlCol="0">
            <a:spAutoFit/>
          </a:bodyPr>
          <a:lstStyle/>
          <a:p>
            <a:r>
              <a:rPr lang="en-US" sz="1400" dirty="0">
                <a:solidFill>
                  <a:schemeClr val="bg1"/>
                </a:solidFill>
                <a:latin typeface="Helvetica Neue Light"/>
                <a:cs typeface="Helvetica Neue Light"/>
              </a:rPr>
              <a:t>RTSE characteristics</a:t>
            </a:r>
          </a:p>
        </p:txBody>
      </p:sp>
      <p:sp>
        <p:nvSpPr>
          <p:cNvPr id="10" name="Arc 9"/>
          <p:cNvSpPr/>
          <p:nvPr/>
        </p:nvSpPr>
        <p:spPr>
          <a:xfrm rot="8095012">
            <a:off x="2845593" y="5040176"/>
            <a:ext cx="1119187" cy="1152525"/>
          </a:xfrm>
          <a:prstGeom prst="arc">
            <a:avLst/>
          </a:prstGeom>
          <a:ln w="19050">
            <a:solidFill>
              <a:srgbClr val="FF9900"/>
            </a:solidFill>
            <a:prstDash val="sysDot"/>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bg-BG"/>
          </a:p>
        </p:txBody>
      </p:sp>
      <p:sp>
        <p:nvSpPr>
          <p:cNvPr id="11" name="Arc 10"/>
          <p:cNvSpPr/>
          <p:nvPr/>
        </p:nvSpPr>
        <p:spPr>
          <a:xfrm rot="8095012">
            <a:off x="5112543" y="5040176"/>
            <a:ext cx="1119187" cy="1152525"/>
          </a:xfrm>
          <a:prstGeom prst="arc">
            <a:avLst/>
          </a:prstGeom>
          <a:ln w="19050">
            <a:solidFill>
              <a:srgbClr val="FF9900"/>
            </a:solidFill>
            <a:prstDash val="sysDot"/>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bg-BG"/>
          </a:p>
        </p:txBody>
      </p:sp>
      <p:sp>
        <p:nvSpPr>
          <p:cNvPr id="12" name="Arc 11"/>
          <p:cNvSpPr/>
          <p:nvPr/>
        </p:nvSpPr>
        <p:spPr>
          <a:xfrm rot="18636742">
            <a:off x="5153818" y="4425814"/>
            <a:ext cx="1120775" cy="1150937"/>
          </a:xfrm>
          <a:prstGeom prst="arc">
            <a:avLst>
              <a:gd name="adj1" fmla="val 16200000"/>
              <a:gd name="adj2" fmla="val 406277"/>
            </a:avLst>
          </a:prstGeom>
          <a:ln w="19050">
            <a:solidFill>
              <a:srgbClr val="CC3300"/>
            </a:solidFill>
            <a:prstDash val="sysDot"/>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bg-BG"/>
          </a:p>
        </p:txBody>
      </p:sp>
      <p:sp>
        <p:nvSpPr>
          <p:cNvPr id="13" name="Arc 12"/>
          <p:cNvSpPr/>
          <p:nvPr/>
        </p:nvSpPr>
        <p:spPr>
          <a:xfrm rot="18636742">
            <a:off x="2869405" y="4425814"/>
            <a:ext cx="1120775" cy="1150938"/>
          </a:xfrm>
          <a:prstGeom prst="arc">
            <a:avLst>
              <a:gd name="adj1" fmla="val 16200000"/>
              <a:gd name="adj2" fmla="val 406277"/>
            </a:avLst>
          </a:prstGeom>
          <a:ln w="19050">
            <a:solidFill>
              <a:srgbClr val="CC3300"/>
            </a:solidFill>
            <a:prstDash val="sysDot"/>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bg-BG"/>
          </a:p>
        </p:txBody>
      </p:sp>
      <p:sp>
        <p:nvSpPr>
          <p:cNvPr id="16" name="Oval 15"/>
          <p:cNvSpPr/>
          <p:nvPr/>
        </p:nvSpPr>
        <p:spPr>
          <a:xfrm>
            <a:off x="1327420" y="4407557"/>
            <a:ext cx="1827212" cy="1827213"/>
          </a:xfrm>
          <a:prstGeom prst="ellipse">
            <a:avLst/>
          </a:pr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bg1"/>
                </a:solidFill>
              </a:rPr>
              <a:t>Sensors</a:t>
            </a:r>
          </a:p>
          <a:p>
            <a:pPr algn="ctr" fontAlgn="auto">
              <a:spcBef>
                <a:spcPts val="0"/>
              </a:spcBef>
              <a:spcAft>
                <a:spcPts val="0"/>
              </a:spcAft>
              <a:defRPr/>
            </a:pPr>
            <a:r>
              <a:rPr lang="en-US" dirty="0">
                <a:solidFill>
                  <a:schemeClr val="bg1"/>
                </a:solidFill>
              </a:rPr>
              <a:t>(inputs)</a:t>
            </a:r>
            <a:endParaRPr lang="bg-BG" dirty="0">
              <a:solidFill>
                <a:schemeClr val="bg1"/>
              </a:solidFill>
            </a:endParaRPr>
          </a:p>
        </p:txBody>
      </p:sp>
      <p:sp>
        <p:nvSpPr>
          <p:cNvPr id="19" name="Oval 18"/>
          <p:cNvSpPr/>
          <p:nvPr/>
        </p:nvSpPr>
        <p:spPr bwMode="auto">
          <a:xfrm>
            <a:off x="3644899" y="4407557"/>
            <a:ext cx="1827213" cy="182721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rgbClr val="FFFFFF"/>
                </a:solidFill>
              </a:rPr>
              <a:t>ERT software</a:t>
            </a:r>
            <a:endParaRPr lang="bg-BG" dirty="0">
              <a:solidFill>
                <a:srgbClr val="FFFFFF"/>
              </a:solidFill>
            </a:endParaRPr>
          </a:p>
        </p:txBody>
      </p:sp>
      <p:sp>
        <p:nvSpPr>
          <p:cNvPr id="22" name="Oval 21"/>
          <p:cNvSpPr/>
          <p:nvPr/>
        </p:nvSpPr>
        <p:spPr bwMode="auto">
          <a:xfrm>
            <a:off x="5913437" y="4407557"/>
            <a:ext cx="1827212" cy="1827213"/>
          </a:xfrm>
          <a:prstGeom prst="ellipse">
            <a:avLst/>
          </a:prstGeom>
          <a:solidFill>
            <a:srgbClr val="C0504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rgbClr val="FFFFFF"/>
                </a:solidFill>
              </a:rPr>
              <a:t>Actuators</a:t>
            </a:r>
          </a:p>
          <a:p>
            <a:pPr algn="ctr" fontAlgn="auto">
              <a:spcBef>
                <a:spcPts val="0"/>
              </a:spcBef>
              <a:spcAft>
                <a:spcPts val="0"/>
              </a:spcAft>
              <a:defRPr/>
            </a:pPr>
            <a:r>
              <a:rPr lang="en-US" dirty="0">
                <a:solidFill>
                  <a:srgbClr val="FFFFFF"/>
                </a:solidFill>
              </a:rPr>
              <a:t>(outputs/response)</a:t>
            </a:r>
            <a:endParaRPr lang="bg-BG" dirty="0">
              <a:solidFill>
                <a:srgbClr val="FFFFFF"/>
              </a:solidFill>
            </a:endParaRPr>
          </a:p>
        </p:txBody>
      </p:sp>
      <p:graphicFrame>
        <p:nvGraphicFramePr>
          <p:cNvPr id="24" name="Content Placeholder 15"/>
          <p:cNvGraphicFramePr>
            <a:graphicFrameLocks noGrp="1" noChangeAspect="1"/>
          </p:cNvGraphicFramePr>
          <p:nvPr>
            <p:ph/>
            <p:extLst>
              <p:ext uri="{D42A27DB-BD31-4B8C-83A1-F6EECF244321}">
                <p14:modId xmlns:p14="http://schemas.microsoft.com/office/powerpoint/2010/main" val="4035664778"/>
              </p:ext>
            </p:extLst>
          </p:nvPr>
        </p:nvGraphicFramePr>
        <p:xfrm>
          <a:off x="612191" y="962896"/>
          <a:ext cx="7755433" cy="3275729"/>
        </p:xfrm>
        <a:graphic>
          <a:graphicData uri="http://schemas.openxmlformats.org/presentationml/2006/ole">
            <mc:AlternateContent xmlns:mc="http://schemas.openxmlformats.org/markup-compatibility/2006">
              <mc:Choice xmlns:v="urn:schemas-microsoft-com:vml" Requires="v">
                <p:oleObj spid="_x0000_s3127" name="Visio" r:id="rId4" imgW="6749279" imgH="3172389" progId="Visio.Drawing.6">
                  <p:embed/>
                </p:oleObj>
              </mc:Choice>
              <mc:Fallback>
                <p:oleObj name="Visio" r:id="rId4" imgW="6749279" imgH="3172389"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191" y="962896"/>
                        <a:ext cx="7755433" cy="327572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858633737"/>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5208153" y="691336"/>
            <a:ext cx="2072186" cy="1032468"/>
          </a:xfrm>
          <a:prstGeom prst="rect">
            <a:avLst/>
          </a:prstGeom>
        </p:spPr>
      </p:pic>
      <p:sp>
        <p:nvSpPr>
          <p:cNvPr id="4" name="TextBox 3"/>
          <p:cNvSpPr txBox="1"/>
          <p:nvPr/>
        </p:nvSpPr>
        <p:spPr>
          <a:xfrm>
            <a:off x="0" y="20954"/>
            <a:ext cx="2542121" cy="369332"/>
          </a:xfrm>
          <a:prstGeom prst="rect">
            <a:avLst/>
          </a:prstGeom>
          <a:noFill/>
        </p:spPr>
        <p:txBody>
          <a:bodyPr wrap="none" rtlCol="0">
            <a:spAutoFit/>
          </a:bodyPr>
          <a:lstStyle/>
          <a:p>
            <a:r>
              <a:rPr lang="en-US" dirty="0">
                <a:solidFill>
                  <a:schemeClr val="tx1">
                    <a:lumMod val="50000"/>
                    <a:lumOff val="50000"/>
                  </a:schemeClr>
                </a:solidFill>
                <a:latin typeface="Helvetica Neue Light"/>
                <a:cs typeface="Helvetica Neue Light"/>
              </a:rPr>
              <a:t>Characteristics of RTSE</a:t>
            </a:r>
          </a:p>
        </p:txBody>
      </p:sp>
      <p:sp>
        <p:nvSpPr>
          <p:cNvPr id="5" name="Rectangle 4"/>
          <p:cNvSpPr/>
          <p:nvPr/>
        </p:nvSpPr>
        <p:spPr>
          <a:xfrm>
            <a:off x="0" y="373508"/>
            <a:ext cx="9144000" cy="8736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dirty="0">
              <a:latin typeface="Helvetica Neue Light"/>
              <a:cs typeface="Helvetica Neue Light"/>
            </a:endParaRPr>
          </a:p>
        </p:txBody>
      </p:sp>
      <p:sp>
        <p:nvSpPr>
          <p:cNvPr id="6" name="Rectangle 5"/>
          <p:cNvSpPr/>
          <p:nvPr/>
        </p:nvSpPr>
        <p:spPr>
          <a:xfrm>
            <a:off x="0" y="6339521"/>
            <a:ext cx="9144000" cy="518478"/>
          </a:xfrm>
          <a:prstGeom prst="rect">
            <a:avLst/>
          </a:prstGeom>
          <a:solidFill>
            <a:srgbClr val="31859C"/>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nchorCtr="0"/>
          <a:lstStyle/>
          <a:p>
            <a:endParaRPr lang="en-US" sz="2800" dirty="0">
              <a:latin typeface="Helvetica Neue Light"/>
              <a:cs typeface="Helvetica Neue Light"/>
            </a:endParaRPr>
          </a:p>
        </p:txBody>
      </p:sp>
      <p:sp>
        <p:nvSpPr>
          <p:cNvPr id="7" name="Rectangle 6"/>
          <p:cNvSpPr/>
          <p:nvPr/>
        </p:nvSpPr>
        <p:spPr>
          <a:xfrm>
            <a:off x="0" y="6339521"/>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Tips</a:t>
            </a:r>
          </a:p>
        </p:txBody>
      </p:sp>
      <p:sp>
        <p:nvSpPr>
          <p:cNvPr id="9" name="TextBox 8"/>
          <p:cNvSpPr txBox="1"/>
          <p:nvPr/>
        </p:nvSpPr>
        <p:spPr>
          <a:xfrm>
            <a:off x="3573862" y="3210234"/>
            <a:ext cx="1928733" cy="646331"/>
          </a:xfrm>
          <a:prstGeom prst="rect">
            <a:avLst/>
          </a:prstGeom>
          <a:noFill/>
        </p:spPr>
        <p:txBody>
          <a:bodyPr wrap="none" rtlCol="0">
            <a:spAutoFit/>
          </a:bodyPr>
          <a:lstStyle/>
          <a:p>
            <a:pPr algn="ctr"/>
            <a:r>
              <a:rPr lang="en-US" b="1" dirty="0">
                <a:solidFill>
                  <a:srgbClr val="FF0000"/>
                </a:solidFill>
                <a:latin typeface="Helvetica Neue Light"/>
                <a:cs typeface="Helvetica Neue Light"/>
              </a:rPr>
              <a:t>Characteristics of</a:t>
            </a:r>
          </a:p>
          <a:p>
            <a:pPr algn="ctr"/>
            <a:r>
              <a:rPr lang="en-US" b="1" dirty="0">
                <a:solidFill>
                  <a:srgbClr val="FF0000"/>
                </a:solidFill>
                <a:latin typeface="Helvetica Neue Light"/>
                <a:cs typeface="Helvetica Neue Light"/>
              </a:rPr>
              <a:t>RTSE</a:t>
            </a:r>
            <a:endParaRPr lang="en-US" b="1" dirty="0">
              <a:latin typeface="Helvetica Neue Light"/>
              <a:cs typeface="Helvetica Neue Light"/>
            </a:endParaRPr>
          </a:p>
        </p:txBody>
      </p:sp>
      <p:sp>
        <p:nvSpPr>
          <p:cNvPr id="15" name="TextBox 14"/>
          <p:cNvSpPr txBox="1"/>
          <p:nvPr/>
        </p:nvSpPr>
        <p:spPr>
          <a:xfrm>
            <a:off x="1364657" y="6458073"/>
            <a:ext cx="1697901" cy="307777"/>
          </a:xfrm>
          <a:prstGeom prst="rect">
            <a:avLst/>
          </a:prstGeom>
          <a:noFill/>
        </p:spPr>
        <p:txBody>
          <a:bodyPr wrap="none" rtlCol="0">
            <a:spAutoFit/>
          </a:bodyPr>
          <a:lstStyle/>
          <a:p>
            <a:r>
              <a:rPr lang="en-US" sz="1400" dirty="0">
                <a:solidFill>
                  <a:schemeClr val="bg1"/>
                </a:solidFill>
                <a:latin typeface="Helvetica Neue Light"/>
                <a:cs typeface="Helvetica Neue Light"/>
              </a:rPr>
              <a:t>RTSE </a:t>
            </a:r>
            <a:r>
              <a:rPr lang="en-US" sz="1400" dirty="0" err="1">
                <a:solidFill>
                  <a:schemeClr val="bg1"/>
                </a:solidFill>
                <a:latin typeface="Helvetica Neue Light"/>
                <a:cs typeface="Helvetica Neue Light"/>
              </a:rPr>
              <a:t>charateristics</a:t>
            </a:r>
            <a:endParaRPr lang="en-US" sz="1400" dirty="0">
              <a:solidFill>
                <a:schemeClr val="bg1"/>
              </a:solidFill>
              <a:latin typeface="Helvetica Neue Light"/>
              <a:cs typeface="Helvetica Neue Light"/>
            </a:endParaRPr>
          </a:p>
        </p:txBody>
      </p:sp>
      <p:sp>
        <p:nvSpPr>
          <p:cNvPr id="18" name="Freeform 17"/>
          <p:cNvSpPr>
            <a:spLocks/>
          </p:cNvSpPr>
          <p:nvPr/>
        </p:nvSpPr>
        <p:spPr bwMode="auto">
          <a:xfrm>
            <a:off x="3030103" y="1395518"/>
            <a:ext cx="1682750" cy="1465263"/>
          </a:xfrm>
          <a:custGeom>
            <a:avLst/>
            <a:gdLst>
              <a:gd name="T0" fmla="*/ 834 w 930"/>
              <a:gd name="T1" fmla="*/ 203 h 809"/>
              <a:gd name="T2" fmla="*/ 834 w 930"/>
              <a:gd name="T3" fmla="*/ 0 h 809"/>
              <a:gd name="T4" fmla="*/ 0 w 930"/>
              <a:gd name="T5" fmla="*/ 345 h 809"/>
              <a:gd name="T6" fmla="*/ 464 w 930"/>
              <a:gd name="T7" fmla="*/ 809 h 809"/>
              <a:gd name="T8" fmla="*/ 834 w 930"/>
              <a:gd name="T9" fmla="*/ 656 h 809"/>
              <a:gd name="T10" fmla="*/ 834 w 930"/>
              <a:gd name="T11" fmla="*/ 404 h 809"/>
              <a:gd name="T12" fmla="*/ 930 w 930"/>
              <a:gd name="T13" fmla="*/ 307 h 809"/>
              <a:gd name="T14" fmla="*/ 834 w 930"/>
              <a:gd name="T15" fmla="*/ 203 h 8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0" h="809">
                <a:moveTo>
                  <a:pt x="834" y="203"/>
                </a:moveTo>
                <a:cubicBezTo>
                  <a:pt x="834" y="0"/>
                  <a:pt x="834" y="0"/>
                  <a:pt x="834" y="0"/>
                </a:cubicBezTo>
                <a:cubicBezTo>
                  <a:pt x="508" y="0"/>
                  <a:pt x="214" y="132"/>
                  <a:pt x="0" y="345"/>
                </a:cubicBezTo>
                <a:cubicBezTo>
                  <a:pt x="464" y="809"/>
                  <a:pt x="464" y="809"/>
                  <a:pt x="464" y="809"/>
                </a:cubicBezTo>
                <a:cubicBezTo>
                  <a:pt x="559" y="714"/>
                  <a:pt x="689" y="656"/>
                  <a:pt x="834" y="656"/>
                </a:cubicBezTo>
                <a:cubicBezTo>
                  <a:pt x="834" y="404"/>
                  <a:pt x="834" y="404"/>
                  <a:pt x="834" y="404"/>
                </a:cubicBezTo>
                <a:cubicBezTo>
                  <a:pt x="930" y="307"/>
                  <a:pt x="930" y="307"/>
                  <a:pt x="930" y="307"/>
                </a:cubicBezTo>
                <a:lnTo>
                  <a:pt x="834" y="203"/>
                </a:lnTo>
                <a:close/>
              </a:path>
            </a:pathLst>
          </a:custGeom>
          <a:solidFill>
            <a:srgbClr val="558ED5"/>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p:nvSpPr>
        <p:spPr bwMode="auto">
          <a:xfrm>
            <a:off x="2404628" y="2020993"/>
            <a:ext cx="1465263" cy="1508125"/>
          </a:xfrm>
          <a:custGeom>
            <a:avLst/>
            <a:gdLst>
              <a:gd name="T0" fmla="*/ 0 w 809"/>
              <a:gd name="T1" fmla="*/ 834 h 834"/>
              <a:gd name="T2" fmla="*/ 656 w 809"/>
              <a:gd name="T3" fmla="*/ 834 h 834"/>
              <a:gd name="T4" fmla="*/ 809 w 809"/>
              <a:gd name="T5" fmla="*/ 464 h 834"/>
              <a:gd name="T6" fmla="*/ 631 w 809"/>
              <a:gd name="T7" fmla="*/ 286 h 834"/>
              <a:gd name="T8" fmla="*/ 626 w 809"/>
              <a:gd name="T9" fmla="*/ 145 h 834"/>
              <a:gd name="T10" fmla="*/ 489 w 809"/>
              <a:gd name="T11" fmla="*/ 144 h 834"/>
              <a:gd name="T12" fmla="*/ 345 w 809"/>
              <a:gd name="T13" fmla="*/ 0 h 834"/>
              <a:gd name="T14" fmla="*/ 0 w 80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9" h="834">
                <a:moveTo>
                  <a:pt x="0" y="834"/>
                </a:moveTo>
                <a:cubicBezTo>
                  <a:pt x="656" y="834"/>
                  <a:pt x="656" y="834"/>
                  <a:pt x="656" y="834"/>
                </a:cubicBezTo>
                <a:cubicBezTo>
                  <a:pt x="656" y="700"/>
                  <a:pt x="707" y="566"/>
                  <a:pt x="809" y="464"/>
                </a:cubicBezTo>
                <a:cubicBezTo>
                  <a:pt x="631" y="286"/>
                  <a:pt x="631" y="286"/>
                  <a:pt x="631" y="286"/>
                </a:cubicBezTo>
                <a:cubicBezTo>
                  <a:pt x="626" y="145"/>
                  <a:pt x="626" y="145"/>
                  <a:pt x="626" y="145"/>
                </a:cubicBezTo>
                <a:cubicBezTo>
                  <a:pt x="489" y="144"/>
                  <a:pt x="489" y="144"/>
                  <a:pt x="489" y="144"/>
                </a:cubicBezTo>
                <a:cubicBezTo>
                  <a:pt x="345" y="0"/>
                  <a:pt x="345" y="0"/>
                  <a:pt x="345" y="0"/>
                </a:cubicBezTo>
                <a:cubicBezTo>
                  <a:pt x="115" y="230"/>
                  <a:pt x="0" y="532"/>
                  <a:pt x="0" y="834"/>
                </a:cubicBezTo>
              </a:path>
            </a:pathLst>
          </a:custGeom>
          <a:solidFill>
            <a:srgbClr val="FF990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p:cNvSpPr>
          <p:nvPr/>
        </p:nvSpPr>
        <p:spPr bwMode="auto">
          <a:xfrm>
            <a:off x="2404628" y="3356081"/>
            <a:ext cx="1465263" cy="1682750"/>
          </a:xfrm>
          <a:custGeom>
            <a:avLst/>
            <a:gdLst>
              <a:gd name="T0" fmla="*/ 345 w 809"/>
              <a:gd name="T1" fmla="*/ 930 h 930"/>
              <a:gd name="T2" fmla="*/ 809 w 809"/>
              <a:gd name="T3" fmla="*/ 466 h 930"/>
              <a:gd name="T4" fmla="*/ 656 w 809"/>
              <a:gd name="T5" fmla="*/ 96 h 930"/>
              <a:gd name="T6" fmla="*/ 404 w 809"/>
              <a:gd name="T7" fmla="*/ 96 h 930"/>
              <a:gd name="T8" fmla="*/ 301 w 809"/>
              <a:gd name="T9" fmla="*/ 0 h 930"/>
              <a:gd name="T10" fmla="*/ 204 w 809"/>
              <a:gd name="T11" fmla="*/ 96 h 930"/>
              <a:gd name="T12" fmla="*/ 0 w 809"/>
              <a:gd name="T13" fmla="*/ 96 h 930"/>
              <a:gd name="T14" fmla="*/ 345 w 809"/>
              <a:gd name="T15" fmla="*/ 930 h 9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9" h="930">
                <a:moveTo>
                  <a:pt x="345" y="930"/>
                </a:moveTo>
                <a:cubicBezTo>
                  <a:pt x="809" y="466"/>
                  <a:pt x="809" y="466"/>
                  <a:pt x="809" y="466"/>
                </a:cubicBezTo>
                <a:cubicBezTo>
                  <a:pt x="714" y="371"/>
                  <a:pt x="656" y="240"/>
                  <a:pt x="656" y="96"/>
                </a:cubicBezTo>
                <a:cubicBezTo>
                  <a:pt x="404" y="96"/>
                  <a:pt x="404" y="96"/>
                  <a:pt x="404" y="96"/>
                </a:cubicBezTo>
                <a:cubicBezTo>
                  <a:pt x="301" y="0"/>
                  <a:pt x="301" y="0"/>
                  <a:pt x="301" y="0"/>
                </a:cubicBezTo>
                <a:cubicBezTo>
                  <a:pt x="204" y="96"/>
                  <a:pt x="204" y="96"/>
                  <a:pt x="204" y="96"/>
                </a:cubicBezTo>
                <a:cubicBezTo>
                  <a:pt x="0" y="96"/>
                  <a:pt x="0" y="96"/>
                  <a:pt x="0" y="96"/>
                </a:cubicBezTo>
                <a:cubicBezTo>
                  <a:pt x="0" y="421"/>
                  <a:pt x="132" y="716"/>
                  <a:pt x="345" y="930"/>
                </a:cubicBezTo>
              </a:path>
            </a:pathLst>
          </a:custGeom>
          <a:solidFill>
            <a:srgbClr val="CC330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3" name="Freeform 22"/>
          <p:cNvSpPr>
            <a:spLocks/>
          </p:cNvSpPr>
          <p:nvPr/>
        </p:nvSpPr>
        <p:spPr bwMode="auto">
          <a:xfrm>
            <a:off x="3030103" y="4199043"/>
            <a:ext cx="1508125" cy="1465263"/>
          </a:xfrm>
          <a:custGeom>
            <a:avLst/>
            <a:gdLst>
              <a:gd name="T0" fmla="*/ 834 w 834"/>
              <a:gd name="T1" fmla="*/ 809 h 809"/>
              <a:gd name="T2" fmla="*/ 834 w 834"/>
              <a:gd name="T3" fmla="*/ 153 h 809"/>
              <a:gd name="T4" fmla="*/ 464 w 834"/>
              <a:gd name="T5" fmla="*/ 0 h 809"/>
              <a:gd name="T6" fmla="*/ 286 w 834"/>
              <a:gd name="T7" fmla="*/ 177 h 809"/>
              <a:gd name="T8" fmla="*/ 146 w 834"/>
              <a:gd name="T9" fmla="*/ 183 h 809"/>
              <a:gd name="T10" fmla="*/ 144 w 834"/>
              <a:gd name="T11" fmla="*/ 320 h 809"/>
              <a:gd name="T12" fmla="*/ 0 w 834"/>
              <a:gd name="T13" fmla="*/ 464 h 809"/>
              <a:gd name="T14" fmla="*/ 834 w 834"/>
              <a:gd name="T15" fmla="*/ 809 h 8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4" h="809">
                <a:moveTo>
                  <a:pt x="834" y="809"/>
                </a:moveTo>
                <a:cubicBezTo>
                  <a:pt x="834" y="153"/>
                  <a:pt x="834" y="153"/>
                  <a:pt x="834" y="153"/>
                </a:cubicBezTo>
                <a:cubicBezTo>
                  <a:pt x="700" y="153"/>
                  <a:pt x="566" y="102"/>
                  <a:pt x="464" y="0"/>
                </a:cubicBezTo>
                <a:cubicBezTo>
                  <a:pt x="286" y="177"/>
                  <a:pt x="286" y="177"/>
                  <a:pt x="286" y="177"/>
                </a:cubicBezTo>
                <a:cubicBezTo>
                  <a:pt x="146" y="183"/>
                  <a:pt x="146" y="183"/>
                  <a:pt x="146" y="183"/>
                </a:cubicBezTo>
                <a:cubicBezTo>
                  <a:pt x="144" y="320"/>
                  <a:pt x="144" y="320"/>
                  <a:pt x="144" y="320"/>
                </a:cubicBezTo>
                <a:cubicBezTo>
                  <a:pt x="0" y="464"/>
                  <a:pt x="0" y="464"/>
                  <a:pt x="0" y="464"/>
                </a:cubicBezTo>
                <a:cubicBezTo>
                  <a:pt x="230" y="694"/>
                  <a:pt x="532" y="809"/>
                  <a:pt x="834" y="809"/>
                </a:cubicBezTo>
              </a:path>
            </a:pathLst>
          </a:custGeom>
          <a:solidFill>
            <a:srgbClr val="0099FF"/>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5" name="Freeform 24"/>
          <p:cNvSpPr>
            <a:spLocks/>
          </p:cNvSpPr>
          <p:nvPr/>
        </p:nvSpPr>
        <p:spPr bwMode="auto">
          <a:xfrm>
            <a:off x="4365191" y="4199043"/>
            <a:ext cx="1682750" cy="1465263"/>
          </a:xfrm>
          <a:custGeom>
            <a:avLst/>
            <a:gdLst>
              <a:gd name="T0" fmla="*/ 930 w 930"/>
              <a:gd name="T1" fmla="*/ 464 h 809"/>
              <a:gd name="T2" fmla="*/ 466 w 930"/>
              <a:gd name="T3" fmla="*/ 0 h 809"/>
              <a:gd name="T4" fmla="*/ 96 w 930"/>
              <a:gd name="T5" fmla="*/ 153 h 809"/>
              <a:gd name="T6" fmla="*/ 96 w 930"/>
              <a:gd name="T7" fmla="*/ 404 h 809"/>
              <a:gd name="T8" fmla="*/ 0 w 930"/>
              <a:gd name="T9" fmla="*/ 508 h 809"/>
              <a:gd name="T10" fmla="*/ 96 w 930"/>
              <a:gd name="T11" fmla="*/ 605 h 809"/>
              <a:gd name="T12" fmla="*/ 96 w 930"/>
              <a:gd name="T13" fmla="*/ 809 h 809"/>
              <a:gd name="T14" fmla="*/ 930 w 930"/>
              <a:gd name="T15" fmla="*/ 464 h 8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0" h="809">
                <a:moveTo>
                  <a:pt x="930" y="464"/>
                </a:moveTo>
                <a:cubicBezTo>
                  <a:pt x="466" y="0"/>
                  <a:pt x="466" y="0"/>
                  <a:pt x="466" y="0"/>
                </a:cubicBezTo>
                <a:cubicBezTo>
                  <a:pt x="371" y="94"/>
                  <a:pt x="240" y="153"/>
                  <a:pt x="96" y="153"/>
                </a:cubicBezTo>
                <a:cubicBezTo>
                  <a:pt x="96" y="404"/>
                  <a:pt x="96" y="404"/>
                  <a:pt x="96" y="404"/>
                </a:cubicBezTo>
                <a:cubicBezTo>
                  <a:pt x="0" y="508"/>
                  <a:pt x="0" y="508"/>
                  <a:pt x="0" y="508"/>
                </a:cubicBezTo>
                <a:cubicBezTo>
                  <a:pt x="96" y="605"/>
                  <a:pt x="96" y="605"/>
                  <a:pt x="96" y="605"/>
                </a:cubicBezTo>
                <a:cubicBezTo>
                  <a:pt x="96" y="809"/>
                  <a:pt x="96" y="809"/>
                  <a:pt x="96" y="809"/>
                </a:cubicBezTo>
                <a:cubicBezTo>
                  <a:pt x="422" y="809"/>
                  <a:pt x="716" y="677"/>
                  <a:pt x="930" y="464"/>
                </a:cubicBezTo>
              </a:path>
            </a:pathLst>
          </a:custGeom>
          <a:solidFill>
            <a:srgbClr val="FF990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6" name="Freeform 25"/>
          <p:cNvSpPr>
            <a:spLocks/>
          </p:cNvSpPr>
          <p:nvPr/>
        </p:nvSpPr>
        <p:spPr bwMode="auto">
          <a:xfrm>
            <a:off x="5208153" y="3529118"/>
            <a:ext cx="1465263" cy="1509713"/>
          </a:xfrm>
          <a:custGeom>
            <a:avLst/>
            <a:gdLst>
              <a:gd name="T0" fmla="*/ 320 w 809"/>
              <a:gd name="T1" fmla="*/ 690 h 834"/>
              <a:gd name="T2" fmla="*/ 464 w 809"/>
              <a:gd name="T3" fmla="*/ 834 h 834"/>
              <a:gd name="T4" fmla="*/ 464 w 809"/>
              <a:gd name="T5" fmla="*/ 834 h 834"/>
              <a:gd name="T6" fmla="*/ 809 w 809"/>
              <a:gd name="T7" fmla="*/ 0 h 834"/>
              <a:gd name="T8" fmla="*/ 153 w 809"/>
              <a:gd name="T9" fmla="*/ 0 h 834"/>
              <a:gd name="T10" fmla="*/ 0 w 809"/>
              <a:gd name="T11" fmla="*/ 370 h 834"/>
              <a:gd name="T12" fmla="*/ 0 w 809"/>
              <a:gd name="T13" fmla="*/ 370 h 834"/>
              <a:gd name="T14" fmla="*/ 178 w 809"/>
              <a:gd name="T15" fmla="*/ 547 h 834"/>
              <a:gd name="T16" fmla="*/ 179 w 809"/>
              <a:gd name="T17" fmla="*/ 684 h 834"/>
              <a:gd name="T18" fmla="*/ 320 w 809"/>
              <a:gd name="T19" fmla="*/ 69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9" h="834">
                <a:moveTo>
                  <a:pt x="320" y="690"/>
                </a:moveTo>
                <a:cubicBezTo>
                  <a:pt x="464" y="834"/>
                  <a:pt x="464" y="834"/>
                  <a:pt x="464" y="834"/>
                </a:cubicBezTo>
                <a:cubicBezTo>
                  <a:pt x="464" y="834"/>
                  <a:pt x="464" y="834"/>
                  <a:pt x="464" y="834"/>
                </a:cubicBezTo>
                <a:cubicBezTo>
                  <a:pt x="694" y="603"/>
                  <a:pt x="809" y="302"/>
                  <a:pt x="809" y="0"/>
                </a:cubicBezTo>
                <a:cubicBezTo>
                  <a:pt x="153" y="0"/>
                  <a:pt x="153" y="0"/>
                  <a:pt x="153" y="0"/>
                </a:cubicBezTo>
                <a:cubicBezTo>
                  <a:pt x="153" y="134"/>
                  <a:pt x="102" y="268"/>
                  <a:pt x="0" y="370"/>
                </a:cubicBezTo>
                <a:cubicBezTo>
                  <a:pt x="0" y="370"/>
                  <a:pt x="0" y="370"/>
                  <a:pt x="0" y="370"/>
                </a:cubicBezTo>
                <a:cubicBezTo>
                  <a:pt x="178" y="547"/>
                  <a:pt x="178" y="547"/>
                  <a:pt x="178" y="547"/>
                </a:cubicBezTo>
                <a:cubicBezTo>
                  <a:pt x="179" y="684"/>
                  <a:pt x="179" y="684"/>
                  <a:pt x="179" y="684"/>
                </a:cubicBezTo>
                <a:lnTo>
                  <a:pt x="320" y="690"/>
                </a:lnTo>
                <a:close/>
              </a:path>
            </a:pathLst>
          </a:custGeom>
          <a:solidFill>
            <a:srgbClr val="CC330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7" name="Freeform 26"/>
          <p:cNvSpPr>
            <a:spLocks/>
          </p:cNvSpPr>
          <p:nvPr/>
        </p:nvSpPr>
        <p:spPr bwMode="auto">
          <a:xfrm>
            <a:off x="5208153" y="2020993"/>
            <a:ext cx="1465263" cy="1681163"/>
          </a:xfrm>
          <a:custGeom>
            <a:avLst/>
            <a:gdLst>
              <a:gd name="T0" fmla="*/ 605 w 809"/>
              <a:gd name="T1" fmla="*/ 834 h 929"/>
              <a:gd name="T2" fmla="*/ 809 w 809"/>
              <a:gd name="T3" fmla="*/ 834 h 929"/>
              <a:gd name="T4" fmla="*/ 809 w 809"/>
              <a:gd name="T5" fmla="*/ 834 h 929"/>
              <a:gd name="T6" fmla="*/ 464 w 809"/>
              <a:gd name="T7" fmla="*/ 0 h 929"/>
              <a:gd name="T8" fmla="*/ 0 w 809"/>
              <a:gd name="T9" fmla="*/ 464 h 929"/>
              <a:gd name="T10" fmla="*/ 153 w 809"/>
              <a:gd name="T11" fmla="*/ 834 h 929"/>
              <a:gd name="T12" fmla="*/ 153 w 809"/>
              <a:gd name="T13" fmla="*/ 834 h 929"/>
              <a:gd name="T14" fmla="*/ 404 w 809"/>
              <a:gd name="T15" fmla="*/ 834 h 929"/>
              <a:gd name="T16" fmla="*/ 502 w 809"/>
              <a:gd name="T17" fmla="*/ 929 h 929"/>
              <a:gd name="T18" fmla="*/ 605 w 809"/>
              <a:gd name="T19" fmla="*/ 834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9" h="929">
                <a:moveTo>
                  <a:pt x="605" y="834"/>
                </a:moveTo>
                <a:cubicBezTo>
                  <a:pt x="809" y="834"/>
                  <a:pt x="809" y="834"/>
                  <a:pt x="809" y="834"/>
                </a:cubicBezTo>
                <a:cubicBezTo>
                  <a:pt x="809" y="834"/>
                  <a:pt x="809" y="834"/>
                  <a:pt x="809" y="834"/>
                </a:cubicBezTo>
                <a:cubicBezTo>
                  <a:pt x="809" y="508"/>
                  <a:pt x="677" y="214"/>
                  <a:pt x="464" y="0"/>
                </a:cubicBezTo>
                <a:cubicBezTo>
                  <a:pt x="0" y="464"/>
                  <a:pt x="0" y="464"/>
                  <a:pt x="0" y="464"/>
                </a:cubicBezTo>
                <a:cubicBezTo>
                  <a:pt x="95" y="559"/>
                  <a:pt x="153" y="689"/>
                  <a:pt x="153" y="834"/>
                </a:cubicBezTo>
                <a:cubicBezTo>
                  <a:pt x="153" y="834"/>
                  <a:pt x="153" y="834"/>
                  <a:pt x="153" y="834"/>
                </a:cubicBezTo>
                <a:cubicBezTo>
                  <a:pt x="404" y="834"/>
                  <a:pt x="404" y="834"/>
                  <a:pt x="404" y="834"/>
                </a:cubicBezTo>
                <a:cubicBezTo>
                  <a:pt x="502" y="929"/>
                  <a:pt x="502" y="929"/>
                  <a:pt x="502" y="929"/>
                </a:cubicBezTo>
                <a:lnTo>
                  <a:pt x="605" y="834"/>
                </a:lnTo>
                <a:close/>
              </a:path>
            </a:pathLst>
          </a:custGeom>
          <a:solidFill>
            <a:srgbClr val="0099FF"/>
          </a:solidFill>
          <a:ln>
            <a:noFill/>
          </a:ln>
          <a:extLst/>
        </p:spPr>
        <p:txBody>
          <a:bodyPr vert="horz" wrap="square" lIns="91440" tIns="45720" rIns="91440" bIns="45720" numCol="1" anchor="t" anchorCtr="0" compatLnSpc="1">
            <a:prstTxWarp prst="textNoShape">
              <a:avLst/>
            </a:prstTxWarp>
          </a:bodyPr>
          <a:lstStyle/>
          <a:p>
            <a:endParaRPr lang="en-US"/>
          </a:p>
        </p:txBody>
      </p:sp>
      <p:grpSp>
        <p:nvGrpSpPr>
          <p:cNvPr id="28" name="Group 27"/>
          <p:cNvGrpSpPr/>
          <p:nvPr/>
        </p:nvGrpSpPr>
        <p:grpSpPr>
          <a:xfrm>
            <a:off x="4538228" y="1395518"/>
            <a:ext cx="1509713" cy="1465263"/>
            <a:chOff x="2481262" y="1034256"/>
            <a:chExt cx="1509713" cy="1465263"/>
          </a:xfrm>
          <a:solidFill>
            <a:srgbClr val="FF9900"/>
          </a:solidFill>
        </p:grpSpPr>
        <p:sp>
          <p:nvSpPr>
            <p:cNvPr id="29" name="Freeform 28"/>
            <p:cNvSpPr>
              <a:spLocks/>
            </p:cNvSpPr>
            <p:nvPr/>
          </p:nvSpPr>
          <p:spPr bwMode="auto">
            <a:xfrm>
              <a:off x="2481262" y="1034256"/>
              <a:ext cx="1509713" cy="1465263"/>
            </a:xfrm>
            <a:custGeom>
              <a:avLst/>
              <a:gdLst>
                <a:gd name="T0" fmla="*/ 690 w 834"/>
                <a:gd name="T1" fmla="*/ 489 h 809"/>
                <a:gd name="T2" fmla="*/ 834 w 834"/>
                <a:gd name="T3" fmla="*/ 345 h 809"/>
                <a:gd name="T4" fmla="*/ 834 w 834"/>
                <a:gd name="T5" fmla="*/ 345 h 809"/>
                <a:gd name="T6" fmla="*/ 0 w 834"/>
                <a:gd name="T7" fmla="*/ 0 h 809"/>
                <a:gd name="T8" fmla="*/ 0 w 834"/>
                <a:gd name="T9" fmla="*/ 656 h 809"/>
                <a:gd name="T10" fmla="*/ 370 w 834"/>
                <a:gd name="T11" fmla="*/ 809 h 809"/>
                <a:gd name="T12" fmla="*/ 370 w 834"/>
                <a:gd name="T13" fmla="*/ 809 h 809"/>
                <a:gd name="T14" fmla="*/ 548 w 834"/>
                <a:gd name="T15" fmla="*/ 631 h 809"/>
                <a:gd name="T16" fmla="*/ 684 w 834"/>
                <a:gd name="T17" fmla="*/ 630 h 809"/>
                <a:gd name="T18" fmla="*/ 690 w 834"/>
                <a:gd name="T19" fmla="*/ 489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809">
                  <a:moveTo>
                    <a:pt x="690" y="489"/>
                  </a:moveTo>
                  <a:cubicBezTo>
                    <a:pt x="834" y="345"/>
                    <a:pt x="834" y="345"/>
                    <a:pt x="834" y="345"/>
                  </a:cubicBezTo>
                  <a:cubicBezTo>
                    <a:pt x="834" y="345"/>
                    <a:pt x="834" y="345"/>
                    <a:pt x="834" y="345"/>
                  </a:cubicBezTo>
                  <a:cubicBezTo>
                    <a:pt x="603" y="115"/>
                    <a:pt x="302" y="0"/>
                    <a:pt x="0" y="0"/>
                  </a:cubicBezTo>
                  <a:cubicBezTo>
                    <a:pt x="0" y="656"/>
                    <a:pt x="0" y="656"/>
                    <a:pt x="0" y="656"/>
                  </a:cubicBezTo>
                  <a:cubicBezTo>
                    <a:pt x="134" y="656"/>
                    <a:pt x="268" y="707"/>
                    <a:pt x="370" y="809"/>
                  </a:cubicBezTo>
                  <a:cubicBezTo>
                    <a:pt x="370" y="809"/>
                    <a:pt x="370" y="809"/>
                    <a:pt x="370" y="809"/>
                  </a:cubicBezTo>
                  <a:cubicBezTo>
                    <a:pt x="548" y="631"/>
                    <a:pt x="548" y="631"/>
                    <a:pt x="548" y="631"/>
                  </a:cubicBezTo>
                  <a:cubicBezTo>
                    <a:pt x="684" y="630"/>
                    <a:pt x="684" y="630"/>
                    <a:pt x="684" y="630"/>
                  </a:cubicBezTo>
                  <a:lnTo>
                    <a:pt x="690" y="489"/>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0" name="Freeform 29"/>
            <p:cNvSpPr>
              <a:spLocks/>
            </p:cNvSpPr>
            <p:nvPr/>
          </p:nvSpPr>
          <p:spPr bwMode="auto">
            <a:xfrm>
              <a:off x="3471862" y="1918494"/>
              <a:ext cx="257175" cy="255588"/>
            </a:xfrm>
            <a:custGeom>
              <a:avLst/>
              <a:gdLst>
                <a:gd name="T0" fmla="*/ 162 w 162"/>
                <a:gd name="T1" fmla="*/ 0 h 161"/>
                <a:gd name="T2" fmla="*/ 155 w 162"/>
                <a:gd name="T3" fmla="*/ 160 h 161"/>
                <a:gd name="T4" fmla="*/ 0 w 162"/>
                <a:gd name="T5" fmla="*/ 161 h 161"/>
                <a:gd name="T6" fmla="*/ 162 w 162"/>
                <a:gd name="T7" fmla="*/ 0 h 161"/>
              </a:gdLst>
              <a:ahLst/>
              <a:cxnLst>
                <a:cxn ang="0">
                  <a:pos x="T0" y="T1"/>
                </a:cxn>
                <a:cxn ang="0">
                  <a:pos x="T2" y="T3"/>
                </a:cxn>
                <a:cxn ang="0">
                  <a:pos x="T4" y="T5"/>
                </a:cxn>
                <a:cxn ang="0">
                  <a:pos x="T6" y="T7"/>
                </a:cxn>
              </a:cxnLst>
              <a:rect l="0" t="0" r="r" b="b"/>
              <a:pathLst>
                <a:path w="162" h="161">
                  <a:moveTo>
                    <a:pt x="162" y="0"/>
                  </a:moveTo>
                  <a:lnTo>
                    <a:pt x="155" y="160"/>
                  </a:lnTo>
                  <a:lnTo>
                    <a:pt x="0" y="161"/>
                  </a:lnTo>
                  <a:lnTo>
                    <a:pt x="162"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8" name="TextBox 47"/>
          <p:cNvSpPr txBox="1"/>
          <p:nvPr/>
        </p:nvSpPr>
        <p:spPr>
          <a:xfrm>
            <a:off x="3218847" y="1723804"/>
            <a:ext cx="1302088" cy="307777"/>
          </a:xfrm>
          <a:prstGeom prst="rect">
            <a:avLst/>
          </a:prstGeom>
          <a:noFill/>
        </p:spPr>
        <p:txBody>
          <a:bodyPr wrap="square">
            <a:spAutoFit/>
          </a:bodyPr>
          <a:lstStyle/>
          <a:p>
            <a:pPr algn="ctr" fontAlgn="auto">
              <a:spcBef>
                <a:spcPts val="0"/>
              </a:spcBef>
              <a:spcAft>
                <a:spcPts val="0"/>
              </a:spcAft>
              <a:defRPr/>
            </a:pPr>
            <a:r>
              <a:rPr lang="en-US" sz="1400" dirty="0">
                <a:solidFill>
                  <a:srgbClr val="FFFFFF"/>
                </a:solidFill>
                <a:latin typeface="Helvetica Neue Light"/>
                <a:cs typeface="Helvetica Neue Light"/>
              </a:rPr>
              <a:t>Timeliness</a:t>
            </a:r>
          </a:p>
        </p:txBody>
      </p:sp>
      <p:sp>
        <p:nvSpPr>
          <p:cNvPr id="54" name="TextBox 53"/>
          <p:cNvSpPr txBox="1"/>
          <p:nvPr/>
        </p:nvSpPr>
        <p:spPr>
          <a:xfrm>
            <a:off x="4653681" y="1867104"/>
            <a:ext cx="1302088" cy="307777"/>
          </a:xfrm>
          <a:prstGeom prst="rect">
            <a:avLst/>
          </a:prstGeom>
          <a:noFill/>
        </p:spPr>
        <p:txBody>
          <a:bodyPr wrap="square">
            <a:spAutoFit/>
          </a:bodyPr>
          <a:lstStyle/>
          <a:p>
            <a:pPr algn="ctr" fontAlgn="auto">
              <a:spcBef>
                <a:spcPts val="0"/>
              </a:spcBef>
              <a:spcAft>
                <a:spcPts val="0"/>
              </a:spcAft>
              <a:defRPr/>
            </a:pPr>
            <a:r>
              <a:rPr lang="en-US" sz="1400" dirty="0">
                <a:solidFill>
                  <a:srgbClr val="FFFFFF"/>
                </a:solidFill>
                <a:latin typeface="Helvetica Neue Light"/>
                <a:cs typeface="Helvetica Neue Light"/>
              </a:rPr>
              <a:t>Reliability</a:t>
            </a:r>
          </a:p>
        </p:txBody>
      </p:sp>
      <p:sp>
        <p:nvSpPr>
          <p:cNvPr id="55" name="TextBox 54"/>
          <p:cNvSpPr txBox="1"/>
          <p:nvPr/>
        </p:nvSpPr>
        <p:spPr>
          <a:xfrm>
            <a:off x="5396897" y="2757506"/>
            <a:ext cx="1302088" cy="523220"/>
          </a:xfrm>
          <a:prstGeom prst="rect">
            <a:avLst/>
          </a:prstGeom>
          <a:noFill/>
        </p:spPr>
        <p:txBody>
          <a:bodyPr wrap="square">
            <a:spAutoFit/>
          </a:bodyPr>
          <a:lstStyle/>
          <a:p>
            <a:pPr algn="ctr" fontAlgn="auto">
              <a:spcBef>
                <a:spcPts val="0"/>
              </a:spcBef>
              <a:spcAft>
                <a:spcPts val="0"/>
              </a:spcAft>
              <a:defRPr/>
            </a:pPr>
            <a:r>
              <a:rPr lang="en-US" sz="1400" dirty="0">
                <a:solidFill>
                  <a:srgbClr val="FFFFFF"/>
                </a:solidFill>
                <a:latin typeface="Helvetica Neue Light"/>
                <a:cs typeface="Helvetica Neue Light"/>
              </a:rPr>
              <a:t>Intensive dynamics</a:t>
            </a:r>
          </a:p>
        </p:txBody>
      </p:sp>
      <p:sp>
        <p:nvSpPr>
          <p:cNvPr id="56" name="TextBox 55"/>
          <p:cNvSpPr txBox="1"/>
          <p:nvPr/>
        </p:nvSpPr>
        <p:spPr>
          <a:xfrm>
            <a:off x="5304725" y="3870659"/>
            <a:ext cx="1302088" cy="523220"/>
          </a:xfrm>
          <a:prstGeom prst="rect">
            <a:avLst/>
          </a:prstGeom>
          <a:noFill/>
        </p:spPr>
        <p:txBody>
          <a:bodyPr wrap="square">
            <a:spAutoFit/>
          </a:bodyPr>
          <a:lstStyle/>
          <a:p>
            <a:pPr algn="ctr" fontAlgn="auto">
              <a:spcBef>
                <a:spcPts val="0"/>
              </a:spcBef>
              <a:spcAft>
                <a:spcPts val="0"/>
              </a:spcAft>
              <a:defRPr/>
            </a:pPr>
            <a:r>
              <a:rPr lang="en-US" sz="1400" dirty="0">
                <a:solidFill>
                  <a:srgbClr val="FFFFFF"/>
                </a:solidFill>
                <a:latin typeface="Helvetica Neue Light"/>
                <a:cs typeface="Helvetica Neue Light"/>
              </a:rPr>
              <a:t>Exception handling</a:t>
            </a:r>
          </a:p>
        </p:txBody>
      </p:sp>
      <p:sp>
        <p:nvSpPr>
          <p:cNvPr id="57" name="TextBox 56"/>
          <p:cNvSpPr txBox="1"/>
          <p:nvPr/>
        </p:nvSpPr>
        <p:spPr>
          <a:xfrm>
            <a:off x="2436379" y="2837173"/>
            <a:ext cx="1302088" cy="307777"/>
          </a:xfrm>
          <a:prstGeom prst="rect">
            <a:avLst/>
          </a:prstGeom>
          <a:noFill/>
        </p:spPr>
        <p:txBody>
          <a:bodyPr wrap="square">
            <a:spAutoFit/>
          </a:bodyPr>
          <a:lstStyle/>
          <a:p>
            <a:pPr algn="ctr" fontAlgn="auto">
              <a:spcBef>
                <a:spcPts val="0"/>
              </a:spcBef>
              <a:spcAft>
                <a:spcPts val="0"/>
              </a:spcAft>
              <a:defRPr/>
            </a:pPr>
            <a:r>
              <a:rPr lang="en-US" sz="1400" dirty="0">
                <a:solidFill>
                  <a:srgbClr val="FFFFFF"/>
                </a:solidFill>
                <a:latin typeface="Helvetica Neue Light"/>
                <a:cs typeface="Helvetica Neue Light"/>
              </a:rPr>
              <a:t>Concurrency</a:t>
            </a:r>
          </a:p>
        </p:txBody>
      </p:sp>
      <p:sp>
        <p:nvSpPr>
          <p:cNvPr id="58" name="TextBox 57"/>
          <p:cNvSpPr txBox="1"/>
          <p:nvPr/>
        </p:nvSpPr>
        <p:spPr>
          <a:xfrm>
            <a:off x="2373041" y="3726074"/>
            <a:ext cx="1302088" cy="523220"/>
          </a:xfrm>
          <a:prstGeom prst="rect">
            <a:avLst/>
          </a:prstGeom>
          <a:noFill/>
        </p:spPr>
        <p:txBody>
          <a:bodyPr wrap="square">
            <a:spAutoFit/>
          </a:bodyPr>
          <a:lstStyle/>
          <a:p>
            <a:pPr algn="ctr" fontAlgn="auto">
              <a:spcBef>
                <a:spcPts val="0"/>
              </a:spcBef>
              <a:spcAft>
                <a:spcPts val="0"/>
              </a:spcAft>
              <a:defRPr/>
            </a:pPr>
            <a:r>
              <a:rPr lang="en-US" sz="1400" dirty="0">
                <a:solidFill>
                  <a:srgbClr val="FFFFFF"/>
                </a:solidFill>
                <a:latin typeface="Helvetica Neue Light"/>
                <a:cs typeface="Helvetica Neue Light"/>
              </a:rPr>
              <a:t>Resource allocation</a:t>
            </a:r>
          </a:p>
        </p:txBody>
      </p:sp>
      <p:sp>
        <p:nvSpPr>
          <p:cNvPr id="59" name="TextBox 58"/>
          <p:cNvSpPr txBox="1"/>
          <p:nvPr/>
        </p:nvSpPr>
        <p:spPr>
          <a:xfrm>
            <a:off x="2983183" y="4807998"/>
            <a:ext cx="1673563" cy="461665"/>
          </a:xfrm>
          <a:prstGeom prst="rect">
            <a:avLst/>
          </a:prstGeom>
          <a:noFill/>
        </p:spPr>
        <p:txBody>
          <a:bodyPr wrap="square">
            <a:spAutoFit/>
          </a:bodyPr>
          <a:lstStyle/>
          <a:p>
            <a:pPr algn="ctr" fontAlgn="auto">
              <a:spcBef>
                <a:spcPts val="0"/>
              </a:spcBef>
              <a:spcAft>
                <a:spcPts val="0"/>
              </a:spcAft>
              <a:defRPr/>
            </a:pPr>
            <a:r>
              <a:rPr lang="en-US" sz="1200" dirty="0">
                <a:solidFill>
                  <a:srgbClr val="FFFFFF"/>
                </a:solidFill>
                <a:latin typeface="Helvetica Neue Light"/>
                <a:cs typeface="Helvetica Neue Light"/>
              </a:rPr>
              <a:t>Communication and synchronization</a:t>
            </a:r>
          </a:p>
        </p:txBody>
      </p:sp>
      <p:sp>
        <p:nvSpPr>
          <p:cNvPr id="60" name="TextBox 59"/>
          <p:cNvSpPr txBox="1"/>
          <p:nvPr/>
        </p:nvSpPr>
        <p:spPr>
          <a:xfrm>
            <a:off x="4538228" y="4891925"/>
            <a:ext cx="1302088" cy="369332"/>
          </a:xfrm>
          <a:prstGeom prst="rect">
            <a:avLst/>
          </a:prstGeom>
          <a:noFill/>
        </p:spPr>
        <p:txBody>
          <a:bodyPr wrap="square">
            <a:spAutoFit/>
          </a:bodyPr>
          <a:lstStyle/>
          <a:p>
            <a:pPr algn="ctr" fontAlgn="auto">
              <a:spcBef>
                <a:spcPts val="0"/>
              </a:spcBef>
              <a:spcAft>
                <a:spcPts val="0"/>
              </a:spcAft>
              <a:defRPr/>
            </a:pPr>
            <a:r>
              <a:rPr lang="en-US" dirty="0">
                <a:solidFill>
                  <a:srgbClr val="FFFFFF"/>
                </a:solidFill>
                <a:latin typeface="Helvetica Neue Light"/>
                <a:cs typeface="Helvetica Neue Light"/>
              </a:rPr>
              <a:t>size</a:t>
            </a:r>
          </a:p>
        </p:txBody>
      </p:sp>
      <p:pic>
        <p:nvPicPr>
          <p:cNvPr id="3" name="Picture 2"/>
          <p:cNvPicPr>
            <a:picLocks noChangeAspect="1"/>
          </p:cNvPicPr>
          <p:nvPr/>
        </p:nvPicPr>
        <p:blipFill>
          <a:blip r:embed="rId4"/>
          <a:stretch>
            <a:fillRect/>
          </a:stretch>
        </p:blipFill>
        <p:spPr>
          <a:xfrm>
            <a:off x="2507438" y="668252"/>
            <a:ext cx="1205183" cy="727266"/>
          </a:xfrm>
          <a:prstGeom prst="rect">
            <a:avLst/>
          </a:prstGeom>
        </p:spPr>
      </p:pic>
      <p:pic>
        <p:nvPicPr>
          <p:cNvPr id="14" name="Picture 13"/>
          <p:cNvPicPr>
            <a:picLocks noChangeAspect="1"/>
          </p:cNvPicPr>
          <p:nvPr/>
        </p:nvPicPr>
        <p:blipFill>
          <a:blip r:embed="rId5"/>
          <a:stretch>
            <a:fillRect/>
          </a:stretch>
        </p:blipFill>
        <p:spPr>
          <a:xfrm>
            <a:off x="289486" y="1867104"/>
            <a:ext cx="2150342" cy="1075171"/>
          </a:xfrm>
          <a:prstGeom prst="rect">
            <a:avLst/>
          </a:prstGeom>
        </p:spPr>
      </p:pic>
      <p:pic>
        <p:nvPicPr>
          <p:cNvPr id="67" name="Picture 66"/>
          <p:cNvPicPr>
            <a:picLocks noChangeAspect="1"/>
          </p:cNvPicPr>
          <p:nvPr/>
        </p:nvPicPr>
        <p:blipFill>
          <a:blip r:embed="rId6"/>
          <a:stretch>
            <a:fillRect/>
          </a:stretch>
        </p:blipFill>
        <p:spPr>
          <a:xfrm>
            <a:off x="951688" y="3774790"/>
            <a:ext cx="1555750" cy="949007"/>
          </a:xfrm>
          <a:prstGeom prst="rect">
            <a:avLst/>
          </a:prstGeom>
        </p:spPr>
      </p:pic>
      <p:pic>
        <p:nvPicPr>
          <p:cNvPr id="68" name="Picture 67"/>
          <p:cNvPicPr>
            <a:picLocks noChangeAspect="1"/>
          </p:cNvPicPr>
          <p:nvPr/>
        </p:nvPicPr>
        <p:blipFill>
          <a:blip r:embed="rId7"/>
          <a:stretch>
            <a:fillRect/>
          </a:stretch>
        </p:blipFill>
        <p:spPr>
          <a:xfrm>
            <a:off x="1905339" y="5528478"/>
            <a:ext cx="1833128" cy="715793"/>
          </a:xfrm>
          <a:prstGeom prst="rect">
            <a:avLst/>
          </a:prstGeom>
        </p:spPr>
      </p:pic>
      <p:pic>
        <p:nvPicPr>
          <p:cNvPr id="69" name="Picture 68"/>
          <p:cNvPicPr>
            <a:picLocks noChangeAspect="1"/>
          </p:cNvPicPr>
          <p:nvPr/>
        </p:nvPicPr>
        <p:blipFill>
          <a:blip r:embed="rId8"/>
          <a:stretch>
            <a:fillRect/>
          </a:stretch>
        </p:blipFill>
        <p:spPr>
          <a:xfrm>
            <a:off x="5547516" y="5406124"/>
            <a:ext cx="1659372" cy="933397"/>
          </a:xfrm>
          <a:prstGeom prst="rect">
            <a:avLst/>
          </a:prstGeom>
        </p:spPr>
      </p:pic>
      <p:pic>
        <p:nvPicPr>
          <p:cNvPr id="2" name="Picture 1"/>
          <p:cNvPicPr>
            <a:picLocks noChangeAspect="1"/>
          </p:cNvPicPr>
          <p:nvPr/>
        </p:nvPicPr>
        <p:blipFill>
          <a:blip r:embed="rId9"/>
          <a:stretch>
            <a:fillRect/>
          </a:stretch>
        </p:blipFill>
        <p:spPr>
          <a:xfrm>
            <a:off x="6698985" y="1912390"/>
            <a:ext cx="1834407" cy="1297844"/>
          </a:xfrm>
          <a:prstGeom prst="rect">
            <a:avLst/>
          </a:prstGeom>
        </p:spPr>
      </p:pic>
      <p:pic>
        <p:nvPicPr>
          <p:cNvPr id="10" name="Picture 9"/>
          <p:cNvPicPr>
            <a:picLocks noChangeAspect="1"/>
          </p:cNvPicPr>
          <p:nvPr/>
        </p:nvPicPr>
        <p:blipFill>
          <a:blip r:embed="rId10"/>
          <a:stretch>
            <a:fillRect/>
          </a:stretch>
        </p:blipFill>
        <p:spPr>
          <a:xfrm>
            <a:off x="6807951" y="3528871"/>
            <a:ext cx="1308379" cy="1730016"/>
          </a:xfrm>
          <a:prstGeom prst="rect">
            <a:avLst/>
          </a:prstGeom>
        </p:spPr>
      </p:pic>
    </p:spTree>
    <p:extLst>
      <p:ext uri="{BB962C8B-B14F-4D97-AF65-F5344CB8AC3E}">
        <p14:creationId xmlns:p14="http://schemas.microsoft.com/office/powerpoint/2010/main" val="96256518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954"/>
            <a:ext cx="2140253" cy="369332"/>
          </a:xfrm>
          <a:prstGeom prst="rect">
            <a:avLst/>
          </a:prstGeom>
          <a:noFill/>
        </p:spPr>
        <p:txBody>
          <a:bodyPr wrap="none" rtlCol="0">
            <a:spAutoFit/>
          </a:bodyPr>
          <a:lstStyle/>
          <a:p>
            <a:r>
              <a:rPr lang="en-US" dirty="0">
                <a:solidFill>
                  <a:schemeClr val="tx1">
                    <a:lumMod val="50000"/>
                    <a:lumOff val="50000"/>
                  </a:schemeClr>
                </a:solidFill>
                <a:latin typeface="Helvetica Neue Light"/>
                <a:cs typeface="Helvetica Neue Light"/>
              </a:rPr>
              <a:t>Challenges in RTSE</a:t>
            </a:r>
          </a:p>
        </p:txBody>
      </p:sp>
      <p:sp>
        <p:nvSpPr>
          <p:cNvPr id="5" name="Rectangle 4"/>
          <p:cNvSpPr/>
          <p:nvPr/>
        </p:nvSpPr>
        <p:spPr>
          <a:xfrm>
            <a:off x="0" y="373508"/>
            <a:ext cx="9144000" cy="8736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dirty="0">
              <a:latin typeface="Helvetica Neue Light"/>
              <a:cs typeface="Helvetica Neue Light"/>
            </a:endParaRPr>
          </a:p>
        </p:txBody>
      </p:sp>
      <p:sp>
        <p:nvSpPr>
          <p:cNvPr id="6" name="Rectangle 5"/>
          <p:cNvSpPr/>
          <p:nvPr/>
        </p:nvSpPr>
        <p:spPr>
          <a:xfrm>
            <a:off x="0" y="6339521"/>
            <a:ext cx="9144000" cy="518478"/>
          </a:xfrm>
          <a:prstGeom prst="rect">
            <a:avLst/>
          </a:prstGeom>
          <a:solidFill>
            <a:srgbClr val="31859C"/>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nchorCtr="0"/>
          <a:lstStyle/>
          <a:p>
            <a:endParaRPr lang="en-US" sz="2800" dirty="0">
              <a:latin typeface="Helvetica Neue Light"/>
              <a:cs typeface="Helvetica Neue Light"/>
            </a:endParaRPr>
          </a:p>
        </p:txBody>
      </p:sp>
      <p:sp>
        <p:nvSpPr>
          <p:cNvPr id="7" name="Rectangle 6"/>
          <p:cNvSpPr/>
          <p:nvPr/>
        </p:nvSpPr>
        <p:spPr>
          <a:xfrm>
            <a:off x="0" y="6339521"/>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Tips</a:t>
            </a:r>
          </a:p>
        </p:txBody>
      </p:sp>
      <p:sp>
        <p:nvSpPr>
          <p:cNvPr id="15" name="TextBox 14"/>
          <p:cNvSpPr txBox="1"/>
          <p:nvPr/>
        </p:nvSpPr>
        <p:spPr>
          <a:xfrm>
            <a:off x="1364657" y="6458073"/>
            <a:ext cx="4442488" cy="307777"/>
          </a:xfrm>
          <a:prstGeom prst="rect">
            <a:avLst/>
          </a:prstGeom>
          <a:noFill/>
        </p:spPr>
        <p:txBody>
          <a:bodyPr wrap="none" rtlCol="0">
            <a:spAutoFit/>
          </a:bodyPr>
          <a:lstStyle/>
          <a:p>
            <a:r>
              <a:rPr lang="en-US" sz="1400" dirty="0">
                <a:solidFill>
                  <a:schemeClr val="bg1"/>
                </a:solidFill>
                <a:latin typeface="Helvetica Neue Light"/>
                <a:cs typeface="Helvetica Neue Light"/>
              </a:rPr>
              <a:t>Understand the characteristics and challenges of RTSE</a:t>
            </a:r>
          </a:p>
        </p:txBody>
      </p:sp>
      <p:sp>
        <p:nvSpPr>
          <p:cNvPr id="18" name="Freeform 6"/>
          <p:cNvSpPr>
            <a:spLocks/>
          </p:cNvSpPr>
          <p:nvPr/>
        </p:nvSpPr>
        <p:spPr bwMode="auto">
          <a:xfrm>
            <a:off x="1009454" y="3240726"/>
            <a:ext cx="8012145" cy="108681"/>
          </a:xfrm>
          <a:custGeom>
            <a:avLst/>
            <a:gdLst>
              <a:gd name="T0" fmla="*/ 4253 w 4253"/>
              <a:gd name="T1" fmla="*/ 0 h 53"/>
              <a:gd name="T2" fmla="*/ 4253 w 4253"/>
              <a:gd name="T3" fmla="*/ 53 h 53"/>
              <a:gd name="T4" fmla="*/ 0 w 4253"/>
              <a:gd name="T5" fmla="*/ 53 h 53"/>
              <a:gd name="T6" fmla="*/ 0 w 4253"/>
              <a:gd name="T7" fmla="*/ 0 h 53"/>
            </a:gdLst>
            <a:ahLst/>
            <a:cxnLst>
              <a:cxn ang="0">
                <a:pos x="T0" y="T1"/>
              </a:cxn>
              <a:cxn ang="0">
                <a:pos x="T2" y="T3"/>
              </a:cxn>
              <a:cxn ang="0">
                <a:pos x="T4" y="T5"/>
              </a:cxn>
              <a:cxn ang="0">
                <a:pos x="T6" y="T7"/>
              </a:cxn>
            </a:cxnLst>
            <a:rect l="0" t="0" r="r" b="b"/>
            <a:pathLst>
              <a:path w="4253" h="53">
                <a:moveTo>
                  <a:pt x="4253" y="0"/>
                </a:moveTo>
                <a:lnTo>
                  <a:pt x="4253" y="53"/>
                </a:lnTo>
                <a:lnTo>
                  <a:pt x="0" y="53"/>
                </a:lnTo>
                <a:lnTo>
                  <a:pt x="0" y="0"/>
                </a:lnTo>
              </a:path>
            </a:pathLst>
          </a:custGeom>
          <a:solidFill>
            <a:schemeClr val="bg1">
              <a:lumMod val="65000"/>
            </a:schemeClr>
          </a:solidFill>
          <a:ln>
            <a:noFill/>
          </a:ln>
          <a:extLst/>
        </p:spPr>
        <p:txBody>
          <a:bodyPr vert="horz" wrap="square" lIns="91440" tIns="45720" rIns="91440" bIns="45720" numCol="1" anchor="t" anchorCtr="0" compatLnSpc="1">
            <a:prstTxWarp prst="textNoShape">
              <a:avLst/>
            </a:prstTxWarp>
          </a:bodyPr>
          <a:lstStyle/>
          <a:p>
            <a:endParaRPr lang="en-US"/>
          </a:p>
        </p:txBody>
      </p:sp>
      <p:grpSp>
        <p:nvGrpSpPr>
          <p:cNvPr id="20" name="Group 19"/>
          <p:cNvGrpSpPr/>
          <p:nvPr/>
        </p:nvGrpSpPr>
        <p:grpSpPr>
          <a:xfrm>
            <a:off x="1320294" y="3097890"/>
            <a:ext cx="339098" cy="375255"/>
            <a:chOff x="1557337" y="3478212"/>
            <a:chExt cx="285750" cy="290513"/>
          </a:xfrm>
          <a:solidFill>
            <a:schemeClr val="accent5">
              <a:lumMod val="60000"/>
              <a:lumOff val="40000"/>
            </a:schemeClr>
          </a:solidFill>
        </p:grpSpPr>
        <p:sp>
          <p:nvSpPr>
            <p:cNvPr id="21" name="Oval 7"/>
            <p:cNvSpPr>
              <a:spLocks noChangeArrowheads="1"/>
            </p:cNvSpPr>
            <p:nvPr/>
          </p:nvSpPr>
          <p:spPr bwMode="auto">
            <a:xfrm>
              <a:off x="1576387" y="3498850"/>
              <a:ext cx="246063" cy="250825"/>
            </a:xfrm>
            <a:prstGeom prst="ellipse">
              <a:avLst/>
            </a:pr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p:nvSpPr>
          <p:spPr bwMode="auto">
            <a:xfrm>
              <a:off x="1557337" y="3478212"/>
              <a:ext cx="285750" cy="290513"/>
            </a:xfrm>
            <a:custGeom>
              <a:avLst/>
              <a:gdLst>
                <a:gd name="T0" fmla="*/ 29 w 58"/>
                <a:gd name="T1" fmla="*/ 8 h 59"/>
                <a:gd name="T2" fmla="*/ 50 w 58"/>
                <a:gd name="T3" fmla="*/ 29 h 59"/>
                <a:gd name="T4" fmla="*/ 29 w 58"/>
                <a:gd name="T5" fmla="*/ 51 h 59"/>
                <a:gd name="T6" fmla="*/ 8 w 58"/>
                <a:gd name="T7" fmla="*/ 29 h 59"/>
                <a:gd name="T8" fmla="*/ 29 w 58"/>
                <a:gd name="T9" fmla="*/ 8 h 59"/>
                <a:gd name="T10" fmla="*/ 29 w 58"/>
                <a:gd name="T11" fmla="*/ 0 h 59"/>
                <a:gd name="T12" fmla="*/ 0 w 58"/>
                <a:gd name="T13" fmla="*/ 29 h 59"/>
                <a:gd name="T14" fmla="*/ 29 w 58"/>
                <a:gd name="T15" fmla="*/ 59 h 59"/>
                <a:gd name="T16" fmla="*/ 58 w 58"/>
                <a:gd name="T17" fmla="*/ 29 h 59"/>
                <a:gd name="T18" fmla="*/ 29 w 58"/>
                <a:gd name="T19"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59">
                  <a:moveTo>
                    <a:pt x="29" y="8"/>
                  </a:moveTo>
                  <a:cubicBezTo>
                    <a:pt x="41" y="8"/>
                    <a:pt x="50" y="18"/>
                    <a:pt x="50" y="29"/>
                  </a:cubicBezTo>
                  <a:cubicBezTo>
                    <a:pt x="50" y="41"/>
                    <a:pt x="41" y="51"/>
                    <a:pt x="29" y="51"/>
                  </a:cubicBezTo>
                  <a:cubicBezTo>
                    <a:pt x="18" y="51"/>
                    <a:pt x="8" y="41"/>
                    <a:pt x="8" y="29"/>
                  </a:cubicBezTo>
                  <a:cubicBezTo>
                    <a:pt x="8" y="18"/>
                    <a:pt x="18" y="8"/>
                    <a:pt x="29" y="8"/>
                  </a:cubicBezTo>
                  <a:moveTo>
                    <a:pt x="29" y="0"/>
                  </a:moveTo>
                  <a:cubicBezTo>
                    <a:pt x="13" y="0"/>
                    <a:pt x="0" y="13"/>
                    <a:pt x="0" y="29"/>
                  </a:cubicBezTo>
                  <a:cubicBezTo>
                    <a:pt x="0" y="46"/>
                    <a:pt x="13" y="59"/>
                    <a:pt x="29" y="59"/>
                  </a:cubicBezTo>
                  <a:cubicBezTo>
                    <a:pt x="45" y="59"/>
                    <a:pt x="58" y="46"/>
                    <a:pt x="58" y="29"/>
                  </a:cubicBezTo>
                  <a:cubicBezTo>
                    <a:pt x="58" y="13"/>
                    <a:pt x="45" y="0"/>
                    <a:pt x="29" y="0"/>
                  </a:cubicBezTo>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grpSp>
      <p:grpSp>
        <p:nvGrpSpPr>
          <p:cNvPr id="23" name="Group 22"/>
          <p:cNvGrpSpPr/>
          <p:nvPr/>
        </p:nvGrpSpPr>
        <p:grpSpPr>
          <a:xfrm>
            <a:off x="8254859" y="3097890"/>
            <a:ext cx="344751" cy="375255"/>
            <a:chOff x="7400925" y="3478212"/>
            <a:chExt cx="290513" cy="290513"/>
          </a:xfrm>
        </p:grpSpPr>
        <p:sp>
          <p:nvSpPr>
            <p:cNvPr id="24" name="Oval 9"/>
            <p:cNvSpPr>
              <a:spLocks noChangeArrowheads="1"/>
            </p:cNvSpPr>
            <p:nvPr/>
          </p:nvSpPr>
          <p:spPr bwMode="auto">
            <a:xfrm>
              <a:off x="7419975" y="3498850"/>
              <a:ext cx="252413" cy="250825"/>
            </a:xfrm>
            <a:prstGeom prst="ellipse">
              <a:avLst/>
            </a:prstGeom>
            <a:solidFill>
              <a:srgbClr val="00B0F0"/>
            </a:solid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5" name="Freeform 10"/>
            <p:cNvSpPr>
              <a:spLocks noEditPoints="1"/>
            </p:cNvSpPr>
            <p:nvPr/>
          </p:nvSpPr>
          <p:spPr bwMode="auto">
            <a:xfrm>
              <a:off x="7400925" y="3478212"/>
              <a:ext cx="290513" cy="290513"/>
            </a:xfrm>
            <a:custGeom>
              <a:avLst/>
              <a:gdLst>
                <a:gd name="T0" fmla="*/ 30 w 59"/>
                <a:gd name="T1" fmla="*/ 8 h 59"/>
                <a:gd name="T2" fmla="*/ 51 w 59"/>
                <a:gd name="T3" fmla="*/ 29 h 59"/>
                <a:gd name="T4" fmla="*/ 30 w 59"/>
                <a:gd name="T5" fmla="*/ 51 h 59"/>
                <a:gd name="T6" fmla="*/ 8 w 59"/>
                <a:gd name="T7" fmla="*/ 29 h 59"/>
                <a:gd name="T8" fmla="*/ 30 w 59"/>
                <a:gd name="T9" fmla="*/ 8 h 59"/>
                <a:gd name="T10" fmla="*/ 30 w 59"/>
                <a:gd name="T11" fmla="*/ 0 h 59"/>
                <a:gd name="T12" fmla="*/ 0 w 59"/>
                <a:gd name="T13" fmla="*/ 29 h 59"/>
                <a:gd name="T14" fmla="*/ 30 w 59"/>
                <a:gd name="T15" fmla="*/ 59 h 59"/>
                <a:gd name="T16" fmla="*/ 59 w 59"/>
                <a:gd name="T17" fmla="*/ 29 h 59"/>
                <a:gd name="T18" fmla="*/ 30 w 59"/>
                <a:gd name="T19"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59">
                  <a:moveTo>
                    <a:pt x="30" y="8"/>
                  </a:moveTo>
                  <a:cubicBezTo>
                    <a:pt x="41" y="8"/>
                    <a:pt x="51" y="18"/>
                    <a:pt x="51" y="29"/>
                  </a:cubicBezTo>
                  <a:cubicBezTo>
                    <a:pt x="51" y="41"/>
                    <a:pt x="41" y="51"/>
                    <a:pt x="30" y="51"/>
                  </a:cubicBezTo>
                  <a:cubicBezTo>
                    <a:pt x="18" y="51"/>
                    <a:pt x="8" y="41"/>
                    <a:pt x="8" y="29"/>
                  </a:cubicBezTo>
                  <a:cubicBezTo>
                    <a:pt x="8" y="18"/>
                    <a:pt x="18" y="8"/>
                    <a:pt x="30" y="8"/>
                  </a:cubicBezTo>
                  <a:moveTo>
                    <a:pt x="30" y="0"/>
                  </a:moveTo>
                  <a:cubicBezTo>
                    <a:pt x="14" y="0"/>
                    <a:pt x="0" y="13"/>
                    <a:pt x="0" y="29"/>
                  </a:cubicBezTo>
                  <a:cubicBezTo>
                    <a:pt x="0" y="46"/>
                    <a:pt x="14" y="59"/>
                    <a:pt x="30" y="59"/>
                  </a:cubicBezTo>
                  <a:cubicBezTo>
                    <a:pt x="46" y="59"/>
                    <a:pt x="59" y="46"/>
                    <a:pt x="59" y="29"/>
                  </a:cubicBezTo>
                  <a:cubicBezTo>
                    <a:pt x="59" y="13"/>
                    <a:pt x="46" y="0"/>
                    <a:pt x="30" y="0"/>
                  </a:cubicBezTo>
                </a:path>
              </a:pathLst>
            </a:custGeom>
            <a:solidFill>
              <a:srgbClr val="00B0F0"/>
            </a:solid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grpSp>
      <p:grpSp>
        <p:nvGrpSpPr>
          <p:cNvPr id="26" name="Group 25"/>
          <p:cNvGrpSpPr/>
          <p:nvPr/>
        </p:nvGrpSpPr>
        <p:grpSpPr>
          <a:xfrm>
            <a:off x="4922274" y="3097890"/>
            <a:ext cx="339098" cy="375255"/>
            <a:chOff x="4592637" y="3478212"/>
            <a:chExt cx="285750" cy="290513"/>
          </a:xfrm>
          <a:solidFill>
            <a:srgbClr val="003366"/>
          </a:solidFill>
        </p:grpSpPr>
        <p:sp>
          <p:nvSpPr>
            <p:cNvPr id="27" name="Oval 11"/>
            <p:cNvSpPr>
              <a:spLocks noChangeArrowheads="1"/>
            </p:cNvSpPr>
            <p:nvPr/>
          </p:nvSpPr>
          <p:spPr bwMode="auto">
            <a:xfrm>
              <a:off x="4611687" y="3498850"/>
              <a:ext cx="246063" cy="250825"/>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p:cNvSpPr>
              <a:spLocks noEditPoints="1"/>
            </p:cNvSpPr>
            <p:nvPr/>
          </p:nvSpPr>
          <p:spPr bwMode="auto">
            <a:xfrm>
              <a:off x="4592637" y="3478212"/>
              <a:ext cx="285750" cy="290513"/>
            </a:xfrm>
            <a:custGeom>
              <a:avLst/>
              <a:gdLst>
                <a:gd name="T0" fmla="*/ 29 w 58"/>
                <a:gd name="T1" fmla="*/ 8 h 59"/>
                <a:gd name="T2" fmla="*/ 50 w 58"/>
                <a:gd name="T3" fmla="*/ 29 h 59"/>
                <a:gd name="T4" fmla="*/ 29 w 58"/>
                <a:gd name="T5" fmla="*/ 51 h 59"/>
                <a:gd name="T6" fmla="*/ 8 w 58"/>
                <a:gd name="T7" fmla="*/ 29 h 59"/>
                <a:gd name="T8" fmla="*/ 29 w 58"/>
                <a:gd name="T9" fmla="*/ 8 h 59"/>
                <a:gd name="T10" fmla="*/ 29 w 58"/>
                <a:gd name="T11" fmla="*/ 0 h 59"/>
                <a:gd name="T12" fmla="*/ 0 w 58"/>
                <a:gd name="T13" fmla="*/ 29 h 59"/>
                <a:gd name="T14" fmla="*/ 29 w 58"/>
                <a:gd name="T15" fmla="*/ 59 h 59"/>
                <a:gd name="T16" fmla="*/ 58 w 58"/>
                <a:gd name="T17" fmla="*/ 29 h 59"/>
                <a:gd name="T18" fmla="*/ 29 w 58"/>
                <a:gd name="T19"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59">
                  <a:moveTo>
                    <a:pt x="29" y="8"/>
                  </a:moveTo>
                  <a:cubicBezTo>
                    <a:pt x="41" y="8"/>
                    <a:pt x="50" y="18"/>
                    <a:pt x="50" y="29"/>
                  </a:cubicBezTo>
                  <a:cubicBezTo>
                    <a:pt x="50" y="41"/>
                    <a:pt x="41" y="51"/>
                    <a:pt x="29" y="51"/>
                  </a:cubicBezTo>
                  <a:cubicBezTo>
                    <a:pt x="18" y="51"/>
                    <a:pt x="8" y="41"/>
                    <a:pt x="8" y="29"/>
                  </a:cubicBezTo>
                  <a:cubicBezTo>
                    <a:pt x="8" y="18"/>
                    <a:pt x="18" y="8"/>
                    <a:pt x="29" y="8"/>
                  </a:cubicBezTo>
                  <a:moveTo>
                    <a:pt x="29" y="0"/>
                  </a:moveTo>
                  <a:cubicBezTo>
                    <a:pt x="13" y="0"/>
                    <a:pt x="0" y="13"/>
                    <a:pt x="0" y="29"/>
                  </a:cubicBezTo>
                  <a:cubicBezTo>
                    <a:pt x="0" y="46"/>
                    <a:pt x="13" y="59"/>
                    <a:pt x="29" y="59"/>
                  </a:cubicBezTo>
                  <a:cubicBezTo>
                    <a:pt x="45" y="59"/>
                    <a:pt x="58" y="46"/>
                    <a:pt x="58" y="29"/>
                  </a:cubicBezTo>
                  <a:cubicBezTo>
                    <a:pt x="58" y="13"/>
                    <a:pt x="45" y="0"/>
                    <a:pt x="29" y="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9" name="Group 28"/>
          <p:cNvGrpSpPr/>
          <p:nvPr/>
        </p:nvGrpSpPr>
        <p:grpSpPr>
          <a:xfrm>
            <a:off x="6022460" y="3117615"/>
            <a:ext cx="339098" cy="375255"/>
            <a:chOff x="5519737" y="3493483"/>
            <a:chExt cx="285750" cy="290513"/>
          </a:xfrm>
          <a:solidFill>
            <a:srgbClr val="7030A0"/>
          </a:solidFill>
        </p:grpSpPr>
        <p:sp>
          <p:nvSpPr>
            <p:cNvPr id="30" name="Oval 13"/>
            <p:cNvSpPr>
              <a:spLocks noChangeArrowheads="1"/>
            </p:cNvSpPr>
            <p:nvPr/>
          </p:nvSpPr>
          <p:spPr bwMode="auto">
            <a:xfrm>
              <a:off x="5545070" y="3498850"/>
              <a:ext cx="247650" cy="250825"/>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p:cNvSpPr>
              <a:spLocks noEditPoints="1"/>
            </p:cNvSpPr>
            <p:nvPr/>
          </p:nvSpPr>
          <p:spPr bwMode="auto">
            <a:xfrm>
              <a:off x="5519737" y="3493483"/>
              <a:ext cx="285750" cy="290513"/>
            </a:xfrm>
            <a:custGeom>
              <a:avLst/>
              <a:gdLst>
                <a:gd name="T0" fmla="*/ 29 w 58"/>
                <a:gd name="T1" fmla="*/ 8 h 59"/>
                <a:gd name="T2" fmla="*/ 50 w 58"/>
                <a:gd name="T3" fmla="*/ 29 h 59"/>
                <a:gd name="T4" fmla="*/ 29 w 58"/>
                <a:gd name="T5" fmla="*/ 51 h 59"/>
                <a:gd name="T6" fmla="*/ 8 w 58"/>
                <a:gd name="T7" fmla="*/ 29 h 59"/>
                <a:gd name="T8" fmla="*/ 29 w 58"/>
                <a:gd name="T9" fmla="*/ 8 h 59"/>
                <a:gd name="T10" fmla="*/ 29 w 58"/>
                <a:gd name="T11" fmla="*/ 0 h 59"/>
                <a:gd name="T12" fmla="*/ 0 w 58"/>
                <a:gd name="T13" fmla="*/ 29 h 59"/>
                <a:gd name="T14" fmla="*/ 29 w 58"/>
                <a:gd name="T15" fmla="*/ 59 h 59"/>
                <a:gd name="T16" fmla="*/ 58 w 58"/>
                <a:gd name="T17" fmla="*/ 29 h 59"/>
                <a:gd name="T18" fmla="*/ 29 w 58"/>
                <a:gd name="T19"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59">
                  <a:moveTo>
                    <a:pt x="29" y="8"/>
                  </a:moveTo>
                  <a:cubicBezTo>
                    <a:pt x="40" y="8"/>
                    <a:pt x="50" y="18"/>
                    <a:pt x="50" y="29"/>
                  </a:cubicBezTo>
                  <a:cubicBezTo>
                    <a:pt x="50" y="41"/>
                    <a:pt x="40" y="51"/>
                    <a:pt x="29" y="51"/>
                  </a:cubicBezTo>
                  <a:cubicBezTo>
                    <a:pt x="17" y="51"/>
                    <a:pt x="8" y="41"/>
                    <a:pt x="8" y="29"/>
                  </a:cubicBezTo>
                  <a:cubicBezTo>
                    <a:pt x="8" y="18"/>
                    <a:pt x="17" y="8"/>
                    <a:pt x="29" y="8"/>
                  </a:cubicBezTo>
                  <a:moveTo>
                    <a:pt x="29" y="0"/>
                  </a:moveTo>
                  <a:cubicBezTo>
                    <a:pt x="13" y="0"/>
                    <a:pt x="0" y="13"/>
                    <a:pt x="0" y="29"/>
                  </a:cubicBezTo>
                  <a:cubicBezTo>
                    <a:pt x="0" y="46"/>
                    <a:pt x="13" y="59"/>
                    <a:pt x="29" y="59"/>
                  </a:cubicBezTo>
                  <a:cubicBezTo>
                    <a:pt x="45" y="59"/>
                    <a:pt x="58" y="46"/>
                    <a:pt x="58" y="29"/>
                  </a:cubicBezTo>
                  <a:cubicBezTo>
                    <a:pt x="58" y="13"/>
                    <a:pt x="45" y="0"/>
                    <a:pt x="29" y="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2" name="Group 31"/>
          <p:cNvGrpSpPr/>
          <p:nvPr/>
        </p:nvGrpSpPr>
        <p:grpSpPr>
          <a:xfrm>
            <a:off x="2629592" y="3097890"/>
            <a:ext cx="339098" cy="375255"/>
            <a:chOff x="2660650" y="3478212"/>
            <a:chExt cx="285750" cy="290513"/>
          </a:xfrm>
          <a:solidFill>
            <a:srgbClr val="953735"/>
          </a:solidFill>
        </p:grpSpPr>
        <p:sp>
          <p:nvSpPr>
            <p:cNvPr id="33" name="Oval 17"/>
            <p:cNvSpPr>
              <a:spLocks noChangeArrowheads="1"/>
            </p:cNvSpPr>
            <p:nvPr/>
          </p:nvSpPr>
          <p:spPr bwMode="auto">
            <a:xfrm>
              <a:off x="2679700" y="3498850"/>
              <a:ext cx="246063" cy="250825"/>
            </a:xfrm>
            <a:prstGeom prst="ellipse">
              <a:avLst/>
            </a:pr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34" name="Freeform 18"/>
            <p:cNvSpPr>
              <a:spLocks noEditPoints="1"/>
            </p:cNvSpPr>
            <p:nvPr/>
          </p:nvSpPr>
          <p:spPr bwMode="auto">
            <a:xfrm>
              <a:off x="2660650" y="3478212"/>
              <a:ext cx="285750" cy="290513"/>
            </a:xfrm>
            <a:custGeom>
              <a:avLst/>
              <a:gdLst>
                <a:gd name="T0" fmla="*/ 29 w 58"/>
                <a:gd name="T1" fmla="*/ 8 h 59"/>
                <a:gd name="T2" fmla="*/ 50 w 58"/>
                <a:gd name="T3" fmla="*/ 29 h 59"/>
                <a:gd name="T4" fmla="*/ 29 w 58"/>
                <a:gd name="T5" fmla="*/ 51 h 59"/>
                <a:gd name="T6" fmla="*/ 8 w 58"/>
                <a:gd name="T7" fmla="*/ 29 h 59"/>
                <a:gd name="T8" fmla="*/ 29 w 58"/>
                <a:gd name="T9" fmla="*/ 8 h 59"/>
                <a:gd name="T10" fmla="*/ 29 w 58"/>
                <a:gd name="T11" fmla="*/ 0 h 59"/>
                <a:gd name="T12" fmla="*/ 0 w 58"/>
                <a:gd name="T13" fmla="*/ 29 h 59"/>
                <a:gd name="T14" fmla="*/ 29 w 58"/>
                <a:gd name="T15" fmla="*/ 59 h 59"/>
                <a:gd name="T16" fmla="*/ 58 w 58"/>
                <a:gd name="T17" fmla="*/ 29 h 59"/>
                <a:gd name="T18" fmla="*/ 29 w 58"/>
                <a:gd name="T19"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59">
                  <a:moveTo>
                    <a:pt x="29" y="8"/>
                  </a:moveTo>
                  <a:cubicBezTo>
                    <a:pt x="41" y="8"/>
                    <a:pt x="50" y="18"/>
                    <a:pt x="50" y="29"/>
                  </a:cubicBezTo>
                  <a:cubicBezTo>
                    <a:pt x="50" y="41"/>
                    <a:pt x="41" y="51"/>
                    <a:pt x="29" y="51"/>
                  </a:cubicBezTo>
                  <a:cubicBezTo>
                    <a:pt x="17" y="51"/>
                    <a:pt x="8" y="41"/>
                    <a:pt x="8" y="29"/>
                  </a:cubicBezTo>
                  <a:cubicBezTo>
                    <a:pt x="8" y="18"/>
                    <a:pt x="17" y="8"/>
                    <a:pt x="29" y="8"/>
                  </a:cubicBezTo>
                  <a:moveTo>
                    <a:pt x="29" y="0"/>
                  </a:moveTo>
                  <a:cubicBezTo>
                    <a:pt x="13" y="0"/>
                    <a:pt x="0" y="13"/>
                    <a:pt x="0" y="29"/>
                  </a:cubicBezTo>
                  <a:cubicBezTo>
                    <a:pt x="0" y="46"/>
                    <a:pt x="13" y="59"/>
                    <a:pt x="29" y="59"/>
                  </a:cubicBezTo>
                  <a:cubicBezTo>
                    <a:pt x="45" y="59"/>
                    <a:pt x="58" y="46"/>
                    <a:pt x="58" y="29"/>
                  </a:cubicBezTo>
                  <a:cubicBezTo>
                    <a:pt x="58" y="13"/>
                    <a:pt x="45" y="0"/>
                    <a:pt x="29" y="0"/>
                  </a:cubicBezTo>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grpSp>
      <p:grpSp>
        <p:nvGrpSpPr>
          <p:cNvPr id="35" name="Group 34"/>
          <p:cNvGrpSpPr/>
          <p:nvPr/>
        </p:nvGrpSpPr>
        <p:grpSpPr>
          <a:xfrm>
            <a:off x="1512450" y="3512105"/>
            <a:ext cx="958896" cy="1041690"/>
            <a:chOff x="1719262" y="3798887"/>
            <a:chExt cx="808038" cy="806450"/>
          </a:xfrm>
          <a:solidFill>
            <a:srgbClr val="93CDDD"/>
          </a:solidFill>
        </p:grpSpPr>
        <p:sp>
          <p:nvSpPr>
            <p:cNvPr id="36" name="Freeform 23"/>
            <p:cNvSpPr>
              <a:spLocks/>
            </p:cNvSpPr>
            <p:nvPr/>
          </p:nvSpPr>
          <p:spPr bwMode="auto">
            <a:xfrm>
              <a:off x="1719262" y="3798887"/>
              <a:ext cx="808038" cy="806450"/>
            </a:xfrm>
            <a:custGeom>
              <a:avLst/>
              <a:gdLst>
                <a:gd name="T0" fmla="*/ 140 w 509"/>
                <a:gd name="T1" fmla="*/ 124 h 508"/>
                <a:gd name="T2" fmla="*/ 0 w 509"/>
                <a:gd name="T3" fmla="*/ 0 h 508"/>
                <a:gd name="T4" fmla="*/ 0 w 509"/>
                <a:gd name="T5" fmla="*/ 124 h 508"/>
                <a:gd name="T6" fmla="*/ 0 w 509"/>
                <a:gd name="T7" fmla="*/ 508 h 508"/>
                <a:gd name="T8" fmla="*/ 509 w 509"/>
                <a:gd name="T9" fmla="*/ 508 h 508"/>
                <a:gd name="T10" fmla="*/ 509 w 509"/>
                <a:gd name="T11" fmla="*/ 124 h 508"/>
                <a:gd name="T12" fmla="*/ 140 w 509"/>
                <a:gd name="T13" fmla="*/ 124 h 508"/>
              </a:gdLst>
              <a:ahLst/>
              <a:cxnLst>
                <a:cxn ang="0">
                  <a:pos x="T0" y="T1"/>
                </a:cxn>
                <a:cxn ang="0">
                  <a:pos x="T2" y="T3"/>
                </a:cxn>
                <a:cxn ang="0">
                  <a:pos x="T4" y="T5"/>
                </a:cxn>
                <a:cxn ang="0">
                  <a:pos x="T6" y="T7"/>
                </a:cxn>
                <a:cxn ang="0">
                  <a:pos x="T8" y="T9"/>
                </a:cxn>
                <a:cxn ang="0">
                  <a:pos x="T10" y="T11"/>
                </a:cxn>
                <a:cxn ang="0">
                  <a:pos x="T12" y="T13"/>
                </a:cxn>
              </a:cxnLst>
              <a:rect l="0" t="0" r="r" b="b"/>
              <a:pathLst>
                <a:path w="509" h="508">
                  <a:moveTo>
                    <a:pt x="140" y="124"/>
                  </a:moveTo>
                  <a:lnTo>
                    <a:pt x="0" y="0"/>
                  </a:lnTo>
                  <a:lnTo>
                    <a:pt x="0" y="124"/>
                  </a:lnTo>
                  <a:lnTo>
                    <a:pt x="0" y="508"/>
                  </a:lnTo>
                  <a:lnTo>
                    <a:pt x="509" y="508"/>
                  </a:lnTo>
                  <a:lnTo>
                    <a:pt x="509" y="124"/>
                  </a:lnTo>
                  <a:lnTo>
                    <a:pt x="140" y="12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37" name="Group 36"/>
            <p:cNvGrpSpPr/>
            <p:nvPr/>
          </p:nvGrpSpPr>
          <p:grpSpPr>
            <a:xfrm>
              <a:off x="1887537" y="4089400"/>
              <a:ext cx="473075" cy="398463"/>
              <a:chOff x="1887537" y="4089400"/>
              <a:chExt cx="473075" cy="398463"/>
            </a:xfrm>
            <a:grpFill/>
          </p:grpSpPr>
          <p:sp>
            <p:nvSpPr>
              <p:cNvPr id="38" name="Freeform 24"/>
              <p:cNvSpPr>
                <a:spLocks/>
              </p:cNvSpPr>
              <p:nvPr/>
            </p:nvSpPr>
            <p:spPr bwMode="auto">
              <a:xfrm>
                <a:off x="1897062" y="4089400"/>
                <a:ext cx="452438" cy="398463"/>
              </a:xfrm>
              <a:custGeom>
                <a:avLst/>
                <a:gdLst>
                  <a:gd name="T0" fmla="*/ 5 w 92"/>
                  <a:gd name="T1" fmla="*/ 52 h 81"/>
                  <a:gd name="T2" fmla="*/ 46 w 92"/>
                  <a:gd name="T3" fmla="*/ 0 h 81"/>
                  <a:gd name="T4" fmla="*/ 87 w 92"/>
                  <a:gd name="T5" fmla="*/ 52 h 81"/>
                  <a:gd name="T6" fmla="*/ 89 w 92"/>
                  <a:gd name="T7" fmla="*/ 58 h 81"/>
                  <a:gd name="T8" fmla="*/ 89 w 92"/>
                  <a:gd name="T9" fmla="*/ 66 h 81"/>
                  <a:gd name="T10" fmla="*/ 80 w 92"/>
                  <a:gd name="T11" fmla="*/ 80 h 81"/>
                  <a:gd name="T12" fmla="*/ 80 w 92"/>
                  <a:gd name="T13" fmla="*/ 37 h 81"/>
                  <a:gd name="T14" fmla="*/ 46 w 92"/>
                  <a:gd name="T15" fmla="*/ 8 h 81"/>
                  <a:gd name="T16" fmla="*/ 12 w 92"/>
                  <a:gd name="T17" fmla="*/ 37 h 81"/>
                  <a:gd name="T18" fmla="*/ 12 w 92"/>
                  <a:gd name="T19" fmla="*/ 80 h 81"/>
                  <a:gd name="T20" fmla="*/ 3 w 92"/>
                  <a:gd name="T21" fmla="*/ 69 h 81"/>
                  <a:gd name="T22" fmla="*/ 3 w 92"/>
                  <a:gd name="T23" fmla="*/ 58 h 81"/>
                  <a:gd name="T24" fmla="*/ 5 w 92"/>
                  <a:gd name="T25" fmla="*/ 5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81">
                    <a:moveTo>
                      <a:pt x="5" y="52"/>
                    </a:moveTo>
                    <a:cubicBezTo>
                      <a:pt x="5" y="52"/>
                      <a:pt x="0" y="0"/>
                      <a:pt x="46" y="0"/>
                    </a:cubicBezTo>
                    <a:cubicBezTo>
                      <a:pt x="92" y="0"/>
                      <a:pt x="87" y="52"/>
                      <a:pt x="87" y="52"/>
                    </a:cubicBezTo>
                    <a:cubicBezTo>
                      <a:pt x="87" y="52"/>
                      <a:pt x="89" y="53"/>
                      <a:pt x="89" y="58"/>
                    </a:cubicBezTo>
                    <a:cubicBezTo>
                      <a:pt x="89" y="66"/>
                      <a:pt x="89" y="66"/>
                      <a:pt x="89" y="66"/>
                    </a:cubicBezTo>
                    <a:cubicBezTo>
                      <a:pt x="89" y="66"/>
                      <a:pt x="89" y="79"/>
                      <a:pt x="80" y="80"/>
                    </a:cubicBezTo>
                    <a:cubicBezTo>
                      <a:pt x="80" y="37"/>
                      <a:pt x="80" y="37"/>
                      <a:pt x="80" y="37"/>
                    </a:cubicBezTo>
                    <a:cubicBezTo>
                      <a:pt x="80" y="37"/>
                      <a:pt x="74" y="8"/>
                      <a:pt x="46" y="8"/>
                    </a:cubicBezTo>
                    <a:cubicBezTo>
                      <a:pt x="18" y="8"/>
                      <a:pt x="12" y="37"/>
                      <a:pt x="12" y="37"/>
                    </a:cubicBezTo>
                    <a:cubicBezTo>
                      <a:pt x="12" y="80"/>
                      <a:pt x="12" y="80"/>
                      <a:pt x="12" y="80"/>
                    </a:cubicBezTo>
                    <a:cubicBezTo>
                      <a:pt x="12" y="80"/>
                      <a:pt x="5" y="81"/>
                      <a:pt x="3" y="69"/>
                    </a:cubicBezTo>
                    <a:cubicBezTo>
                      <a:pt x="3" y="58"/>
                      <a:pt x="3" y="58"/>
                      <a:pt x="3" y="58"/>
                    </a:cubicBezTo>
                    <a:cubicBezTo>
                      <a:pt x="3" y="58"/>
                      <a:pt x="3" y="53"/>
                      <a:pt x="5" y="52"/>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7"/>
              <p:cNvSpPr>
                <a:spLocks/>
              </p:cNvSpPr>
              <p:nvPr/>
            </p:nvSpPr>
            <p:spPr bwMode="auto">
              <a:xfrm>
                <a:off x="1887537" y="4364037"/>
                <a:ext cx="19050" cy="60325"/>
              </a:xfrm>
              <a:custGeom>
                <a:avLst/>
                <a:gdLst>
                  <a:gd name="T0" fmla="*/ 4 w 4"/>
                  <a:gd name="T1" fmla="*/ 0 h 12"/>
                  <a:gd name="T2" fmla="*/ 4 w 4"/>
                  <a:gd name="T3" fmla="*/ 12 h 12"/>
                  <a:gd name="T4" fmla="*/ 0 w 4"/>
                  <a:gd name="T5" fmla="*/ 6 h 12"/>
                  <a:gd name="T6" fmla="*/ 4 w 4"/>
                  <a:gd name="T7" fmla="*/ 0 h 12"/>
                </a:gdLst>
                <a:ahLst/>
                <a:cxnLst>
                  <a:cxn ang="0">
                    <a:pos x="T0" y="T1"/>
                  </a:cxn>
                  <a:cxn ang="0">
                    <a:pos x="T2" y="T3"/>
                  </a:cxn>
                  <a:cxn ang="0">
                    <a:pos x="T4" y="T5"/>
                  </a:cxn>
                  <a:cxn ang="0">
                    <a:pos x="T6" y="T7"/>
                  </a:cxn>
                </a:cxnLst>
                <a:rect l="0" t="0" r="r" b="b"/>
                <a:pathLst>
                  <a:path w="4" h="12">
                    <a:moveTo>
                      <a:pt x="4" y="0"/>
                    </a:moveTo>
                    <a:cubicBezTo>
                      <a:pt x="4" y="12"/>
                      <a:pt x="4" y="12"/>
                      <a:pt x="4" y="12"/>
                    </a:cubicBezTo>
                    <a:cubicBezTo>
                      <a:pt x="4" y="12"/>
                      <a:pt x="0" y="10"/>
                      <a:pt x="0" y="6"/>
                    </a:cubicBezTo>
                    <a:cubicBezTo>
                      <a:pt x="0" y="1"/>
                      <a:pt x="4" y="0"/>
                      <a:pt x="4" y="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8"/>
              <p:cNvSpPr>
                <a:spLocks/>
              </p:cNvSpPr>
              <p:nvPr/>
            </p:nvSpPr>
            <p:spPr bwMode="auto">
              <a:xfrm>
                <a:off x="2335212" y="4364037"/>
                <a:ext cx="25400" cy="60325"/>
              </a:xfrm>
              <a:custGeom>
                <a:avLst/>
                <a:gdLst>
                  <a:gd name="T0" fmla="*/ 0 w 5"/>
                  <a:gd name="T1" fmla="*/ 0 h 12"/>
                  <a:gd name="T2" fmla="*/ 0 w 5"/>
                  <a:gd name="T3" fmla="*/ 12 h 12"/>
                  <a:gd name="T4" fmla="*/ 5 w 5"/>
                  <a:gd name="T5" fmla="*/ 6 h 12"/>
                  <a:gd name="T6" fmla="*/ 0 w 5"/>
                  <a:gd name="T7" fmla="*/ 0 h 12"/>
                </a:gdLst>
                <a:ahLst/>
                <a:cxnLst>
                  <a:cxn ang="0">
                    <a:pos x="T0" y="T1"/>
                  </a:cxn>
                  <a:cxn ang="0">
                    <a:pos x="T2" y="T3"/>
                  </a:cxn>
                  <a:cxn ang="0">
                    <a:pos x="T4" y="T5"/>
                  </a:cxn>
                  <a:cxn ang="0">
                    <a:pos x="T6" y="T7"/>
                  </a:cxn>
                </a:cxnLst>
                <a:rect l="0" t="0" r="r" b="b"/>
                <a:pathLst>
                  <a:path w="5" h="12">
                    <a:moveTo>
                      <a:pt x="0" y="0"/>
                    </a:moveTo>
                    <a:cubicBezTo>
                      <a:pt x="0" y="12"/>
                      <a:pt x="0" y="12"/>
                      <a:pt x="0" y="12"/>
                    </a:cubicBezTo>
                    <a:cubicBezTo>
                      <a:pt x="0" y="12"/>
                      <a:pt x="5" y="10"/>
                      <a:pt x="5" y="6"/>
                    </a:cubicBezTo>
                    <a:cubicBezTo>
                      <a:pt x="5" y="1"/>
                      <a:pt x="0" y="0"/>
                      <a:pt x="0" y="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47" name="Freeform 31"/>
          <p:cNvSpPr>
            <a:spLocks/>
          </p:cNvSpPr>
          <p:nvPr/>
        </p:nvSpPr>
        <p:spPr bwMode="auto">
          <a:xfrm>
            <a:off x="1793149" y="1974177"/>
            <a:ext cx="958896" cy="1041690"/>
          </a:xfrm>
          <a:custGeom>
            <a:avLst/>
            <a:gdLst>
              <a:gd name="T0" fmla="*/ 366 w 509"/>
              <a:gd name="T1" fmla="*/ 384 h 508"/>
              <a:gd name="T2" fmla="*/ 509 w 509"/>
              <a:gd name="T3" fmla="*/ 508 h 508"/>
              <a:gd name="T4" fmla="*/ 509 w 509"/>
              <a:gd name="T5" fmla="*/ 384 h 508"/>
              <a:gd name="T6" fmla="*/ 509 w 509"/>
              <a:gd name="T7" fmla="*/ 0 h 508"/>
              <a:gd name="T8" fmla="*/ 0 w 509"/>
              <a:gd name="T9" fmla="*/ 0 h 508"/>
              <a:gd name="T10" fmla="*/ 0 w 509"/>
              <a:gd name="T11" fmla="*/ 384 h 508"/>
              <a:gd name="T12" fmla="*/ 366 w 509"/>
              <a:gd name="T13" fmla="*/ 384 h 508"/>
            </a:gdLst>
            <a:ahLst/>
            <a:cxnLst>
              <a:cxn ang="0">
                <a:pos x="T0" y="T1"/>
              </a:cxn>
              <a:cxn ang="0">
                <a:pos x="T2" y="T3"/>
              </a:cxn>
              <a:cxn ang="0">
                <a:pos x="T4" y="T5"/>
              </a:cxn>
              <a:cxn ang="0">
                <a:pos x="T6" y="T7"/>
              </a:cxn>
              <a:cxn ang="0">
                <a:pos x="T8" y="T9"/>
              </a:cxn>
              <a:cxn ang="0">
                <a:pos x="T10" y="T11"/>
              </a:cxn>
              <a:cxn ang="0">
                <a:pos x="T12" y="T13"/>
              </a:cxn>
            </a:cxnLst>
            <a:rect l="0" t="0" r="r" b="b"/>
            <a:pathLst>
              <a:path w="509" h="508">
                <a:moveTo>
                  <a:pt x="366" y="384"/>
                </a:moveTo>
                <a:lnTo>
                  <a:pt x="509" y="508"/>
                </a:lnTo>
                <a:lnTo>
                  <a:pt x="509" y="384"/>
                </a:lnTo>
                <a:lnTo>
                  <a:pt x="509" y="0"/>
                </a:lnTo>
                <a:lnTo>
                  <a:pt x="0" y="0"/>
                </a:lnTo>
                <a:lnTo>
                  <a:pt x="0" y="384"/>
                </a:lnTo>
                <a:lnTo>
                  <a:pt x="366" y="384"/>
                </a:lnTo>
                <a:close/>
              </a:path>
            </a:pathLst>
          </a:custGeom>
          <a:solidFill>
            <a:schemeClr val="accent2">
              <a:lumMod val="75000"/>
            </a:schemeClr>
          </a:solidFill>
          <a:ln>
            <a:noFill/>
          </a:ln>
          <a:extLst/>
        </p:spPr>
        <p:txBody>
          <a:bodyPr vert="horz" wrap="square" lIns="91440" tIns="45720" rIns="91440" bIns="45720" numCol="1" anchor="t" anchorCtr="0" compatLnSpc="1">
            <a:prstTxWarp prst="textNoShape">
              <a:avLst/>
            </a:prstTxWarp>
          </a:bodyPr>
          <a:lstStyle/>
          <a:p>
            <a:endParaRPr lang="en-US"/>
          </a:p>
        </p:txBody>
      </p:sp>
      <p:grpSp>
        <p:nvGrpSpPr>
          <p:cNvPr id="51" name="Group 50"/>
          <p:cNvGrpSpPr/>
          <p:nvPr/>
        </p:nvGrpSpPr>
        <p:grpSpPr>
          <a:xfrm>
            <a:off x="4132928" y="1974177"/>
            <a:ext cx="958896" cy="1041690"/>
            <a:chOff x="3927475" y="2608262"/>
            <a:chExt cx="808038" cy="806450"/>
          </a:xfrm>
        </p:grpSpPr>
        <p:sp>
          <p:nvSpPr>
            <p:cNvPr id="52" name="Freeform 34"/>
            <p:cNvSpPr>
              <a:spLocks/>
            </p:cNvSpPr>
            <p:nvPr/>
          </p:nvSpPr>
          <p:spPr bwMode="auto">
            <a:xfrm>
              <a:off x="3927475" y="2608262"/>
              <a:ext cx="808038" cy="806450"/>
            </a:xfrm>
            <a:custGeom>
              <a:avLst/>
              <a:gdLst>
                <a:gd name="T0" fmla="*/ 369 w 509"/>
                <a:gd name="T1" fmla="*/ 384 h 508"/>
                <a:gd name="T2" fmla="*/ 509 w 509"/>
                <a:gd name="T3" fmla="*/ 508 h 508"/>
                <a:gd name="T4" fmla="*/ 509 w 509"/>
                <a:gd name="T5" fmla="*/ 384 h 508"/>
                <a:gd name="T6" fmla="*/ 509 w 509"/>
                <a:gd name="T7" fmla="*/ 0 h 508"/>
                <a:gd name="T8" fmla="*/ 0 w 509"/>
                <a:gd name="T9" fmla="*/ 0 h 508"/>
                <a:gd name="T10" fmla="*/ 0 w 509"/>
                <a:gd name="T11" fmla="*/ 384 h 508"/>
                <a:gd name="T12" fmla="*/ 369 w 509"/>
                <a:gd name="T13" fmla="*/ 384 h 508"/>
              </a:gdLst>
              <a:ahLst/>
              <a:cxnLst>
                <a:cxn ang="0">
                  <a:pos x="T0" y="T1"/>
                </a:cxn>
                <a:cxn ang="0">
                  <a:pos x="T2" y="T3"/>
                </a:cxn>
                <a:cxn ang="0">
                  <a:pos x="T4" y="T5"/>
                </a:cxn>
                <a:cxn ang="0">
                  <a:pos x="T6" y="T7"/>
                </a:cxn>
                <a:cxn ang="0">
                  <a:pos x="T8" y="T9"/>
                </a:cxn>
                <a:cxn ang="0">
                  <a:pos x="T10" y="T11"/>
                </a:cxn>
                <a:cxn ang="0">
                  <a:pos x="T12" y="T13"/>
                </a:cxn>
              </a:cxnLst>
              <a:rect l="0" t="0" r="r" b="b"/>
              <a:pathLst>
                <a:path w="509" h="508">
                  <a:moveTo>
                    <a:pt x="369" y="384"/>
                  </a:moveTo>
                  <a:lnTo>
                    <a:pt x="509" y="508"/>
                  </a:lnTo>
                  <a:lnTo>
                    <a:pt x="509" y="384"/>
                  </a:lnTo>
                  <a:lnTo>
                    <a:pt x="509" y="0"/>
                  </a:lnTo>
                  <a:lnTo>
                    <a:pt x="0" y="0"/>
                  </a:lnTo>
                  <a:lnTo>
                    <a:pt x="0" y="384"/>
                  </a:lnTo>
                  <a:lnTo>
                    <a:pt x="369" y="384"/>
                  </a:lnTo>
                  <a:close/>
                </a:path>
              </a:pathLst>
            </a:custGeom>
            <a:solidFill>
              <a:srgbClr val="00336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5"/>
            <p:cNvSpPr>
              <a:spLocks noEditPoints="1"/>
            </p:cNvSpPr>
            <p:nvPr/>
          </p:nvSpPr>
          <p:spPr bwMode="auto">
            <a:xfrm>
              <a:off x="4108450" y="2711450"/>
              <a:ext cx="454025" cy="407988"/>
            </a:xfrm>
            <a:custGeom>
              <a:avLst/>
              <a:gdLst>
                <a:gd name="T0" fmla="*/ 84 w 92"/>
                <a:gd name="T1" fmla="*/ 0 h 83"/>
                <a:gd name="T2" fmla="*/ 7 w 92"/>
                <a:gd name="T3" fmla="*/ 0 h 83"/>
                <a:gd name="T4" fmla="*/ 0 w 92"/>
                <a:gd name="T5" fmla="*/ 8 h 83"/>
                <a:gd name="T6" fmla="*/ 0 w 92"/>
                <a:gd name="T7" fmla="*/ 61 h 83"/>
                <a:gd name="T8" fmla="*/ 7 w 92"/>
                <a:gd name="T9" fmla="*/ 68 h 83"/>
                <a:gd name="T10" fmla="*/ 39 w 92"/>
                <a:gd name="T11" fmla="*/ 68 h 83"/>
                <a:gd name="T12" fmla="*/ 39 w 92"/>
                <a:gd name="T13" fmla="*/ 80 h 83"/>
                <a:gd name="T14" fmla="*/ 9 w 92"/>
                <a:gd name="T15" fmla="*/ 80 h 83"/>
                <a:gd name="T16" fmla="*/ 9 w 92"/>
                <a:gd name="T17" fmla="*/ 83 h 83"/>
                <a:gd name="T18" fmla="*/ 80 w 92"/>
                <a:gd name="T19" fmla="*/ 83 h 83"/>
                <a:gd name="T20" fmla="*/ 80 w 92"/>
                <a:gd name="T21" fmla="*/ 80 h 83"/>
                <a:gd name="T22" fmla="*/ 50 w 92"/>
                <a:gd name="T23" fmla="*/ 80 h 83"/>
                <a:gd name="T24" fmla="*/ 50 w 92"/>
                <a:gd name="T25" fmla="*/ 68 h 83"/>
                <a:gd name="T26" fmla="*/ 84 w 92"/>
                <a:gd name="T27" fmla="*/ 68 h 83"/>
                <a:gd name="T28" fmla="*/ 92 w 92"/>
                <a:gd name="T29" fmla="*/ 61 h 83"/>
                <a:gd name="T30" fmla="*/ 92 w 92"/>
                <a:gd name="T31" fmla="*/ 8 h 83"/>
                <a:gd name="T32" fmla="*/ 84 w 92"/>
                <a:gd name="T33" fmla="*/ 0 h 83"/>
                <a:gd name="T34" fmla="*/ 41 w 92"/>
                <a:gd name="T35" fmla="*/ 62 h 83"/>
                <a:gd name="T36" fmla="*/ 45 w 92"/>
                <a:gd name="T37" fmla="*/ 59 h 83"/>
                <a:gd name="T38" fmla="*/ 48 w 92"/>
                <a:gd name="T39" fmla="*/ 62 h 83"/>
                <a:gd name="T40" fmla="*/ 45 w 92"/>
                <a:gd name="T41" fmla="*/ 66 h 83"/>
                <a:gd name="T42" fmla="*/ 41 w 92"/>
                <a:gd name="T43" fmla="*/ 62 h 83"/>
                <a:gd name="T44" fmla="*/ 87 w 92"/>
                <a:gd name="T45" fmla="*/ 56 h 83"/>
                <a:gd name="T46" fmla="*/ 4 w 92"/>
                <a:gd name="T47" fmla="*/ 56 h 83"/>
                <a:gd name="T48" fmla="*/ 4 w 92"/>
                <a:gd name="T49" fmla="*/ 8 h 83"/>
                <a:gd name="T50" fmla="*/ 87 w 92"/>
                <a:gd name="T51" fmla="*/ 8 h 83"/>
                <a:gd name="T52" fmla="*/ 87 w 92"/>
                <a:gd name="T53" fmla="*/ 5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2" h="83">
                  <a:moveTo>
                    <a:pt x="84" y="0"/>
                  </a:moveTo>
                  <a:cubicBezTo>
                    <a:pt x="7" y="0"/>
                    <a:pt x="7" y="0"/>
                    <a:pt x="7" y="0"/>
                  </a:cubicBezTo>
                  <a:cubicBezTo>
                    <a:pt x="3" y="0"/>
                    <a:pt x="0" y="4"/>
                    <a:pt x="0" y="8"/>
                  </a:cubicBezTo>
                  <a:cubicBezTo>
                    <a:pt x="0" y="61"/>
                    <a:pt x="0" y="61"/>
                    <a:pt x="0" y="61"/>
                  </a:cubicBezTo>
                  <a:cubicBezTo>
                    <a:pt x="0" y="65"/>
                    <a:pt x="3" y="68"/>
                    <a:pt x="7" y="68"/>
                  </a:cubicBezTo>
                  <a:cubicBezTo>
                    <a:pt x="39" y="68"/>
                    <a:pt x="39" y="68"/>
                    <a:pt x="39" y="68"/>
                  </a:cubicBezTo>
                  <a:cubicBezTo>
                    <a:pt x="39" y="80"/>
                    <a:pt x="39" y="80"/>
                    <a:pt x="39" y="80"/>
                  </a:cubicBezTo>
                  <a:cubicBezTo>
                    <a:pt x="9" y="80"/>
                    <a:pt x="9" y="80"/>
                    <a:pt x="9" y="80"/>
                  </a:cubicBezTo>
                  <a:cubicBezTo>
                    <a:pt x="9" y="83"/>
                    <a:pt x="9" y="83"/>
                    <a:pt x="9" y="83"/>
                  </a:cubicBezTo>
                  <a:cubicBezTo>
                    <a:pt x="80" y="83"/>
                    <a:pt x="80" y="83"/>
                    <a:pt x="80" y="83"/>
                  </a:cubicBezTo>
                  <a:cubicBezTo>
                    <a:pt x="80" y="80"/>
                    <a:pt x="80" y="80"/>
                    <a:pt x="80" y="80"/>
                  </a:cubicBezTo>
                  <a:cubicBezTo>
                    <a:pt x="50" y="80"/>
                    <a:pt x="50" y="80"/>
                    <a:pt x="50" y="80"/>
                  </a:cubicBezTo>
                  <a:cubicBezTo>
                    <a:pt x="50" y="68"/>
                    <a:pt x="50" y="68"/>
                    <a:pt x="50" y="68"/>
                  </a:cubicBezTo>
                  <a:cubicBezTo>
                    <a:pt x="84" y="68"/>
                    <a:pt x="84" y="68"/>
                    <a:pt x="84" y="68"/>
                  </a:cubicBezTo>
                  <a:cubicBezTo>
                    <a:pt x="88" y="68"/>
                    <a:pt x="92" y="65"/>
                    <a:pt x="92" y="61"/>
                  </a:cubicBezTo>
                  <a:cubicBezTo>
                    <a:pt x="92" y="8"/>
                    <a:pt x="92" y="8"/>
                    <a:pt x="92" y="8"/>
                  </a:cubicBezTo>
                  <a:cubicBezTo>
                    <a:pt x="92" y="4"/>
                    <a:pt x="88" y="0"/>
                    <a:pt x="84" y="0"/>
                  </a:cubicBezTo>
                  <a:moveTo>
                    <a:pt x="41" y="62"/>
                  </a:moveTo>
                  <a:cubicBezTo>
                    <a:pt x="41" y="60"/>
                    <a:pt x="43" y="59"/>
                    <a:pt x="45" y="59"/>
                  </a:cubicBezTo>
                  <a:cubicBezTo>
                    <a:pt x="46" y="59"/>
                    <a:pt x="48" y="60"/>
                    <a:pt x="48" y="62"/>
                  </a:cubicBezTo>
                  <a:cubicBezTo>
                    <a:pt x="48" y="64"/>
                    <a:pt x="46" y="66"/>
                    <a:pt x="45" y="66"/>
                  </a:cubicBezTo>
                  <a:cubicBezTo>
                    <a:pt x="43" y="66"/>
                    <a:pt x="41" y="64"/>
                    <a:pt x="41" y="62"/>
                  </a:cubicBezTo>
                  <a:moveTo>
                    <a:pt x="87" y="56"/>
                  </a:moveTo>
                  <a:cubicBezTo>
                    <a:pt x="4" y="56"/>
                    <a:pt x="4" y="56"/>
                    <a:pt x="4" y="56"/>
                  </a:cubicBezTo>
                  <a:cubicBezTo>
                    <a:pt x="4" y="8"/>
                    <a:pt x="4" y="8"/>
                    <a:pt x="4" y="8"/>
                  </a:cubicBezTo>
                  <a:cubicBezTo>
                    <a:pt x="87" y="8"/>
                    <a:pt x="87" y="8"/>
                    <a:pt x="87" y="8"/>
                  </a:cubicBezTo>
                  <a:lnTo>
                    <a:pt x="87" y="56"/>
                  </a:lnTo>
                  <a:close/>
                </a:path>
              </a:pathLst>
            </a:custGeom>
            <a:solidFill>
              <a:srgbClr val="F9EEC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p:cNvGrpSpPr/>
          <p:nvPr/>
        </p:nvGrpSpPr>
        <p:grpSpPr>
          <a:xfrm>
            <a:off x="6203313" y="3520307"/>
            <a:ext cx="960779" cy="1043741"/>
            <a:chOff x="5672137" y="3805237"/>
            <a:chExt cx="809625" cy="808038"/>
          </a:xfrm>
        </p:grpSpPr>
        <p:sp>
          <p:nvSpPr>
            <p:cNvPr id="55" name="Freeform 36"/>
            <p:cNvSpPr>
              <a:spLocks/>
            </p:cNvSpPr>
            <p:nvPr/>
          </p:nvSpPr>
          <p:spPr bwMode="auto">
            <a:xfrm>
              <a:off x="5672137" y="3805237"/>
              <a:ext cx="809625" cy="808038"/>
            </a:xfrm>
            <a:custGeom>
              <a:avLst/>
              <a:gdLst>
                <a:gd name="T0" fmla="*/ 140 w 510"/>
                <a:gd name="T1" fmla="*/ 124 h 509"/>
                <a:gd name="T2" fmla="*/ 0 w 510"/>
                <a:gd name="T3" fmla="*/ 0 h 509"/>
                <a:gd name="T4" fmla="*/ 0 w 510"/>
                <a:gd name="T5" fmla="*/ 124 h 509"/>
                <a:gd name="T6" fmla="*/ 0 w 510"/>
                <a:gd name="T7" fmla="*/ 509 h 509"/>
                <a:gd name="T8" fmla="*/ 510 w 510"/>
                <a:gd name="T9" fmla="*/ 509 h 509"/>
                <a:gd name="T10" fmla="*/ 510 w 510"/>
                <a:gd name="T11" fmla="*/ 124 h 509"/>
                <a:gd name="T12" fmla="*/ 140 w 510"/>
                <a:gd name="T13" fmla="*/ 124 h 509"/>
              </a:gdLst>
              <a:ahLst/>
              <a:cxnLst>
                <a:cxn ang="0">
                  <a:pos x="T0" y="T1"/>
                </a:cxn>
                <a:cxn ang="0">
                  <a:pos x="T2" y="T3"/>
                </a:cxn>
                <a:cxn ang="0">
                  <a:pos x="T4" y="T5"/>
                </a:cxn>
                <a:cxn ang="0">
                  <a:pos x="T6" y="T7"/>
                </a:cxn>
                <a:cxn ang="0">
                  <a:pos x="T8" y="T9"/>
                </a:cxn>
                <a:cxn ang="0">
                  <a:pos x="T10" y="T11"/>
                </a:cxn>
                <a:cxn ang="0">
                  <a:pos x="T12" y="T13"/>
                </a:cxn>
              </a:cxnLst>
              <a:rect l="0" t="0" r="r" b="b"/>
              <a:pathLst>
                <a:path w="510" h="509">
                  <a:moveTo>
                    <a:pt x="140" y="124"/>
                  </a:moveTo>
                  <a:lnTo>
                    <a:pt x="0" y="0"/>
                  </a:lnTo>
                  <a:lnTo>
                    <a:pt x="0" y="124"/>
                  </a:lnTo>
                  <a:lnTo>
                    <a:pt x="0" y="509"/>
                  </a:lnTo>
                  <a:lnTo>
                    <a:pt x="510" y="509"/>
                  </a:lnTo>
                  <a:lnTo>
                    <a:pt x="510" y="124"/>
                  </a:lnTo>
                  <a:lnTo>
                    <a:pt x="140" y="124"/>
                  </a:lnTo>
                  <a:close/>
                </a:path>
              </a:pathLst>
            </a:custGeom>
            <a:solidFill>
              <a:srgbClr val="7030A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37"/>
            <p:cNvSpPr>
              <a:spLocks noEditPoints="1"/>
            </p:cNvSpPr>
            <p:nvPr/>
          </p:nvSpPr>
          <p:spPr bwMode="auto">
            <a:xfrm>
              <a:off x="5976937" y="4069093"/>
              <a:ext cx="257175" cy="471488"/>
            </a:xfrm>
            <a:custGeom>
              <a:avLst/>
              <a:gdLst>
                <a:gd name="T0" fmla="*/ 45 w 52"/>
                <a:gd name="T1" fmla="*/ 0 h 96"/>
                <a:gd name="T2" fmla="*/ 7 w 52"/>
                <a:gd name="T3" fmla="*/ 0 h 96"/>
                <a:gd name="T4" fmla="*/ 0 w 52"/>
                <a:gd name="T5" fmla="*/ 6 h 96"/>
                <a:gd name="T6" fmla="*/ 0 w 52"/>
                <a:gd name="T7" fmla="*/ 89 h 96"/>
                <a:gd name="T8" fmla="*/ 7 w 52"/>
                <a:gd name="T9" fmla="*/ 96 h 96"/>
                <a:gd name="T10" fmla="*/ 45 w 52"/>
                <a:gd name="T11" fmla="*/ 96 h 96"/>
                <a:gd name="T12" fmla="*/ 52 w 52"/>
                <a:gd name="T13" fmla="*/ 89 h 96"/>
                <a:gd name="T14" fmla="*/ 52 w 52"/>
                <a:gd name="T15" fmla="*/ 6 h 96"/>
                <a:gd name="T16" fmla="*/ 45 w 52"/>
                <a:gd name="T17" fmla="*/ 0 h 96"/>
                <a:gd name="T18" fmla="*/ 20 w 52"/>
                <a:gd name="T19" fmla="*/ 7 h 96"/>
                <a:gd name="T20" fmla="*/ 33 w 52"/>
                <a:gd name="T21" fmla="*/ 7 h 96"/>
                <a:gd name="T22" fmla="*/ 34 w 52"/>
                <a:gd name="T23" fmla="*/ 9 h 96"/>
                <a:gd name="T24" fmla="*/ 33 w 52"/>
                <a:gd name="T25" fmla="*/ 11 h 96"/>
                <a:gd name="T26" fmla="*/ 20 w 52"/>
                <a:gd name="T27" fmla="*/ 11 h 96"/>
                <a:gd name="T28" fmla="*/ 18 w 52"/>
                <a:gd name="T29" fmla="*/ 9 h 96"/>
                <a:gd name="T30" fmla="*/ 20 w 52"/>
                <a:gd name="T31" fmla="*/ 7 h 96"/>
                <a:gd name="T32" fmla="*/ 26 w 52"/>
                <a:gd name="T33" fmla="*/ 93 h 96"/>
                <a:gd name="T34" fmla="*/ 21 w 52"/>
                <a:gd name="T35" fmla="*/ 88 h 96"/>
                <a:gd name="T36" fmla="*/ 26 w 52"/>
                <a:gd name="T37" fmla="*/ 82 h 96"/>
                <a:gd name="T38" fmla="*/ 31 w 52"/>
                <a:gd name="T39" fmla="*/ 88 h 96"/>
                <a:gd name="T40" fmla="*/ 26 w 52"/>
                <a:gd name="T41" fmla="*/ 93 h 96"/>
                <a:gd name="T42" fmla="*/ 48 w 52"/>
                <a:gd name="T43" fmla="*/ 81 h 96"/>
                <a:gd name="T44" fmla="*/ 4 w 52"/>
                <a:gd name="T45" fmla="*/ 81 h 96"/>
                <a:gd name="T46" fmla="*/ 4 w 52"/>
                <a:gd name="T47" fmla="*/ 15 h 96"/>
                <a:gd name="T48" fmla="*/ 48 w 52"/>
                <a:gd name="T49" fmla="*/ 15 h 96"/>
                <a:gd name="T50" fmla="*/ 48 w 52"/>
                <a:gd name="T51" fmla="*/ 8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 h="96">
                  <a:moveTo>
                    <a:pt x="45" y="0"/>
                  </a:moveTo>
                  <a:cubicBezTo>
                    <a:pt x="7" y="0"/>
                    <a:pt x="7" y="0"/>
                    <a:pt x="7" y="0"/>
                  </a:cubicBezTo>
                  <a:cubicBezTo>
                    <a:pt x="4" y="0"/>
                    <a:pt x="0" y="3"/>
                    <a:pt x="0" y="6"/>
                  </a:cubicBezTo>
                  <a:cubicBezTo>
                    <a:pt x="0" y="89"/>
                    <a:pt x="0" y="89"/>
                    <a:pt x="0" y="89"/>
                  </a:cubicBezTo>
                  <a:cubicBezTo>
                    <a:pt x="0" y="93"/>
                    <a:pt x="4" y="96"/>
                    <a:pt x="7" y="96"/>
                  </a:cubicBezTo>
                  <a:cubicBezTo>
                    <a:pt x="45" y="96"/>
                    <a:pt x="45" y="96"/>
                    <a:pt x="45" y="96"/>
                  </a:cubicBezTo>
                  <a:cubicBezTo>
                    <a:pt x="49" y="96"/>
                    <a:pt x="52" y="93"/>
                    <a:pt x="52" y="89"/>
                  </a:cubicBezTo>
                  <a:cubicBezTo>
                    <a:pt x="52" y="6"/>
                    <a:pt x="52" y="6"/>
                    <a:pt x="52" y="6"/>
                  </a:cubicBezTo>
                  <a:cubicBezTo>
                    <a:pt x="52" y="3"/>
                    <a:pt x="49" y="0"/>
                    <a:pt x="45" y="0"/>
                  </a:cubicBezTo>
                  <a:moveTo>
                    <a:pt x="20" y="7"/>
                  </a:moveTo>
                  <a:cubicBezTo>
                    <a:pt x="33" y="7"/>
                    <a:pt x="33" y="7"/>
                    <a:pt x="33" y="7"/>
                  </a:cubicBezTo>
                  <a:cubicBezTo>
                    <a:pt x="34" y="7"/>
                    <a:pt x="34" y="8"/>
                    <a:pt x="34" y="9"/>
                  </a:cubicBezTo>
                  <a:cubicBezTo>
                    <a:pt x="34" y="10"/>
                    <a:pt x="34" y="11"/>
                    <a:pt x="33" y="11"/>
                  </a:cubicBezTo>
                  <a:cubicBezTo>
                    <a:pt x="20" y="11"/>
                    <a:pt x="20" y="11"/>
                    <a:pt x="20" y="11"/>
                  </a:cubicBezTo>
                  <a:cubicBezTo>
                    <a:pt x="19" y="11"/>
                    <a:pt x="18" y="10"/>
                    <a:pt x="18" y="9"/>
                  </a:cubicBezTo>
                  <a:cubicBezTo>
                    <a:pt x="18" y="8"/>
                    <a:pt x="19" y="7"/>
                    <a:pt x="20" y="7"/>
                  </a:cubicBezTo>
                  <a:moveTo>
                    <a:pt x="26" y="93"/>
                  </a:moveTo>
                  <a:cubicBezTo>
                    <a:pt x="23" y="93"/>
                    <a:pt x="21" y="90"/>
                    <a:pt x="21" y="88"/>
                  </a:cubicBezTo>
                  <a:cubicBezTo>
                    <a:pt x="21" y="85"/>
                    <a:pt x="23" y="82"/>
                    <a:pt x="26" y="82"/>
                  </a:cubicBezTo>
                  <a:cubicBezTo>
                    <a:pt x="29" y="82"/>
                    <a:pt x="31" y="85"/>
                    <a:pt x="31" y="88"/>
                  </a:cubicBezTo>
                  <a:cubicBezTo>
                    <a:pt x="31" y="90"/>
                    <a:pt x="29" y="93"/>
                    <a:pt x="26" y="93"/>
                  </a:cubicBezTo>
                  <a:moveTo>
                    <a:pt x="48" y="81"/>
                  </a:moveTo>
                  <a:cubicBezTo>
                    <a:pt x="4" y="81"/>
                    <a:pt x="4" y="81"/>
                    <a:pt x="4" y="81"/>
                  </a:cubicBezTo>
                  <a:cubicBezTo>
                    <a:pt x="4" y="15"/>
                    <a:pt x="4" y="15"/>
                    <a:pt x="4" y="15"/>
                  </a:cubicBezTo>
                  <a:cubicBezTo>
                    <a:pt x="48" y="15"/>
                    <a:pt x="48" y="15"/>
                    <a:pt x="48" y="15"/>
                  </a:cubicBezTo>
                  <a:lnTo>
                    <a:pt x="48" y="81"/>
                  </a:lnTo>
                  <a:close/>
                </a:path>
              </a:pathLst>
            </a:custGeom>
            <a:solidFill>
              <a:srgbClr val="F9EEC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8" name="Freeform 43"/>
          <p:cNvSpPr>
            <a:spLocks/>
          </p:cNvSpPr>
          <p:nvPr/>
        </p:nvSpPr>
        <p:spPr bwMode="auto">
          <a:xfrm>
            <a:off x="7395809" y="1974177"/>
            <a:ext cx="958896" cy="1041690"/>
          </a:xfrm>
          <a:custGeom>
            <a:avLst/>
            <a:gdLst>
              <a:gd name="T0" fmla="*/ 369 w 509"/>
              <a:gd name="T1" fmla="*/ 384 h 508"/>
              <a:gd name="T2" fmla="*/ 509 w 509"/>
              <a:gd name="T3" fmla="*/ 508 h 508"/>
              <a:gd name="T4" fmla="*/ 509 w 509"/>
              <a:gd name="T5" fmla="*/ 384 h 508"/>
              <a:gd name="T6" fmla="*/ 509 w 509"/>
              <a:gd name="T7" fmla="*/ 0 h 508"/>
              <a:gd name="T8" fmla="*/ 0 w 509"/>
              <a:gd name="T9" fmla="*/ 0 h 508"/>
              <a:gd name="T10" fmla="*/ 0 w 509"/>
              <a:gd name="T11" fmla="*/ 384 h 508"/>
              <a:gd name="T12" fmla="*/ 369 w 509"/>
              <a:gd name="T13" fmla="*/ 384 h 508"/>
            </a:gdLst>
            <a:ahLst/>
            <a:cxnLst>
              <a:cxn ang="0">
                <a:pos x="T0" y="T1"/>
              </a:cxn>
              <a:cxn ang="0">
                <a:pos x="T2" y="T3"/>
              </a:cxn>
              <a:cxn ang="0">
                <a:pos x="T4" y="T5"/>
              </a:cxn>
              <a:cxn ang="0">
                <a:pos x="T6" y="T7"/>
              </a:cxn>
              <a:cxn ang="0">
                <a:pos x="T8" y="T9"/>
              </a:cxn>
              <a:cxn ang="0">
                <a:pos x="T10" y="T11"/>
              </a:cxn>
              <a:cxn ang="0">
                <a:pos x="T12" y="T13"/>
              </a:cxn>
            </a:cxnLst>
            <a:rect l="0" t="0" r="r" b="b"/>
            <a:pathLst>
              <a:path w="509" h="508">
                <a:moveTo>
                  <a:pt x="369" y="384"/>
                </a:moveTo>
                <a:lnTo>
                  <a:pt x="509" y="508"/>
                </a:lnTo>
                <a:lnTo>
                  <a:pt x="509" y="384"/>
                </a:lnTo>
                <a:lnTo>
                  <a:pt x="509" y="0"/>
                </a:lnTo>
                <a:lnTo>
                  <a:pt x="0" y="0"/>
                </a:lnTo>
                <a:lnTo>
                  <a:pt x="0" y="384"/>
                </a:lnTo>
                <a:lnTo>
                  <a:pt x="369" y="384"/>
                </a:lnTo>
                <a:close/>
              </a:path>
            </a:pathLst>
          </a:custGeom>
          <a:solidFill>
            <a:srgbClr val="0099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TextBox 60"/>
          <p:cNvSpPr txBox="1"/>
          <p:nvPr/>
        </p:nvSpPr>
        <p:spPr bwMode="auto">
          <a:xfrm>
            <a:off x="1372213" y="1128708"/>
            <a:ext cx="1859391" cy="775231"/>
          </a:xfrm>
          <a:prstGeom prst="rect">
            <a:avLst/>
          </a:prstGeom>
          <a:noFill/>
        </p:spPr>
        <p:txBody>
          <a:bodyPr wrap="square">
            <a:spAutoFit/>
          </a:bodyPr>
          <a:lstStyle/>
          <a:p>
            <a:pPr fontAlgn="auto">
              <a:spcBef>
                <a:spcPts val="0"/>
              </a:spcBef>
              <a:spcAft>
                <a:spcPts val="0"/>
              </a:spcAft>
              <a:defRPr/>
            </a:pPr>
            <a:r>
              <a:rPr lang="en-US" sz="1100" dirty="0">
                <a:solidFill>
                  <a:srgbClr val="FF0000"/>
                </a:solidFill>
              </a:rPr>
              <a:t>Challenge</a:t>
            </a:r>
            <a:r>
              <a:rPr lang="en-US" sz="1100" dirty="0"/>
              <a:t>: Timing issues are not properly addressed </a:t>
            </a:r>
          </a:p>
        </p:txBody>
      </p:sp>
      <p:grpSp>
        <p:nvGrpSpPr>
          <p:cNvPr id="69" name="Group 68"/>
          <p:cNvGrpSpPr/>
          <p:nvPr/>
        </p:nvGrpSpPr>
        <p:grpSpPr>
          <a:xfrm>
            <a:off x="1945294" y="2036981"/>
            <a:ext cx="593423" cy="643879"/>
            <a:chOff x="6183313" y="3019425"/>
            <a:chExt cx="500063" cy="498475"/>
          </a:xfrm>
        </p:grpSpPr>
        <p:sp>
          <p:nvSpPr>
            <p:cNvPr id="70" name="Freeform 69"/>
            <p:cNvSpPr>
              <a:spLocks noEditPoints="1"/>
            </p:cNvSpPr>
            <p:nvPr/>
          </p:nvSpPr>
          <p:spPr bwMode="auto">
            <a:xfrm>
              <a:off x="6183313" y="3019425"/>
              <a:ext cx="500063" cy="498475"/>
            </a:xfrm>
            <a:custGeom>
              <a:avLst/>
              <a:gdLst>
                <a:gd name="T0" fmla="*/ 117 w 233"/>
                <a:gd name="T1" fmla="*/ 0 h 233"/>
                <a:gd name="T2" fmla="*/ 0 w 233"/>
                <a:gd name="T3" fmla="*/ 116 h 233"/>
                <a:gd name="T4" fmla="*/ 117 w 233"/>
                <a:gd name="T5" fmla="*/ 233 h 233"/>
                <a:gd name="T6" fmla="*/ 233 w 233"/>
                <a:gd name="T7" fmla="*/ 116 h 233"/>
                <a:gd name="T8" fmla="*/ 117 w 233"/>
                <a:gd name="T9" fmla="*/ 0 h 233"/>
                <a:gd name="T10" fmla="*/ 117 w 233"/>
                <a:gd name="T11" fmla="*/ 213 h 233"/>
                <a:gd name="T12" fmla="*/ 21 w 233"/>
                <a:gd name="T13" fmla="*/ 116 h 233"/>
                <a:gd name="T14" fmla="*/ 117 w 233"/>
                <a:gd name="T15" fmla="*/ 20 h 233"/>
                <a:gd name="T16" fmla="*/ 213 w 233"/>
                <a:gd name="T17" fmla="*/ 116 h 233"/>
                <a:gd name="T18" fmla="*/ 117 w 233"/>
                <a:gd name="T19" fmla="*/ 21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233">
                  <a:moveTo>
                    <a:pt x="117" y="0"/>
                  </a:moveTo>
                  <a:cubicBezTo>
                    <a:pt x="53" y="0"/>
                    <a:pt x="0" y="52"/>
                    <a:pt x="0" y="116"/>
                  </a:cubicBezTo>
                  <a:cubicBezTo>
                    <a:pt x="0" y="181"/>
                    <a:pt x="53" y="233"/>
                    <a:pt x="117" y="233"/>
                  </a:cubicBezTo>
                  <a:cubicBezTo>
                    <a:pt x="181" y="233"/>
                    <a:pt x="233" y="181"/>
                    <a:pt x="233" y="116"/>
                  </a:cubicBezTo>
                  <a:cubicBezTo>
                    <a:pt x="233" y="52"/>
                    <a:pt x="181" y="0"/>
                    <a:pt x="117" y="0"/>
                  </a:cubicBezTo>
                  <a:moveTo>
                    <a:pt x="117" y="213"/>
                  </a:moveTo>
                  <a:cubicBezTo>
                    <a:pt x="64" y="213"/>
                    <a:pt x="21" y="169"/>
                    <a:pt x="21" y="116"/>
                  </a:cubicBezTo>
                  <a:cubicBezTo>
                    <a:pt x="21" y="63"/>
                    <a:pt x="64" y="20"/>
                    <a:pt x="117" y="20"/>
                  </a:cubicBezTo>
                  <a:cubicBezTo>
                    <a:pt x="170" y="20"/>
                    <a:pt x="213" y="63"/>
                    <a:pt x="213" y="116"/>
                  </a:cubicBezTo>
                  <a:cubicBezTo>
                    <a:pt x="213" y="169"/>
                    <a:pt x="170" y="213"/>
                    <a:pt x="117" y="213"/>
                  </a:cubicBezTo>
                </a:path>
              </a:pathLst>
            </a:cu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70"/>
            <p:cNvSpPr>
              <a:spLocks noEditPoints="1"/>
            </p:cNvSpPr>
            <p:nvPr/>
          </p:nvSpPr>
          <p:spPr bwMode="auto">
            <a:xfrm>
              <a:off x="6242050" y="3074988"/>
              <a:ext cx="384175" cy="385763"/>
            </a:xfrm>
            <a:custGeom>
              <a:avLst/>
              <a:gdLst>
                <a:gd name="T0" fmla="*/ 90 w 180"/>
                <a:gd name="T1" fmla="*/ 0 h 180"/>
                <a:gd name="T2" fmla="*/ 0 w 180"/>
                <a:gd name="T3" fmla="*/ 90 h 180"/>
                <a:gd name="T4" fmla="*/ 90 w 180"/>
                <a:gd name="T5" fmla="*/ 180 h 180"/>
                <a:gd name="T6" fmla="*/ 180 w 180"/>
                <a:gd name="T7" fmla="*/ 90 h 180"/>
                <a:gd name="T8" fmla="*/ 90 w 180"/>
                <a:gd name="T9" fmla="*/ 0 h 180"/>
                <a:gd name="T10" fmla="*/ 83 w 180"/>
                <a:gd name="T11" fmla="*/ 14 h 180"/>
                <a:gd name="T12" fmla="*/ 96 w 180"/>
                <a:gd name="T13" fmla="*/ 14 h 180"/>
                <a:gd name="T14" fmla="*/ 96 w 180"/>
                <a:gd name="T15" fmla="*/ 36 h 180"/>
                <a:gd name="T16" fmla="*/ 83 w 180"/>
                <a:gd name="T17" fmla="*/ 36 h 180"/>
                <a:gd name="T18" fmla="*/ 83 w 180"/>
                <a:gd name="T19" fmla="*/ 14 h 180"/>
                <a:gd name="T20" fmla="*/ 36 w 180"/>
                <a:gd name="T21" fmla="*/ 97 h 180"/>
                <a:gd name="T22" fmla="*/ 13 w 180"/>
                <a:gd name="T23" fmla="*/ 97 h 180"/>
                <a:gd name="T24" fmla="*/ 13 w 180"/>
                <a:gd name="T25" fmla="*/ 84 h 180"/>
                <a:gd name="T26" fmla="*/ 36 w 180"/>
                <a:gd name="T27" fmla="*/ 84 h 180"/>
                <a:gd name="T28" fmla="*/ 36 w 180"/>
                <a:gd name="T29" fmla="*/ 97 h 180"/>
                <a:gd name="T30" fmla="*/ 96 w 180"/>
                <a:gd name="T31" fmla="*/ 167 h 180"/>
                <a:gd name="T32" fmla="*/ 83 w 180"/>
                <a:gd name="T33" fmla="*/ 167 h 180"/>
                <a:gd name="T34" fmla="*/ 83 w 180"/>
                <a:gd name="T35" fmla="*/ 145 h 180"/>
                <a:gd name="T36" fmla="*/ 96 w 180"/>
                <a:gd name="T37" fmla="*/ 145 h 180"/>
                <a:gd name="T38" fmla="*/ 96 w 180"/>
                <a:gd name="T39" fmla="*/ 167 h 180"/>
                <a:gd name="T40" fmla="*/ 98 w 180"/>
                <a:gd name="T41" fmla="*/ 89 h 180"/>
                <a:gd name="T42" fmla="*/ 92 w 180"/>
                <a:gd name="T43" fmla="*/ 131 h 180"/>
                <a:gd name="T44" fmla="*/ 81 w 180"/>
                <a:gd name="T45" fmla="*/ 80 h 180"/>
                <a:gd name="T46" fmla="*/ 81 w 180"/>
                <a:gd name="T47" fmla="*/ 80 h 180"/>
                <a:gd name="T48" fmla="*/ 81 w 180"/>
                <a:gd name="T49" fmla="*/ 80 h 180"/>
                <a:gd name="T50" fmla="*/ 81 w 180"/>
                <a:gd name="T51" fmla="*/ 80 h 180"/>
                <a:gd name="T52" fmla="*/ 81 w 180"/>
                <a:gd name="T53" fmla="*/ 80 h 180"/>
                <a:gd name="T54" fmla="*/ 126 w 180"/>
                <a:gd name="T55" fmla="*/ 48 h 180"/>
                <a:gd name="T56" fmla="*/ 98 w 180"/>
                <a:gd name="T57" fmla="*/ 89 h 180"/>
                <a:gd name="T58" fmla="*/ 144 w 180"/>
                <a:gd name="T59" fmla="*/ 84 h 180"/>
                <a:gd name="T60" fmla="*/ 166 w 180"/>
                <a:gd name="T61" fmla="*/ 84 h 180"/>
                <a:gd name="T62" fmla="*/ 166 w 180"/>
                <a:gd name="T63" fmla="*/ 97 h 180"/>
                <a:gd name="T64" fmla="*/ 144 w 180"/>
                <a:gd name="T65" fmla="*/ 97 h 180"/>
                <a:gd name="T66" fmla="*/ 144 w 180"/>
                <a:gd name="T67" fmla="*/ 8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0" h="180">
                  <a:moveTo>
                    <a:pt x="90" y="0"/>
                  </a:moveTo>
                  <a:cubicBezTo>
                    <a:pt x="40" y="0"/>
                    <a:pt x="0" y="41"/>
                    <a:pt x="0" y="90"/>
                  </a:cubicBezTo>
                  <a:cubicBezTo>
                    <a:pt x="0" y="140"/>
                    <a:pt x="40" y="180"/>
                    <a:pt x="90" y="180"/>
                  </a:cubicBezTo>
                  <a:cubicBezTo>
                    <a:pt x="140" y="180"/>
                    <a:pt x="180" y="140"/>
                    <a:pt x="180" y="90"/>
                  </a:cubicBezTo>
                  <a:cubicBezTo>
                    <a:pt x="180" y="41"/>
                    <a:pt x="140" y="0"/>
                    <a:pt x="90" y="0"/>
                  </a:cubicBezTo>
                  <a:moveTo>
                    <a:pt x="83" y="14"/>
                  </a:moveTo>
                  <a:cubicBezTo>
                    <a:pt x="96" y="14"/>
                    <a:pt x="96" y="14"/>
                    <a:pt x="96" y="14"/>
                  </a:cubicBezTo>
                  <a:cubicBezTo>
                    <a:pt x="96" y="36"/>
                    <a:pt x="96" y="36"/>
                    <a:pt x="96" y="36"/>
                  </a:cubicBezTo>
                  <a:cubicBezTo>
                    <a:pt x="83" y="36"/>
                    <a:pt x="83" y="36"/>
                    <a:pt x="83" y="36"/>
                  </a:cubicBezTo>
                  <a:lnTo>
                    <a:pt x="83" y="14"/>
                  </a:lnTo>
                  <a:close/>
                  <a:moveTo>
                    <a:pt x="36" y="97"/>
                  </a:moveTo>
                  <a:cubicBezTo>
                    <a:pt x="13" y="97"/>
                    <a:pt x="13" y="97"/>
                    <a:pt x="13" y="97"/>
                  </a:cubicBezTo>
                  <a:cubicBezTo>
                    <a:pt x="13" y="84"/>
                    <a:pt x="13" y="84"/>
                    <a:pt x="13" y="84"/>
                  </a:cubicBezTo>
                  <a:cubicBezTo>
                    <a:pt x="36" y="84"/>
                    <a:pt x="36" y="84"/>
                    <a:pt x="36" y="84"/>
                  </a:cubicBezTo>
                  <a:cubicBezTo>
                    <a:pt x="36" y="97"/>
                    <a:pt x="36" y="97"/>
                    <a:pt x="36" y="97"/>
                  </a:cubicBezTo>
                  <a:close/>
                  <a:moveTo>
                    <a:pt x="96" y="167"/>
                  </a:moveTo>
                  <a:cubicBezTo>
                    <a:pt x="83" y="167"/>
                    <a:pt x="83" y="167"/>
                    <a:pt x="83" y="167"/>
                  </a:cubicBezTo>
                  <a:cubicBezTo>
                    <a:pt x="83" y="145"/>
                    <a:pt x="83" y="145"/>
                    <a:pt x="83" y="145"/>
                  </a:cubicBezTo>
                  <a:cubicBezTo>
                    <a:pt x="96" y="145"/>
                    <a:pt x="96" y="145"/>
                    <a:pt x="96" y="145"/>
                  </a:cubicBezTo>
                  <a:lnTo>
                    <a:pt x="96" y="167"/>
                  </a:lnTo>
                  <a:close/>
                  <a:moveTo>
                    <a:pt x="98" y="89"/>
                  </a:moveTo>
                  <a:cubicBezTo>
                    <a:pt x="92" y="131"/>
                    <a:pt x="92" y="131"/>
                    <a:pt x="92" y="131"/>
                  </a:cubicBezTo>
                  <a:cubicBezTo>
                    <a:pt x="81" y="80"/>
                    <a:pt x="81" y="80"/>
                    <a:pt x="81" y="80"/>
                  </a:cubicBezTo>
                  <a:cubicBezTo>
                    <a:pt x="81" y="80"/>
                    <a:pt x="81" y="80"/>
                    <a:pt x="81" y="80"/>
                  </a:cubicBezTo>
                  <a:cubicBezTo>
                    <a:pt x="81" y="80"/>
                    <a:pt x="81" y="80"/>
                    <a:pt x="81" y="80"/>
                  </a:cubicBezTo>
                  <a:cubicBezTo>
                    <a:pt x="81" y="80"/>
                    <a:pt x="81" y="80"/>
                    <a:pt x="81" y="80"/>
                  </a:cubicBezTo>
                  <a:cubicBezTo>
                    <a:pt x="81" y="80"/>
                    <a:pt x="81" y="80"/>
                    <a:pt x="81" y="80"/>
                  </a:cubicBezTo>
                  <a:cubicBezTo>
                    <a:pt x="126" y="48"/>
                    <a:pt x="126" y="48"/>
                    <a:pt x="126" y="48"/>
                  </a:cubicBezTo>
                  <a:lnTo>
                    <a:pt x="98" y="89"/>
                  </a:lnTo>
                  <a:close/>
                  <a:moveTo>
                    <a:pt x="144" y="84"/>
                  </a:moveTo>
                  <a:cubicBezTo>
                    <a:pt x="166" y="84"/>
                    <a:pt x="166" y="84"/>
                    <a:pt x="166" y="84"/>
                  </a:cubicBezTo>
                  <a:cubicBezTo>
                    <a:pt x="166" y="97"/>
                    <a:pt x="166" y="97"/>
                    <a:pt x="166" y="97"/>
                  </a:cubicBezTo>
                  <a:cubicBezTo>
                    <a:pt x="144" y="97"/>
                    <a:pt x="144" y="97"/>
                    <a:pt x="144" y="97"/>
                  </a:cubicBezTo>
                  <a:lnTo>
                    <a:pt x="144" y="84"/>
                  </a:lnTo>
                  <a:close/>
                </a:path>
              </a:pathLst>
            </a:cu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3" name="Group 72"/>
          <p:cNvGrpSpPr/>
          <p:nvPr/>
        </p:nvGrpSpPr>
        <p:grpSpPr>
          <a:xfrm>
            <a:off x="1661277" y="3797561"/>
            <a:ext cx="599074" cy="672588"/>
            <a:chOff x="1601791" y="5558390"/>
            <a:chExt cx="504825" cy="520701"/>
          </a:xfrm>
        </p:grpSpPr>
        <p:sp>
          <p:nvSpPr>
            <p:cNvPr id="74" name="Freeform 139"/>
            <p:cNvSpPr>
              <a:spLocks/>
            </p:cNvSpPr>
            <p:nvPr/>
          </p:nvSpPr>
          <p:spPr bwMode="auto">
            <a:xfrm>
              <a:off x="1601791" y="5558390"/>
              <a:ext cx="463550" cy="477838"/>
            </a:xfrm>
            <a:custGeom>
              <a:avLst/>
              <a:gdLst>
                <a:gd name="T0" fmla="*/ 208 w 212"/>
                <a:gd name="T1" fmla="*/ 153 h 218"/>
                <a:gd name="T2" fmla="*/ 166 w 212"/>
                <a:gd name="T3" fmla="*/ 111 h 218"/>
                <a:gd name="T4" fmla="*/ 159 w 212"/>
                <a:gd name="T5" fmla="*/ 103 h 218"/>
                <a:gd name="T6" fmla="*/ 117 w 212"/>
                <a:gd name="T7" fmla="*/ 55 h 218"/>
                <a:gd name="T8" fmla="*/ 100 w 212"/>
                <a:gd name="T9" fmla="*/ 14 h 218"/>
                <a:gd name="T10" fmla="*/ 76 w 212"/>
                <a:gd name="T11" fmla="*/ 12 h 218"/>
                <a:gd name="T12" fmla="*/ 69 w 212"/>
                <a:gd name="T13" fmla="*/ 30 h 218"/>
                <a:gd name="T14" fmla="*/ 82 w 212"/>
                <a:gd name="T15" fmla="*/ 62 h 218"/>
                <a:gd name="T16" fmla="*/ 83 w 212"/>
                <a:gd name="T17" fmla="*/ 83 h 218"/>
                <a:gd name="T18" fmla="*/ 20 w 212"/>
                <a:gd name="T19" fmla="*/ 83 h 218"/>
                <a:gd name="T20" fmla="*/ 5 w 212"/>
                <a:gd name="T21" fmla="*/ 104 h 218"/>
                <a:gd name="T22" fmla="*/ 37 w 212"/>
                <a:gd name="T23" fmla="*/ 194 h 218"/>
                <a:gd name="T24" fmla="*/ 50 w 212"/>
                <a:gd name="T25" fmla="*/ 203 h 218"/>
                <a:gd name="T26" fmla="*/ 127 w 212"/>
                <a:gd name="T27" fmla="*/ 203 h 218"/>
                <a:gd name="T28" fmla="*/ 143 w 212"/>
                <a:gd name="T29" fmla="*/ 210 h 218"/>
                <a:gd name="T30" fmla="*/ 147 w 212"/>
                <a:gd name="T31" fmla="*/ 214 h 218"/>
                <a:gd name="T32" fmla="*/ 161 w 212"/>
                <a:gd name="T33" fmla="*/ 214 h 218"/>
                <a:gd name="T34" fmla="*/ 208 w 212"/>
                <a:gd name="T35" fmla="*/ 166 h 218"/>
                <a:gd name="T36" fmla="*/ 208 w 212"/>
                <a:gd name="T37" fmla="*/ 15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8">
                  <a:moveTo>
                    <a:pt x="208" y="153"/>
                  </a:moveTo>
                  <a:cubicBezTo>
                    <a:pt x="166" y="111"/>
                    <a:pt x="166" y="111"/>
                    <a:pt x="166" y="111"/>
                  </a:cubicBezTo>
                  <a:cubicBezTo>
                    <a:pt x="162" y="107"/>
                    <a:pt x="159" y="104"/>
                    <a:pt x="159" y="103"/>
                  </a:cubicBezTo>
                  <a:cubicBezTo>
                    <a:pt x="159" y="103"/>
                    <a:pt x="142" y="71"/>
                    <a:pt x="117" y="55"/>
                  </a:cubicBezTo>
                  <a:cubicBezTo>
                    <a:pt x="93" y="39"/>
                    <a:pt x="100" y="27"/>
                    <a:pt x="100" y="14"/>
                  </a:cubicBezTo>
                  <a:cubicBezTo>
                    <a:pt x="100" y="2"/>
                    <a:pt x="86" y="0"/>
                    <a:pt x="76" y="12"/>
                  </a:cubicBezTo>
                  <a:cubicBezTo>
                    <a:pt x="73" y="16"/>
                    <a:pt x="70" y="25"/>
                    <a:pt x="69" y="30"/>
                  </a:cubicBezTo>
                  <a:cubicBezTo>
                    <a:pt x="67" y="46"/>
                    <a:pt x="78" y="56"/>
                    <a:pt x="82" y="62"/>
                  </a:cubicBezTo>
                  <a:cubicBezTo>
                    <a:pt x="85" y="66"/>
                    <a:pt x="86" y="74"/>
                    <a:pt x="83" y="83"/>
                  </a:cubicBezTo>
                  <a:cubicBezTo>
                    <a:pt x="20" y="83"/>
                    <a:pt x="20" y="83"/>
                    <a:pt x="20" y="83"/>
                  </a:cubicBezTo>
                  <a:cubicBezTo>
                    <a:pt x="7" y="83"/>
                    <a:pt x="0" y="92"/>
                    <a:pt x="5" y="104"/>
                  </a:cubicBezTo>
                  <a:cubicBezTo>
                    <a:pt x="37" y="194"/>
                    <a:pt x="37" y="194"/>
                    <a:pt x="37" y="194"/>
                  </a:cubicBezTo>
                  <a:cubicBezTo>
                    <a:pt x="39" y="199"/>
                    <a:pt x="45" y="203"/>
                    <a:pt x="50" y="203"/>
                  </a:cubicBezTo>
                  <a:cubicBezTo>
                    <a:pt x="127" y="203"/>
                    <a:pt x="127" y="203"/>
                    <a:pt x="127" y="203"/>
                  </a:cubicBezTo>
                  <a:cubicBezTo>
                    <a:pt x="132" y="203"/>
                    <a:pt x="140" y="207"/>
                    <a:pt x="143" y="210"/>
                  </a:cubicBezTo>
                  <a:cubicBezTo>
                    <a:pt x="147" y="214"/>
                    <a:pt x="147" y="214"/>
                    <a:pt x="147" y="214"/>
                  </a:cubicBezTo>
                  <a:cubicBezTo>
                    <a:pt x="151" y="218"/>
                    <a:pt x="157" y="218"/>
                    <a:pt x="161" y="214"/>
                  </a:cubicBezTo>
                  <a:cubicBezTo>
                    <a:pt x="208" y="166"/>
                    <a:pt x="208" y="166"/>
                    <a:pt x="208" y="166"/>
                  </a:cubicBezTo>
                  <a:cubicBezTo>
                    <a:pt x="212" y="163"/>
                    <a:pt x="212" y="156"/>
                    <a:pt x="208" y="153"/>
                  </a:cubicBezTo>
                </a:path>
              </a:pathLst>
            </a:cu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140"/>
            <p:cNvSpPr>
              <a:spLocks/>
            </p:cNvSpPr>
            <p:nvPr/>
          </p:nvSpPr>
          <p:spPr bwMode="auto">
            <a:xfrm>
              <a:off x="1955803" y="5928278"/>
              <a:ext cx="150813" cy="150813"/>
            </a:xfrm>
            <a:custGeom>
              <a:avLst/>
              <a:gdLst>
                <a:gd name="T0" fmla="*/ 18 w 95"/>
                <a:gd name="T1" fmla="*/ 95 h 95"/>
                <a:gd name="T2" fmla="*/ 0 w 95"/>
                <a:gd name="T3" fmla="*/ 77 h 95"/>
                <a:gd name="T4" fmla="*/ 79 w 95"/>
                <a:gd name="T5" fmla="*/ 0 h 95"/>
                <a:gd name="T6" fmla="*/ 95 w 95"/>
                <a:gd name="T7" fmla="*/ 18 h 95"/>
                <a:gd name="T8" fmla="*/ 18 w 95"/>
                <a:gd name="T9" fmla="*/ 95 h 95"/>
              </a:gdLst>
              <a:ahLst/>
              <a:cxnLst>
                <a:cxn ang="0">
                  <a:pos x="T0" y="T1"/>
                </a:cxn>
                <a:cxn ang="0">
                  <a:pos x="T2" y="T3"/>
                </a:cxn>
                <a:cxn ang="0">
                  <a:pos x="T4" y="T5"/>
                </a:cxn>
                <a:cxn ang="0">
                  <a:pos x="T6" y="T7"/>
                </a:cxn>
                <a:cxn ang="0">
                  <a:pos x="T8" y="T9"/>
                </a:cxn>
              </a:cxnLst>
              <a:rect l="0" t="0" r="r" b="b"/>
              <a:pathLst>
                <a:path w="95" h="95">
                  <a:moveTo>
                    <a:pt x="18" y="95"/>
                  </a:moveTo>
                  <a:lnTo>
                    <a:pt x="0" y="77"/>
                  </a:lnTo>
                  <a:lnTo>
                    <a:pt x="79" y="0"/>
                  </a:lnTo>
                  <a:lnTo>
                    <a:pt x="95" y="18"/>
                  </a:lnTo>
                  <a:lnTo>
                    <a:pt x="18" y="95"/>
                  </a:lnTo>
                  <a:close/>
                </a:path>
              </a:pathLst>
            </a:cu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6" name="Group 75"/>
          <p:cNvGrpSpPr/>
          <p:nvPr/>
        </p:nvGrpSpPr>
        <p:grpSpPr>
          <a:xfrm>
            <a:off x="7555633" y="2088451"/>
            <a:ext cx="610377" cy="586465"/>
            <a:chOff x="6956425" y="2273300"/>
            <a:chExt cx="514350" cy="454026"/>
          </a:xfrm>
        </p:grpSpPr>
        <p:sp>
          <p:nvSpPr>
            <p:cNvPr id="77" name="Rectangle 76"/>
            <p:cNvSpPr>
              <a:spLocks noChangeArrowheads="1"/>
            </p:cNvSpPr>
            <p:nvPr/>
          </p:nvSpPr>
          <p:spPr bwMode="auto">
            <a:xfrm>
              <a:off x="7213600" y="2481263"/>
              <a:ext cx="115888" cy="60325"/>
            </a:xfrm>
            <a:prstGeom prst="rect">
              <a:avLst/>
            </a:prstGeom>
            <a:solidFill>
              <a:srgbClr val="68686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77"/>
            <p:cNvSpPr>
              <a:spLocks/>
            </p:cNvSpPr>
            <p:nvPr/>
          </p:nvSpPr>
          <p:spPr bwMode="auto">
            <a:xfrm>
              <a:off x="7089775" y="2379663"/>
              <a:ext cx="93663" cy="71438"/>
            </a:xfrm>
            <a:custGeom>
              <a:avLst/>
              <a:gdLst>
                <a:gd name="T0" fmla="*/ 59 w 59"/>
                <a:gd name="T1" fmla="*/ 0 h 45"/>
                <a:gd name="T2" fmla="*/ 0 w 59"/>
                <a:gd name="T3" fmla="*/ 0 h 45"/>
                <a:gd name="T4" fmla="*/ 5 w 59"/>
                <a:gd name="T5" fmla="*/ 45 h 45"/>
                <a:gd name="T6" fmla="*/ 59 w 59"/>
                <a:gd name="T7" fmla="*/ 45 h 45"/>
                <a:gd name="T8" fmla="*/ 59 w 59"/>
                <a:gd name="T9" fmla="*/ 0 h 45"/>
              </a:gdLst>
              <a:ahLst/>
              <a:cxnLst>
                <a:cxn ang="0">
                  <a:pos x="T0" y="T1"/>
                </a:cxn>
                <a:cxn ang="0">
                  <a:pos x="T2" y="T3"/>
                </a:cxn>
                <a:cxn ang="0">
                  <a:pos x="T4" y="T5"/>
                </a:cxn>
                <a:cxn ang="0">
                  <a:pos x="T6" y="T7"/>
                </a:cxn>
                <a:cxn ang="0">
                  <a:pos x="T8" y="T9"/>
                </a:cxn>
              </a:cxnLst>
              <a:rect l="0" t="0" r="r" b="b"/>
              <a:pathLst>
                <a:path w="59" h="45">
                  <a:moveTo>
                    <a:pt x="59" y="0"/>
                  </a:moveTo>
                  <a:lnTo>
                    <a:pt x="0" y="0"/>
                  </a:lnTo>
                  <a:lnTo>
                    <a:pt x="5" y="45"/>
                  </a:lnTo>
                  <a:lnTo>
                    <a:pt x="59" y="45"/>
                  </a:lnTo>
                  <a:lnTo>
                    <a:pt x="59" y="0"/>
                  </a:lnTo>
                  <a:close/>
                </a:path>
              </a:pathLst>
            </a:cu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78"/>
            <p:cNvSpPr>
              <a:spLocks/>
            </p:cNvSpPr>
            <p:nvPr/>
          </p:nvSpPr>
          <p:spPr bwMode="auto">
            <a:xfrm>
              <a:off x="7100888" y="2481263"/>
              <a:ext cx="82550" cy="60325"/>
            </a:xfrm>
            <a:custGeom>
              <a:avLst/>
              <a:gdLst>
                <a:gd name="T0" fmla="*/ 52 w 52"/>
                <a:gd name="T1" fmla="*/ 38 h 38"/>
                <a:gd name="T2" fmla="*/ 52 w 52"/>
                <a:gd name="T3" fmla="*/ 0 h 38"/>
                <a:gd name="T4" fmla="*/ 0 w 52"/>
                <a:gd name="T5" fmla="*/ 0 h 38"/>
                <a:gd name="T6" fmla="*/ 4 w 52"/>
                <a:gd name="T7" fmla="*/ 38 h 38"/>
                <a:gd name="T8" fmla="*/ 52 w 52"/>
                <a:gd name="T9" fmla="*/ 38 h 38"/>
              </a:gdLst>
              <a:ahLst/>
              <a:cxnLst>
                <a:cxn ang="0">
                  <a:pos x="T0" y="T1"/>
                </a:cxn>
                <a:cxn ang="0">
                  <a:pos x="T2" y="T3"/>
                </a:cxn>
                <a:cxn ang="0">
                  <a:pos x="T4" y="T5"/>
                </a:cxn>
                <a:cxn ang="0">
                  <a:pos x="T6" y="T7"/>
                </a:cxn>
                <a:cxn ang="0">
                  <a:pos x="T8" y="T9"/>
                </a:cxn>
              </a:cxnLst>
              <a:rect l="0" t="0" r="r" b="b"/>
              <a:pathLst>
                <a:path w="52" h="38">
                  <a:moveTo>
                    <a:pt x="52" y="38"/>
                  </a:moveTo>
                  <a:lnTo>
                    <a:pt x="52" y="0"/>
                  </a:lnTo>
                  <a:lnTo>
                    <a:pt x="0" y="0"/>
                  </a:lnTo>
                  <a:lnTo>
                    <a:pt x="4" y="38"/>
                  </a:lnTo>
                  <a:lnTo>
                    <a:pt x="52" y="38"/>
                  </a:lnTo>
                  <a:close/>
                </a:path>
              </a:pathLst>
            </a:cu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79"/>
            <p:cNvSpPr>
              <a:spLocks/>
            </p:cNvSpPr>
            <p:nvPr/>
          </p:nvSpPr>
          <p:spPr bwMode="auto">
            <a:xfrm>
              <a:off x="7081838" y="2287588"/>
              <a:ext cx="101600" cy="60325"/>
            </a:xfrm>
            <a:custGeom>
              <a:avLst/>
              <a:gdLst>
                <a:gd name="T0" fmla="*/ 64 w 64"/>
                <a:gd name="T1" fmla="*/ 0 h 38"/>
                <a:gd name="T2" fmla="*/ 0 w 64"/>
                <a:gd name="T3" fmla="*/ 0 h 38"/>
                <a:gd name="T4" fmla="*/ 4 w 64"/>
                <a:gd name="T5" fmla="*/ 38 h 38"/>
                <a:gd name="T6" fmla="*/ 64 w 64"/>
                <a:gd name="T7" fmla="*/ 38 h 38"/>
                <a:gd name="T8" fmla="*/ 64 w 64"/>
                <a:gd name="T9" fmla="*/ 0 h 38"/>
              </a:gdLst>
              <a:ahLst/>
              <a:cxnLst>
                <a:cxn ang="0">
                  <a:pos x="T0" y="T1"/>
                </a:cxn>
                <a:cxn ang="0">
                  <a:pos x="T2" y="T3"/>
                </a:cxn>
                <a:cxn ang="0">
                  <a:pos x="T4" y="T5"/>
                </a:cxn>
                <a:cxn ang="0">
                  <a:pos x="T6" y="T7"/>
                </a:cxn>
                <a:cxn ang="0">
                  <a:pos x="T8" y="T9"/>
                </a:cxn>
              </a:cxnLst>
              <a:rect l="0" t="0" r="r" b="b"/>
              <a:pathLst>
                <a:path w="64" h="38">
                  <a:moveTo>
                    <a:pt x="64" y="0"/>
                  </a:moveTo>
                  <a:lnTo>
                    <a:pt x="0" y="0"/>
                  </a:lnTo>
                  <a:lnTo>
                    <a:pt x="4" y="38"/>
                  </a:lnTo>
                  <a:lnTo>
                    <a:pt x="64" y="38"/>
                  </a:lnTo>
                  <a:lnTo>
                    <a:pt x="64" y="0"/>
                  </a:lnTo>
                  <a:close/>
                </a:path>
              </a:pathLst>
            </a:cu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80"/>
            <p:cNvSpPr>
              <a:spLocks/>
            </p:cNvSpPr>
            <p:nvPr/>
          </p:nvSpPr>
          <p:spPr bwMode="auto">
            <a:xfrm>
              <a:off x="7359650" y="2481263"/>
              <a:ext cx="73025" cy="60325"/>
            </a:xfrm>
            <a:custGeom>
              <a:avLst/>
              <a:gdLst>
                <a:gd name="T0" fmla="*/ 0 w 46"/>
                <a:gd name="T1" fmla="*/ 38 h 38"/>
                <a:gd name="T2" fmla="*/ 39 w 46"/>
                <a:gd name="T3" fmla="*/ 38 h 38"/>
                <a:gd name="T4" fmla="*/ 46 w 46"/>
                <a:gd name="T5" fmla="*/ 0 h 38"/>
                <a:gd name="T6" fmla="*/ 0 w 46"/>
                <a:gd name="T7" fmla="*/ 0 h 38"/>
                <a:gd name="T8" fmla="*/ 0 w 46"/>
                <a:gd name="T9" fmla="*/ 38 h 38"/>
              </a:gdLst>
              <a:ahLst/>
              <a:cxnLst>
                <a:cxn ang="0">
                  <a:pos x="T0" y="T1"/>
                </a:cxn>
                <a:cxn ang="0">
                  <a:pos x="T2" y="T3"/>
                </a:cxn>
                <a:cxn ang="0">
                  <a:pos x="T4" y="T5"/>
                </a:cxn>
                <a:cxn ang="0">
                  <a:pos x="T6" y="T7"/>
                </a:cxn>
                <a:cxn ang="0">
                  <a:pos x="T8" y="T9"/>
                </a:cxn>
              </a:cxnLst>
              <a:rect l="0" t="0" r="r" b="b"/>
              <a:pathLst>
                <a:path w="46" h="38">
                  <a:moveTo>
                    <a:pt x="0" y="38"/>
                  </a:moveTo>
                  <a:lnTo>
                    <a:pt x="39" y="38"/>
                  </a:lnTo>
                  <a:lnTo>
                    <a:pt x="46" y="0"/>
                  </a:lnTo>
                  <a:lnTo>
                    <a:pt x="0" y="0"/>
                  </a:lnTo>
                  <a:lnTo>
                    <a:pt x="0" y="38"/>
                  </a:lnTo>
                  <a:close/>
                </a:path>
              </a:pathLst>
            </a:cu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Rectangle 81"/>
            <p:cNvSpPr>
              <a:spLocks noChangeArrowheads="1"/>
            </p:cNvSpPr>
            <p:nvPr/>
          </p:nvSpPr>
          <p:spPr bwMode="auto">
            <a:xfrm>
              <a:off x="7213600" y="2287588"/>
              <a:ext cx="115888" cy="60325"/>
            </a:xfrm>
            <a:prstGeom prst="rect">
              <a:avLst/>
            </a:prstGeom>
            <a:solidFill>
              <a:srgbClr val="68686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Rectangle 82"/>
            <p:cNvSpPr>
              <a:spLocks noChangeArrowheads="1"/>
            </p:cNvSpPr>
            <p:nvPr/>
          </p:nvSpPr>
          <p:spPr bwMode="auto">
            <a:xfrm>
              <a:off x="7213600" y="2379663"/>
              <a:ext cx="115888" cy="71438"/>
            </a:xfrm>
            <a:prstGeom prst="rect">
              <a:avLst/>
            </a:prstGeom>
            <a:solidFill>
              <a:srgbClr val="68686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83"/>
            <p:cNvSpPr>
              <a:spLocks/>
            </p:cNvSpPr>
            <p:nvPr/>
          </p:nvSpPr>
          <p:spPr bwMode="auto">
            <a:xfrm>
              <a:off x="7359650" y="2287588"/>
              <a:ext cx="111125" cy="60325"/>
            </a:xfrm>
            <a:custGeom>
              <a:avLst/>
              <a:gdLst>
                <a:gd name="T0" fmla="*/ 0 w 70"/>
                <a:gd name="T1" fmla="*/ 38 h 38"/>
                <a:gd name="T2" fmla="*/ 62 w 70"/>
                <a:gd name="T3" fmla="*/ 38 h 38"/>
                <a:gd name="T4" fmla="*/ 70 w 70"/>
                <a:gd name="T5" fmla="*/ 0 h 38"/>
                <a:gd name="T6" fmla="*/ 0 w 70"/>
                <a:gd name="T7" fmla="*/ 0 h 38"/>
                <a:gd name="T8" fmla="*/ 0 w 70"/>
                <a:gd name="T9" fmla="*/ 38 h 38"/>
              </a:gdLst>
              <a:ahLst/>
              <a:cxnLst>
                <a:cxn ang="0">
                  <a:pos x="T0" y="T1"/>
                </a:cxn>
                <a:cxn ang="0">
                  <a:pos x="T2" y="T3"/>
                </a:cxn>
                <a:cxn ang="0">
                  <a:pos x="T4" y="T5"/>
                </a:cxn>
                <a:cxn ang="0">
                  <a:pos x="T6" y="T7"/>
                </a:cxn>
                <a:cxn ang="0">
                  <a:pos x="T8" y="T9"/>
                </a:cxn>
              </a:cxnLst>
              <a:rect l="0" t="0" r="r" b="b"/>
              <a:pathLst>
                <a:path w="70" h="38">
                  <a:moveTo>
                    <a:pt x="0" y="38"/>
                  </a:moveTo>
                  <a:lnTo>
                    <a:pt x="62" y="38"/>
                  </a:lnTo>
                  <a:lnTo>
                    <a:pt x="70" y="0"/>
                  </a:lnTo>
                  <a:lnTo>
                    <a:pt x="0" y="0"/>
                  </a:lnTo>
                  <a:lnTo>
                    <a:pt x="0" y="38"/>
                  </a:lnTo>
                  <a:close/>
                </a:path>
              </a:pathLst>
            </a:cu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84"/>
            <p:cNvSpPr>
              <a:spLocks/>
            </p:cNvSpPr>
            <p:nvPr/>
          </p:nvSpPr>
          <p:spPr bwMode="auto">
            <a:xfrm>
              <a:off x="7359650" y="2379663"/>
              <a:ext cx="93663" cy="71438"/>
            </a:xfrm>
            <a:custGeom>
              <a:avLst/>
              <a:gdLst>
                <a:gd name="T0" fmla="*/ 0 w 59"/>
                <a:gd name="T1" fmla="*/ 45 h 45"/>
                <a:gd name="T2" fmla="*/ 50 w 59"/>
                <a:gd name="T3" fmla="*/ 45 h 45"/>
                <a:gd name="T4" fmla="*/ 59 w 59"/>
                <a:gd name="T5" fmla="*/ 0 h 45"/>
                <a:gd name="T6" fmla="*/ 0 w 59"/>
                <a:gd name="T7" fmla="*/ 0 h 45"/>
                <a:gd name="T8" fmla="*/ 0 w 59"/>
                <a:gd name="T9" fmla="*/ 45 h 45"/>
              </a:gdLst>
              <a:ahLst/>
              <a:cxnLst>
                <a:cxn ang="0">
                  <a:pos x="T0" y="T1"/>
                </a:cxn>
                <a:cxn ang="0">
                  <a:pos x="T2" y="T3"/>
                </a:cxn>
                <a:cxn ang="0">
                  <a:pos x="T4" y="T5"/>
                </a:cxn>
                <a:cxn ang="0">
                  <a:pos x="T6" y="T7"/>
                </a:cxn>
                <a:cxn ang="0">
                  <a:pos x="T8" y="T9"/>
                </a:cxn>
              </a:cxnLst>
              <a:rect l="0" t="0" r="r" b="b"/>
              <a:pathLst>
                <a:path w="59" h="45">
                  <a:moveTo>
                    <a:pt x="0" y="45"/>
                  </a:moveTo>
                  <a:lnTo>
                    <a:pt x="50" y="45"/>
                  </a:lnTo>
                  <a:lnTo>
                    <a:pt x="59" y="0"/>
                  </a:lnTo>
                  <a:lnTo>
                    <a:pt x="0" y="0"/>
                  </a:lnTo>
                  <a:lnTo>
                    <a:pt x="0" y="45"/>
                  </a:lnTo>
                  <a:close/>
                </a:path>
              </a:pathLst>
            </a:cu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85"/>
            <p:cNvSpPr>
              <a:spLocks/>
            </p:cNvSpPr>
            <p:nvPr/>
          </p:nvSpPr>
          <p:spPr bwMode="auto">
            <a:xfrm>
              <a:off x="6956425" y="2273300"/>
              <a:ext cx="465138" cy="330200"/>
            </a:xfrm>
            <a:custGeom>
              <a:avLst/>
              <a:gdLst>
                <a:gd name="T0" fmla="*/ 58 w 293"/>
                <a:gd name="T1" fmla="*/ 0 h 208"/>
                <a:gd name="T2" fmla="*/ 0 w 293"/>
                <a:gd name="T3" fmla="*/ 0 h 208"/>
                <a:gd name="T4" fmla="*/ 0 w 293"/>
                <a:gd name="T5" fmla="*/ 19 h 208"/>
                <a:gd name="T6" fmla="*/ 41 w 293"/>
                <a:gd name="T7" fmla="*/ 19 h 208"/>
                <a:gd name="T8" fmla="*/ 57 w 293"/>
                <a:gd name="T9" fmla="*/ 208 h 208"/>
                <a:gd name="T10" fmla="*/ 293 w 293"/>
                <a:gd name="T11" fmla="*/ 208 h 208"/>
                <a:gd name="T12" fmla="*/ 293 w 293"/>
                <a:gd name="T13" fmla="*/ 189 h 208"/>
                <a:gd name="T14" fmla="*/ 75 w 293"/>
                <a:gd name="T15" fmla="*/ 189 h 208"/>
                <a:gd name="T16" fmla="*/ 58 w 293"/>
                <a:gd name="T17"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3" h="208">
                  <a:moveTo>
                    <a:pt x="58" y="0"/>
                  </a:moveTo>
                  <a:lnTo>
                    <a:pt x="0" y="0"/>
                  </a:lnTo>
                  <a:lnTo>
                    <a:pt x="0" y="19"/>
                  </a:lnTo>
                  <a:lnTo>
                    <a:pt x="41" y="19"/>
                  </a:lnTo>
                  <a:lnTo>
                    <a:pt x="57" y="208"/>
                  </a:lnTo>
                  <a:lnTo>
                    <a:pt x="293" y="208"/>
                  </a:lnTo>
                  <a:lnTo>
                    <a:pt x="293" y="189"/>
                  </a:lnTo>
                  <a:lnTo>
                    <a:pt x="75" y="189"/>
                  </a:lnTo>
                  <a:lnTo>
                    <a:pt x="58" y="0"/>
                  </a:lnTo>
                  <a:close/>
                </a:path>
              </a:pathLst>
            </a:cu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Oval 86"/>
            <p:cNvSpPr>
              <a:spLocks noChangeArrowheads="1"/>
            </p:cNvSpPr>
            <p:nvPr/>
          </p:nvSpPr>
          <p:spPr bwMode="auto">
            <a:xfrm>
              <a:off x="7046913" y="2633663"/>
              <a:ext cx="93663" cy="93663"/>
            </a:xfrm>
            <a:prstGeom prst="ellipse">
              <a:avLst/>
            </a:pr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Oval 87"/>
            <p:cNvSpPr>
              <a:spLocks noChangeArrowheads="1"/>
            </p:cNvSpPr>
            <p:nvPr/>
          </p:nvSpPr>
          <p:spPr bwMode="auto">
            <a:xfrm>
              <a:off x="7318375" y="2633663"/>
              <a:ext cx="95250" cy="93663"/>
            </a:xfrm>
            <a:prstGeom prst="ellipse">
              <a:avLst/>
            </a:prstGeom>
            <a:solidFill>
              <a:srgbClr val="68686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 name="TextBox 1"/>
          <p:cNvSpPr txBox="1"/>
          <p:nvPr/>
        </p:nvSpPr>
        <p:spPr>
          <a:xfrm>
            <a:off x="506243" y="2129976"/>
            <a:ext cx="1575139" cy="477065"/>
          </a:xfrm>
          <a:prstGeom prst="rect">
            <a:avLst/>
          </a:prstGeom>
          <a:noFill/>
        </p:spPr>
        <p:txBody>
          <a:bodyPr wrap="none" rtlCol="0">
            <a:spAutoFit/>
          </a:bodyPr>
          <a:lstStyle/>
          <a:p>
            <a:r>
              <a:rPr lang="en-US" dirty="0">
                <a:solidFill>
                  <a:srgbClr val="0000FF"/>
                </a:solidFill>
              </a:rPr>
              <a:t>Timeliness</a:t>
            </a:r>
          </a:p>
        </p:txBody>
      </p:sp>
      <p:sp>
        <p:nvSpPr>
          <p:cNvPr id="89" name="TextBox 88"/>
          <p:cNvSpPr txBox="1"/>
          <p:nvPr/>
        </p:nvSpPr>
        <p:spPr>
          <a:xfrm>
            <a:off x="479280" y="3892360"/>
            <a:ext cx="1255468" cy="477065"/>
          </a:xfrm>
          <a:prstGeom prst="rect">
            <a:avLst/>
          </a:prstGeom>
          <a:noFill/>
        </p:spPr>
        <p:txBody>
          <a:bodyPr wrap="none" rtlCol="0">
            <a:spAutoFit/>
          </a:bodyPr>
          <a:lstStyle/>
          <a:p>
            <a:r>
              <a:rPr lang="en-US" dirty="0">
                <a:solidFill>
                  <a:srgbClr val="0000FF"/>
                </a:solidFill>
              </a:rPr>
              <a:t>Reliable</a:t>
            </a:r>
          </a:p>
        </p:txBody>
      </p:sp>
      <p:sp>
        <p:nvSpPr>
          <p:cNvPr id="90" name="TextBox 89"/>
          <p:cNvSpPr txBox="1"/>
          <p:nvPr/>
        </p:nvSpPr>
        <p:spPr>
          <a:xfrm>
            <a:off x="3054079" y="2680860"/>
            <a:ext cx="1868195" cy="477065"/>
          </a:xfrm>
          <a:prstGeom prst="rect">
            <a:avLst/>
          </a:prstGeom>
          <a:noFill/>
        </p:spPr>
        <p:txBody>
          <a:bodyPr wrap="none" rtlCol="0">
            <a:spAutoFit/>
          </a:bodyPr>
          <a:lstStyle/>
          <a:p>
            <a:r>
              <a:rPr lang="en-US" dirty="0">
                <a:solidFill>
                  <a:srgbClr val="0000FF"/>
                </a:solidFill>
              </a:rPr>
              <a:t>Concurrency</a:t>
            </a:r>
          </a:p>
        </p:txBody>
      </p:sp>
      <p:sp>
        <p:nvSpPr>
          <p:cNvPr id="91" name="TextBox 90"/>
          <p:cNvSpPr txBox="1"/>
          <p:nvPr/>
        </p:nvSpPr>
        <p:spPr>
          <a:xfrm>
            <a:off x="5387831" y="3917746"/>
            <a:ext cx="1064869" cy="477065"/>
          </a:xfrm>
          <a:prstGeom prst="rect">
            <a:avLst/>
          </a:prstGeom>
          <a:noFill/>
        </p:spPr>
        <p:txBody>
          <a:bodyPr wrap="none" rtlCol="0">
            <a:spAutoFit/>
          </a:bodyPr>
          <a:lstStyle/>
          <a:p>
            <a:r>
              <a:rPr lang="en-US" dirty="0">
                <a:solidFill>
                  <a:srgbClr val="0000FF"/>
                </a:solidFill>
              </a:rPr>
              <a:t>Evolve</a:t>
            </a:r>
          </a:p>
        </p:txBody>
      </p:sp>
      <p:sp>
        <p:nvSpPr>
          <p:cNvPr id="92" name="TextBox 91"/>
          <p:cNvSpPr txBox="1"/>
          <p:nvPr/>
        </p:nvSpPr>
        <p:spPr>
          <a:xfrm>
            <a:off x="5750413" y="2118544"/>
            <a:ext cx="2023751" cy="477065"/>
          </a:xfrm>
          <a:prstGeom prst="rect">
            <a:avLst/>
          </a:prstGeom>
          <a:noFill/>
        </p:spPr>
        <p:txBody>
          <a:bodyPr wrap="none" rtlCol="0">
            <a:spAutoFit/>
          </a:bodyPr>
          <a:lstStyle/>
          <a:p>
            <a:r>
              <a:rPr lang="en-US" dirty="0">
                <a:solidFill>
                  <a:srgbClr val="0000FF"/>
                </a:solidFill>
              </a:rPr>
              <a:t>Heterogeneity</a:t>
            </a:r>
          </a:p>
        </p:txBody>
      </p:sp>
      <p:sp>
        <p:nvSpPr>
          <p:cNvPr id="93" name="TextBox 92"/>
          <p:cNvSpPr txBox="1"/>
          <p:nvPr/>
        </p:nvSpPr>
        <p:spPr bwMode="auto">
          <a:xfrm>
            <a:off x="1058594" y="4582267"/>
            <a:ext cx="1859391" cy="993885"/>
          </a:xfrm>
          <a:prstGeom prst="rect">
            <a:avLst/>
          </a:prstGeom>
          <a:noFill/>
        </p:spPr>
        <p:txBody>
          <a:bodyPr wrap="square">
            <a:spAutoFit/>
          </a:bodyPr>
          <a:lstStyle/>
          <a:p>
            <a:pPr fontAlgn="auto">
              <a:spcBef>
                <a:spcPts val="0"/>
              </a:spcBef>
              <a:spcAft>
                <a:spcPts val="0"/>
              </a:spcAft>
              <a:defRPr/>
            </a:pPr>
            <a:r>
              <a:rPr lang="en-US" sz="1100" dirty="0">
                <a:solidFill>
                  <a:srgbClr val="FF0000"/>
                </a:solidFill>
              </a:rPr>
              <a:t>Challenge</a:t>
            </a:r>
            <a:r>
              <a:rPr lang="en-US" sz="1100" dirty="0"/>
              <a:t>: Process and tool supports is not properly developed</a:t>
            </a:r>
          </a:p>
        </p:txBody>
      </p:sp>
      <p:sp>
        <p:nvSpPr>
          <p:cNvPr id="94" name="TextBox 93"/>
          <p:cNvSpPr txBox="1"/>
          <p:nvPr/>
        </p:nvSpPr>
        <p:spPr bwMode="auto">
          <a:xfrm>
            <a:off x="3717538" y="1124086"/>
            <a:ext cx="1859391" cy="775231"/>
          </a:xfrm>
          <a:prstGeom prst="rect">
            <a:avLst/>
          </a:prstGeom>
          <a:noFill/>
        </p:spPr>
        <p:txBody>
          <a:bodyPr wrap="square">
            <a:spAutoFit/>
          </a:bodyPr>
          <a:lstStyle/>
          <a:p>
            <a:pPr fontAlgn="auto">
              <a:spcBef>
                <a:spcPts val="0"/>
              </a:spcBef>
              <a:spcAft>
                <a:spcPts val="0"/>
              </a:spcAft>
              <a:defRPr/>
            </a:pPr>
            <a:r>
              <a:rPr lang="en-US" sz="1100" dirty="0">
                <a:solidFill>
                  <a:srgbClr val="FF0000"/>
                </a:solidFill>
              </a:rPr>
              <a:t>Challenge</a:t>
            </a:r>
            <a:r>
              <a:rPr lang="en-US" sz="1100" dirty="0"/>
              <a:t>: RTOS and RT scheduling is difficult to adapt</a:t>
            </a:r>
          </a:p>
        </p:txBody>
      </p:sp>
      <p:sp>
        <p:nvSpPr>
          <p:cNvPr id="95" name="TextBox 94"/>
          <p:cNvSpPr txBox="1"/>
          <p:nvPr/>
        </p:nvSpPr>
        <p:spPr bwMode="auto">
          <a:xfrm>
            <a:off x="5803624" y="4708622"/>
            <a:ext cx="1859391" cy="775231"/>
          </a:xfrm>
          <a:prstGeom prst="rect">
            <a:avLst/>
          </a:prstGeom>
          <a:noFill/>
        </p:spPr>
        <p:txBody>
          <a:bodyPr wrap="square">
            <a:spAutoFit/>
          </a:bodyPr>
          <a:lstStyle/>
          <a:p>
            <a:pPr fontAlgn="auto">
              <a:spcBef>
                <a:spcPts val="0"/>
              </a:spcBef>
              <a:spcAft>
                <a:spcPts val="0"/>
              </a:spcAft>
              <a:defRPr/>
            </a:pPr>
            <a:r>
              <a:rPr lang="en-US" sz="1100" dirty="0">
                <a:solidFill>
                  <a:srgbClr val="FF0000"/>
                </a:solidFill>
              </a:rPr>
              <a:t>Challenge</a:t>
            </a:r>
            <a:r>
              <a:rPr lang="en-US" sz="1100" dirty="0"/>
              <a:t>: Requirements and design</a:t>
            </a:r>
          </a:p>
        </p:txBody>
      </p:sp>
      <p:sp>
        <p:nvSpPr>
          <p:cNvPr id="96" name="TextBox 95"/>
          <p:cNvSpPr txBox="1"/>
          <p:nvPr/>
        </p:nvSpPr>
        <p:spPr bwMode="auto">
          <a:xfrm>
            <a:off x="6870207" y="1238036"/>
            <a:ext cx="1859391" cy="556576"/>
          </a:xfrm>
          <a:prstGeom prst="rect">
            <a:avLst/>
          </a:prstGeom>
          <a:noFill/>
        </p:spPr>
        <p:txBody>
          <a:bodyPr wrap="square">
            <a:spAutoFit/>
          </a:bodyPr>
          <a:lstStyle/>
          <a:p>
            <a:pPr fontAlgn="auto">
              <a:spcBef>
                <a:spcPts val="0"/>
              </a:spcBef>
              <a:spcAft>
                <a:spcPts val="0"/>
              </a:spcAft>
              <a:defRPr/>
            </a:pPr>
            <a:r>
              <a:rPr lang="en-US" sz="1100" dirty="0">
                <a:solidFill>
                  <a:srgbClr val="FF0000"/>
                </a:solidFill>
              </a:rPr>
              <a:t>Challenge</a:t>
            </a:r>
            <a:r>
              <a:rPr lang="en-US" sz="1100" dirty="0"/>
              <a:t>: Theories, method and tools</a:t>
            </a:r>
          </a:p>
        </p:txBody>
      </p:sp>
    </p:spTree>
    <p:extLst>
      <p:ext uri="{BB962C8B-B14F-4D97-AF65-F5344CB8AC3E}">
        <p14:creationId xmlns:p14="http://schemas.microsoft.com/office/powerpoint/2010/main" val="1124514547"/>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954"/>
            <a:ext cx="3810998" cy="369332"/>
          </a:xfrm>
          <a:prstGeom prst="rect">
            <a:avLst/>
          </a:prstGeom>
          <a:noFill/>
        </p:spPr>
        <p:txBody>
          <a:bodyPr wrap="none" rtlCol="0">
            <a:spAutoFit/>
          </a:bodyPr>
          <a:lstStyle/>
          <a:p>
            <a:r>
              <a:rPr lang="en-US" dirty="0">
                <a:solidFill>
                  <a:schemeClr val="tx1">
                    <a:lumMod val="50000"/>
                    <a:lumOff val="50000"/>
                  </a:schemeClr>
                </a:solidFill>
                <a:latin typeface="Helvetica Neue Light"/>
                <a:cs typeface="Helvetica Neue Light"/>
              </a:rPr>
              <a:t>Real time AND Software Engineering</a:t>
            </a:r>
          </a:p>
        </p:txBody>
      </p:sp>
      <p:sp>
        <p:nvSpPr>
          <p:cNvPr id="5" name="Rectangle 4"/>
          <p:cNvSpPr/>
          <p:nvPr/>
        </p:nvSpPr>
        <p:spPr>
          <a:xfrm>
            <a:off x="0" y="373508"/>
            <a:ext cx="9144000" cy="8736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dirty="0">
              <a:latin typeface="Helvetica Neue Light"/>
              <a:cs typeface="Helvetica Neue Light"/>
            </a:endParaRPr>
          </a:p>
        </p:txBody>
      </p:sp>
      <p:sp>
        <p:nvSpPr>
          <p:cNvPr id="6" name="Rectangle 5"/>
          <p:cNvSpPr/>
          <p:nvPr/>
        </p:nvSpPr>
        <p:spPr>
          <a:xfrm>
            <a:off x="0" y="6339521"/>
            <a:ext cx="9144000" cy="518478"/>
          </a:xfrm>
          <a:prstGeom prst="rect">
            <a:avLst/>
          </a:prstGeom>
          <a:solidFill>
            <a:srgbClr val="31859C"/>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nchorCtr="0"/>
          <a:lstStyle/>
          <a:p>
            <a:endParaRPr lang="en-US" sz="2800" dirty="0">
              <a:latin typeface="Helvetica Neue Light"/>
              <a:cs typeface="Helvetica Neue Light"/>
            </a:endParaRPr>
          </a:p>
        </p:txBody>
      </p:sp>
      <p:sp>
        <p:nvSpPr>
          <p:cNvPr id="7" name="Rectangle 6"/>
          <p:cNvSpPr/>
          <p:nvPr/>
        </p:nvSpPr>
        <p:spPr>
          <a:xfrm>
            <a:off x="0" y="6339521"/>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Tips</a:t>
            </a:r>
          </a:p>
        </p:txBody>
      </p:sp>
      <p:sp>
        <p:nvSpPr>
          <p:cNvPr id="15" name="TextBox 14"/>
          <p:cNvSpPr txBox="1"/>
          <p:nvPr/>
        </p:nvSpPr>
        <p:spPr>
          <a:xfrm>
            <a:off x="1364657" y="6458073"/>
            <a:ext cx="1411317" cy="307777"/>
          </a:xfrm>
          <a:prstGeom prst="rect">
            <a:avLst/>
          </a:prstGeom>
          <a:noFill/>
        </p:spPr>
        <p:txBody>
          <a:bodyPr wrap="none" rtlCol="0">
            <a:spAutoFit/>
          </a:bodyPr>
          <a:lstStyle/>
          <a:p>
            <a:r>
              <a:rPr lang="en-US" sz="1400" dirty="0">
                <a:solidFill>
                  <a:schemeClr val="bg1"/>
                </a:solidFill>
                <a:latin typeface="Helvetica Neue Light"/>
                <a:cs typeface="Helvetica Neue Light"/>
              </a:rPr>
              <a:t>The relationship</a:t>
            </a:r>
          </a:p>
        </p:txBody>
      </p:sp>
      <p:grpSp>
        <p:nvGrpSpPr>
          <p:cNvPr id="68" name="Group 67"/>
          <p:cNvGrpSpPr>
            <a:grpSpLocks/>
          </p:cNvGrpSpPr>
          <p:nvPr/>
        </p:nvGrpSpPr>
        <p:grpSpPr bwMode="auto">
          <a:xfrm>
            <a:off x="656920" y="782355"/>
            <a:ext cx="1784350" cy="2789237"/>
            <a:chOff x="1475656" y="2204864"/>
            <a:chExt cx="1785323" cy="2789152"/>
          </a:xfrm>
        </p:grpSpPr>
        <p:sp>
          <p:nvSpPr>
            <p:cNvPr id="72" name="Rectangle 71"/>
            <p:cNvSpPr/>
            <p:nvPr/>
          </p:nvSpPr>
          <p:spPr>
            <a:xfrm>
              <a:off x="1475656" y="2204864"/>
              <a:ext cx="1785323" cy="268279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7" name="Rectangle 96"/>
            <p:cNvSpPr/>
            <p:nvPr/>
          </p:nvSpPr>
          <p:spPr>
            <a:xfrm>
              <a:off x="1475656" y="4713038"/>
              <a:ext cx="1785323" cy="280978"/>
            </a:xfrm>
            <a:prstGeom prst="rect">
              <a:avLst/>
            </a:pr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dirty="0"/>
                <a:t>Domain</a:t>
              </a:r>
            </a:p>
          </p:txBody>
        </p:sp>
      </p:grpSp>
      <p:grpSp>
        <p:nvGrpSpPr>
          <p:cNvPr id="98" name="Group 97"/>
          <p:cNvGrpSpPr>
            <a:grpSpLocks/>
          </p:cNvGrpSpPr>
          <p:nvPr/>
        </p:nvGrpSpPr>
        <p:grpSpPr bwMode="auto">
          <a:xfrm>
            <a:off x="3534770" y="782355"/>
            <a:ext cx="1785937" cy="2789237"/>
            <a:chOff x="3646381" y="2204864"/>
            <a:chExt cx="1785324" cy="2789152"/>
          </a:xfrm>
        </p:grpSpPr>
        <p:sp>
          <p:nvSpPr>
            <p:cNvPr id="99" name="Rectangle 98"/>
            <p:cNvSpPr/>
            <p:nvPr/>
          </p:nvSpPr>
          <p:spPr>
            <a:xfrm>
              <a:off x="3646381" y="2204864"/>
              <a:ext cx="1785324" cy="2682793"/>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0" name="Rectangle 99"/>
            <p:cNvSpPr/>
            <p:nvPr/>
          </p:nvSpPr>
          <p:spPr>
            <a:xfrm>
              <a:off x="3646381" y="4713038"/>
              <a:ext cx="1785324" cy="280978"/>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t>Software/hardware</a:t>
              </a:r>
            </a:p>
          </p:txBody>
        </p:sp>
      </p:grpSp>
      <p:grpSp>
        <p:nvGrpSpPr>
          <p:cNvPr id="101" name="Group 100"/>
          <p:cNvGrpSpPr>
            <a:grpSpLocks/>
          </p:cNvGrpSpPr>
          <p:nvPr/>
        </p:nvGrpSpPr>
        <p:grpSpPr bwMode="auto">
          <a:xfrm>
            <a:off x="6462402" y="782355"/>
            <a:ext cx="1785938" cy="2789237"/>
            <a:chOff x="5811012" y="2204864"/>
            <a:chExt cx="1785324" cy="2789152"/>
          </a:xfrm>
        </p:grpSpPr>
        <p:sp>
          <p:nvSpPr>
            <p:cNvPr id="102" name="Rectangle 101"/>
            <p:cNvSpPr/>
            <p:nvPr/>
          </p:nvSpPr>
          <p:spPr>
            <a:xfrm>
              <a:off x="5811012" y="2204864"/>
              <a:ext cx="1785324" cy="268279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3" name="Rectangle 102"/>
            <p:cNvSpPr/>
            <p:nvPr/>
          </p:nvSpPr>
          <p:spPr>
            <a:xfrm>
              <a:off x="5811012" y="4713038"/>
              <a:ext cx="1785324" cy="280978"/>
            </a:xfrm>
            <a:prstGeom prst="rect">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t>Product</a:t>
              </a:r>
            </a:p>
          </p:txBody>
        </p:sp>
      </p:grpSp>
      <p:sp>
        <p:nvSpPr>
          <p:cNvPr id="9" name="TextBox 8"/>
          <p:cNvSpPr txBox="1"/>
          <p:nvPr/>
        </p:nvSpPr>
        <p:spPr>
          <a:xfrm>
            <a:off x="1000752" y="1078948"/>
            <a:ext cx="1010726" cy="369332"/>
          </a:xfrm>
          <a:prstGeom prst="rect">
            <a:avLst/>
          </a:prstGeom>
          <a:noFill/>
        </p:spPr>
        <p:txBody>
          <a:bodyPr wrap="none" rtlCol="0">
            <a:spAutoFit/>
          </a:bodyPr>
          <a:lstStyle/>
          <a:p>
            <a:r>
              <a:rPr lang="en-US" dirty="0">
                <a:solidFill>
                  <a:schemeClr val="bg1"/>
                </a:solidFill>
              </a:rPr>
              <a:t>Military</a:t>
            </a:r>
          </a:p>
        </p:txBody>
      </p:sp>
      <p:sp>
        <p:nvSpPr>
          <p:cNvPr id="105" name="TextBox 104"/>
          <p:cNvSpPr txBox="1"/>
          <p:nvPr/>
        </p:nvSpPr>
        <p:spPr>
          <a:xfrm>
            <a:off x="914282" y="1571665"/>
            <a:ext cx="1332178" cy="369332"/>
          </a:xfrm>
          <a:prstGeom prst="rect">
            <a:avLst/>
          </a:prstGeom>
          <a:noFill/>
        </p:spPr>
        <p:txBody>
          <a:bodyPr wrap="none" rtlCol="0">
            <a:spAutoFit/>
          </a:bodyPr>
          <a:lstStyle/>
          <a:p>
            <a:r>
              <a:rPr lang="en-US" dirty="0">
                <a:solidFill>
                  <a:schemeClr val="bg1"/>
                </a:solidFill>
              </a:rPr>
              <a:t>Healthcare</a:t>
            </a:r>
          </a:p>
        </p:txBody>
      </p:sp>
      <p:sp>
        <p:nvSpPr>
          <p:cNvPr id="106" name="TextBox 105"/>
          <p:cNvSpPr txBox="1"/>
          <p:nvPr/>
        </p:nvSpPr>
        <p:spPr>
          <a:xfrm>
            <a:off x="841358" y="2090316"/>
            <a:ext cx="1405102" cy="369332"/>
          </a:xfrm>
          <a:prstGeom prst="rect">
            <a:avLst/>
          </a:prstGeom>
          <a:noFill/>
        </p:spPr>
        <p:txBody>
          <a:bodyPr wrap="none" rtlCol="0">
            <a:spAutoFit/>
          </a:bodyPr>
          <a:lstStyle/>
          <a:p>
            <a:r>
              <a:rPr lang="en-US" dirty="0">
                <a:solidFill>
                  <a:schemeClr val="bg1"/>
                </a:solidFill>
              </a:rPr>
              <a:t>Forecasting</a:t>
            </a:r>
          </a:p>
        </p:txBody>
      </p:sp>
      <p:sp>
        <p:nvSpPr>
          <p:cNvPr id="107" name="TextBox 106"/>
          <p:cNvSpPr txBox="1"/>
          <p:nvPr/>
        </p:nvSpPr>
        <p:spPr>
          <a:xfrm>
            <a:off x="1057511" y="2596741"/>
            <a:ext cx="646331" cy="369332"/>
          </a:xfrm>
          <a:prstGeom prst="rect">
            <a:avLst/>
          </a:prstGeom>
          <a:noFill/>
        </p:spPr>
        <p:txBody>
          <a:bodyPr wrap="none" rtlCol="0">
            <a:spAutoFit/>
          </a:bodyPr>
          <a:lstStyle/>
          <a:p>
            <a:r>
              <a:rPr lang="en-US" dirty="0">
                <a:solidFill>
                  <a:schemeClr val="bg1"/>
                </a:solidFill>
              </a:rPr>
              <a:t>……</a:t>
            </a:r>
          </a:p>
        </p:txBody>
      </p:sp>
      <p:sp>
        <p:nvSpPr>
          <p:cNvPr id="108" name="TextBox 107"/>
          <p:cNvSpPr txBox="1"/>
          <p:nvPr/>
        </p:nvSpPr>
        <p:spPr>
          <a:xfrm>
            <a:off x="6730667" y="1443985"/>
            <a:ext cx="1197150" cy="646331"/>
          </a:xfrm>
          <a:prstGeom prst="rect">
            <a:avLst/>
          </a:prstGeom>
          <a:noFill/>
        </p:spPr>
        <p:txBody>
          <a:bodyPr wrap="none" rtlCol="0">
            <a:spAutoFit/>
          </a:bodyPr>
          <a:lstStyle/>
          <a:p>
            <a:pPr algn="ctr"/>
            <a:r>
              <a:rPr lang="en-US" dirty="0">
                <a:solidFill>
                  <a:schemeClr val="bg1"/>
                </a:solidFill>
              </a:rPr>
              <a:t>Real-time</a:t>
            </a:r>
          </a:p>
          <a:p>
            <a:pPr algn="ctr"/>
            <a:r>
              <a:rPr lang="en-US" dirty="0">
                <a:solidFill>
                  <a:schemeClr val="bg1"/>
                </a:solidFill>
              </a:rPr>
              <a:t>system</a:t>
            </a:r>
          </a:p>
        </p:txBody>
      </p:sp>
      <p:sp>
        <p:nvSpPr>
          <p:cNvPr id="109" name="TextBox 108"/>
          <p:cNvSpPr txBox="1"/>
          <p:nvPr/>
        </p:nvSpPr>
        <p:spPr>
          <a:xfrm>
            <a:off x="3454084" y="1597261"/>
            <a:ext cx="1959428" cy="954107"/>
          </a:xfrm>
          <a:prstGeom prst="rect">
            <a:avLst/>
          </a:prstGeom>
          <a:noFill/>
        </p:spPr>
        <p:txBody>
          <a:bodyPr wrap="none" rtlCol="0">
            <a:spAutoFit/>
          </a:bodyPr>
          <a:lstStyle/>
          <a:p>
            <a:pPr algn="ctr"/>
            <a:r>
              <a:rPr lang="en-US" sz="1400" dirty="0">
                <a:solidFill>
                  <a:schemeClr val="bg1"/>
                </a:solidFill>
              </a:rPr>
              <a:t>System</a:t>
            </a:r>
          </a:p>
          <a:p>
            <a:pPr algn="ctr"/>
            <a:r>
              <a:rPr lang="en-US" sz="1400" dirty="0">
                <a:solidFill>
                  <a:schemeClr val="bg1"/>
                </a:solidFill>
              </a:rPr>
              <a:t>Development/</a:t>
            </a:r>
          </a:p>
          <a:p>
            <a:pPr algn="ctr"/>
            <a:r>
              <a:rPr lang="en-US" sz="1400" dirty="0">
                <a:solidFill>
                  <a:schemeClr val="bg1"/>
                </a:solidFill>
              </a:rPr>
              <a:t>Software engineering</a:t>
            </a:r>
          </a:p>
          <a:p>
            <a:pPr algn="ctr"/>
            <a:r>
              <a:rPr lang="en-US" sz="1400" dirty="0">
                <a:solidFill>
                  <a:schemeClr val="bg1"/>
                </a:solidFill>
              </a:rPr>
              <a:t>concepts</a:t>
            </a:r>
          </a:p>
        </p:txBody>
      </p:sp>
      <p:sp>
        <p:nvSpPr>
          <p:cNvPr id="111" name="Oval 110"/>
          <p:cNvSpPr/>
          <p:nvPr/>
        </p:nvSpPr>
        <p:spPr bwMode="auto">
          <a:xfrm>
            <a:off x="5023976" y="3929036"/>
            <a:ext cx="1427289" cy="1293834"/>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4" name="Oval 113"/>
          <p:cNvSpPr/>
          <p:nvPr/>
        </p:nvSpPr>
        <p:spPr bwMode="auto">
          <a:xfrm>
            <a:off x="3784715" y="3929036"/>
            <a:ext cx="1427289" cy="1293834"/>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7" name="Oval 116"/>
          <p:cNvSpPr/>
          <p:nvPr/>
        </p:nvSpPr>
        <p:spPr bwMode="auto">
          <a:xfrm>
            <a:off x="2515291" y="3929036"/>
            <a:ext cx="1427289" cy="1293834"/>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9" name="TextBox 118"/>
          <p:cNvSpPr txBox="1"/>
          <p:nvPr/>
        </p:nvSpPr>
        <p:spPr>
          <a:xfrm>
            <a:off x="2673773" y="4261279"/>
            <a:ext cx="1137225" cy="738664"/>
          </a:xfrm>
          <a:prstGeom prst="rect">
            <a:avLst/>
          </a:prstGeom>
          <a:noFill/>
        </p:spPr>
        <p:txBody>
          <a:bodyPr wrap="none" rtlCol="0">
            <a:spAutoFit/>
          </a:bodyPr>
          <a:lstStyle/>
          <a:p>
            <a:pPr algn="ctr"/>
            <a:r>
              <a:rPr lang="en-US" dirty="0"/>
              <a:t>Theories</a:t>
            </a:r>
          </a:p>
          <a:p>
            <a:pPr algn="ctr"/>
            <a:r>
              <a:rPr lang="en-US" sz="1200" dirty="0"/>
              <a:t>(real time OS,</a:t>
            </a:r>
          </a:p>
          <a:p>
            <a:pPr algn="ctr"/>
            <a:r>
              <a:rPr lang="en-US" sz="1200" dirty="0"/>
              <a:t>Scheduling)</a:t>
            </a:r>
          </a:p>
        </p:txBody>
      </p:sp>
      <p:sp>
        <p:nvSpPr>
          <p:cNvPr id="120" name="TextBox 119"/>
          <p:cNvSpPr txBox="1"/>
          <p:nvPr/>
        </p:nvSpPr>
        <p:spPr>
          <a:xfrm>
            <a:off x="4018878" y="4353612"/>
            <a:ext cx="1103262" cy="646331"/>
          </a:xfrm>
          <a:prstGeom prst="rect">
            <a:avLst/>
          </a:prstGeom>
          <a:noFill/>
        </p:spPr>
        <p:txBody>
          <a:bodyPr wrap="none" rtlCol="0">
            <a:spAutoFit/>
          </a:bodyPr>
          <a:lstStyle/>
          <a:p>
            <a:r>
              <a:rPr lang="en-US" dirty="0">
                <a:solidFill>
                  <a:srgbClr val="000000"/>
                </a:solidFill>
              </a:rPr>
              <a:t>Methods</a:t>
            </a:r>
          </a:p>
          <a:p>
            <a:endParaRPr lang="en-US" dirty="0">
              <a:solidFill>
                <a:srgbClr val="000000"/>
              </a:solidFill>
            </a:endParaRPr>
          </a:p>
        </p:txBody>
      </p:sp>
      <p:sp>
        <p:nvSpPr>
          <p:cNvPr id="121" name="TextBox 120"/>
          <p:cNvSpPr txBox="1"/>
          <p:nvPr/>
        </p:nvSpPr>
        <p:spPr>
          <a:xfrm>
            <a:off x="5367173" y="4381886"/>
            <a:ext cx="740895" cy="369332"/>
          </a:xfrm>
          <a:prstGeom prst="rect">
            <a:avLst/>
          </a:prstGeom>
          <a:noFill/>
        </p:spPr>
        <p:txBody>
          <a:bodyPr wrap="none" rtlCol="0">
            <a:spAutoFit/>
          </a:bodyPr>
          <a:lstStyle/>
          <a:p>
            <a:r>
              <a:rPr lang="en-US" dirty="0">
                <a:solidFill>
                  <a:srgbClr val="000000"/>
                </a:solidFill>
              </a:rPr>
              <a:t>Tools</a:t>
            </a:r>
          </a:p>
        </p:txBody>
      </p:sp>
      <p:sp>
        <p:nvSpPr>
          <p:cNvPr id="122" name="Down Arrow 121"/>
          <p:cNvSpPr/>
          <p:nvPr/>
        </p:nvSpPr>
        <p:spPr>
          <a:xfrm>
            <a:off x="4320307" y="3619332"/>
            <a:ext cx="291678" cy="263534"/>
          </a:xfrm>
          <a:prstGeom prst="downArrow">
            <a:avLst/>
          </a:prstGeom>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ight Arrow 9"/>
          <p:cNvSpPr/>
          <p:nvPr/>
        </p:nvSpPr>
        <p:spPr>
          <a:xfrm>
            <a:off x="2515291" y="1848000"/>
            <a:ext cx="978408" cy="484632"/>
          </a:xfrm>
          <a:prstGeom prst="rightArrow">
            <a:avLst/>
          </a:prstGeom>
          <a:solidFill>
            <a:srgbClr val="0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23" name="Right Arrow 122"/>
          <p:cNvSpPr/>
          <p:nvPr/>
        </p:nvSpPr>
        <p:spPr>
          <a:xfrm>
            <a:off x="5413512" y="1860418"/>
            <a:ext cx="978408" cy="484632"/>
          </a:xfrm>
          <a:prstGeom prst="rightArrow">
            <a:avLst/>
          </a:prstGeom>
          <a:solidFill>
            <a:srgbClr val="0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pic>
        <p:nvPicPr>
          <p:cNvPr id="11" name="Picture 10"/>
          <p:cNvPicPr>
            <a:picLocks noChangeAspect="1"/>
          </p:cNvPicPr>
          <p:nvPr/>
        </p:nvPicPr>
        <p:blipFill>
          <a:blip r:embed="rId2"/>
          <a:stretch>
            <a:fillRect/>
          </a:stretch>
        </p:blipFill>
        <p:spPr>
          <a:xfrm>
            <a:off x="3279580" y="5511916"/>
            <a:ext cx="1063507" cy="599637"/>
          </a:xfrm>
          <a:prstGeom prst="rect">
            <a:avLst/>
          </a:prstGeom>
        </p:spPr>
      </p:pic>
      <p:pic>
        <p:nvPicPr>
          <p:cNvPr id="12" name="Picture 11"/>
          <p:cNvPicPr>
            <a:picLocks noChangeAspect="1"/>
          </p:cNvPicPr>
          <p:nvPr/>
        </p:nvPicPr>
        <p:blipFill>
          <a:blip r:embed="rId3"/>
          <a:stretch>
            <a:fillRect/>
          </a:stretch>
        </p:blipFill>
        <p:spPr>
          <a:xfrm>
            <a:off x="4611985" y="5511916"/>
            <a:ext cx="1103548" cy="645220"/>
          </a:xfrm>
          <a:prstGeom prst="rect">
            <a:avLst/>
          </a:prstGeom>
        </p:spPr>
      </p:pic>
      <p:pic>
        <p:nvPicPr>
          <p:cNvPr id="13" name="Picture 12"/>
          <p:cNvPicPr>
            <a:picLocks noChangeAspect="1"/>
          </p:cNvPicPr>
          <p:nvPr/>
        </p:nvPicPr>
        <p:blipFill>
          <a:blip r:embed="rId4"/>
          <a:stretch>
            <a:fillRect/>
          </a:stretch>
        </p:blipFill>
        <p:spPr>
          <a:xfrm>
            <a:off x="6598098" y="4046300"/>
            <a:ext cx="1518081" cy="412341"/>
          </a:xfrm>
          <a:prstGeom prst="rect">
            <a:avLst/>
          </a:prstGeom>
        </p:spPr>
      </p:pic>
      <p:pic>
        <p:nvPicPr>
          <p:cNvPr id="14" name="Picture 13"/>
          <p:cNvPicPr>
            <a:picLocks noChangeAspect="1"/>
          </p:cNvPicPr>
          <p:nvPr/>
        </p:nvPicPr>
        <p:blipFill>
          <a:blip r:embed="rId5"/>
          <a:stretch>
            <a:fillRect/>
          </a:stretch>
        </p:blipFill>
        <p:spPr>
          <a:xfrm>
            <a:off x="6885572" y="4578219"/>
            <a:ext cx="1042245" cy="1037571"/>
          </a:xfrm>
          <a:prstGeom prst="rect">
            <a:avLst/>
          </a:prstGeom>
        </p:spPr>
      </p:pic>
      <p:pic>
        <p:nvPicPr>
          <p:cNvPr id="17" name="Picture 16"/>
          <p:cNvPicPr>
            <a:picLocks noChangeAspect="1"/>
          </p:cNvPicPr>
          <p:nvPr/>
        </p:nvPicPr>
        <p:blipFill>
          <a:blip r:embed="rId6"/>
          <a:stretch>
            <a:fillRect/>
          </a:stretch>
        </p:blipFill>
        <p:spPr>
          <a:xfrm>
            <a:off x="833243" y="3869528"/>
            <a:ext cx="1513185" cy="1958625"/>
          </a:xfrm>
          <a:prstGeom prst="rect">
            <a:avLst/>
          </a:prstGeom>
        </p:spPr>
      </p:pic>
    </p:spTree>
    <p:extLst>
      <p:ext uri="{BB962C8B-B14F-4D97-AF65-F5344CB8AC3E}">
        <p14:creationId xmlns:p14="http://schemas.microsoft.com/office/powerpoint/2010/main" val="106516233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98"/>
                                        </p:tgtEl>
                                        <p:attrNameLst>
                                          <p:attrName>style.visibility</p:attrName>
                                        </p:attrNameLst>
                                      </p:cBhvr>
                                      <p:to>
                                        <p:strVal val="visible"/>
                                      </p:to>
                                    </p:set>
                                    <p:anim calcmode="lin" valueType="num">
                                      <p:cBhvr>
                                        <p:cTn id="13" dur="500" fill="hold"/>
                                        <p:tgtEl>
                                          <p:spTgt spid="98"/>
                                        </p:tgtEl>
                                        <p:attrNameLst>
                                          <p:attrName>ppt_w</p:attrName>
                                        </p:attrNameLst>
                                      </p:cBhvr>
                                      <p:tavLst>
                                        <p:tav tm="0">
                                          <p:val>
                                            <p:fltVal val="0"/>
                                          </p:val>
                                        </p:tav>
                                        <p:tav tm="100000">
                                          <p:val>
                                            <p:strVal val="#ppt_w"/>
                                          </p:val>
                                        </p:tav>
                                      </p:tavLst>
                                    </p:anim>
                                    <p:anim calcmode="lin" valueType="num">
                                      <p:cBhvr>
                                        <p:cTn id="14" dur="500" fill="hold"/>
                                        <p:tgtEl>
                                          <p:spTgt spid="98"/>
                                        </p:tgtEl>
                                        <p:attrNameLst>
                                          <p:attrName>ppt_h</p:attrName>
                                        </p:attrNameLst>
                                      </p:cBhvr>
                                      <p:tavLst>
                                        <p:tav tm="0">
                                          <p:val>
                                            <p:fltVal val="0"/>
                                          </p:val>
                                        </p:tav>
                                        <p:tav tm="100000">
                                          <p:val>
                                            <p:strVal val="#ppt_h"/>
                                          </p:val>
                                        </p:tav>
                                      </p:tavLst>
                                    </p:anim>
                                    <p:animEffect transition="in" filter="fade">
                                      <p:cBhvr>
                                        <p:cTn id="15" dur="500"/>
                                        <p:tgtEl>
                                          <p:spTgt spid="98"/>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101"/>
                                        </p:tgtEl>
                                        <p:attrNameLst>
                                          <p:attrName>style.visibility</p:attrName>
                                        </p:attrNameLst>
                                      </p:cBhvr>
                                      <p:to>
                                        <p:strVal val="visible"/>
                                      </p:to>
                                    </p:set>
                                    <p:anim calcmode="lin" valueType="num">
                                      <p:cBhvr>
                                        <p:cTn id="19" dur="500" fill="hold"/>
                                        <p:tgtEl>
                                          <p:spTgt spid="101"/>
                                        </p:tgtEl>
                                        <p:attrNameLst>
                                          <p:attrName>ppt_w</p:attrName>
                                        </p:attrNameLst>
                                      </p:cBhvr>
                                      <p:tavLst>
                                        <p:tav tm="0">
                                          <p:val>
                                            <p:fltVal val="0"/>
                                          </p:val>
                                        </p:tav>
                                        <p:tav tm="100000">
                                          <p:val>
                                            <p:strVal val="#ppt_w"/>
                                          </p:val>
                                        </p:tav>
                                      </p:tavLst>
                                    </p:anim>
                                    <p:anim calcmode="lin" valueType="num">
                                      <p:cBhvr>
                                        <p:cTn id="20" dur="500" fill="hold"/>
                                        <p:tgtEl>
                                          <p:spTgt spid="101"/>
                                        </p:tgtEl>
                                        <p:attrNameLst>
                                          <p:attrName>ppt_h</p:attrName>
                                        </p:attrNameLst>
                                      </p:cBhvr>
                                      <p:tavLst>
                                        <p:tav tm="0">
                                          <p:val>
                                            <p:fltVal val="0"/>
                                          </p:val>
                                        </p:tav>
                                        <p:tav tm="100000">
                                          <p:val>
                                            <p:strVal val="#ppt_h"/>
                                          </p:val>
                                        </p:tav>
                                      </p:tavLst>
                                    </p:anim>
                                    <p:animEffect transition="in" filter="fade">
                                      <p:cBhvr>
                                        <p:cTn id="21"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373508"/>
            <a:ext cx="9144000" cy="8736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dirty="0">
              <a:latin typeface="Helvetica Neue Light"/>
              <a:cs typeface="Helvetica Neue Light"/>
            </a:endParaRPr>
          </a:p>
        </p:txBody>
      </p:sp>
      <p:sp>
        <p:nvSpPr>
          <p:cNvPr id="6" name="Rectangle 5"/>
          <p:cNvSpPr/>
          <p:nvPr/>
        </p:nvSpPr>
        <p:spPr>
          <a:xfrm>
            <a:off x="0" y="6339521"/>
            <a:ext cx="9144000" cy="518478"/>
          </a:xfrm>
          <a:prstGeom prst="rect">
            <a:avLst/>
          </a:prstGeom>
          <a:solidFill>
            <a:srgbClr val="31859C"/>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nchorCtr="0"/>
          <a:lstStyle/>
          <a:p>
            <a:endParaRPr lang="en-US" sz="2800" dirty="0">
              <a:latin typeface="Helvetica Neue Light"/>
              <a:cs typeface="Helvetica Neue Light"/>
            </a:endParaRPr>
          </a:p>
        </p:txBody>
      </p:sp>
      <p:sp>
        <p:nvSpPr>
          <p:cNvPr id="7" name="Rectangle 6"/>
          <p:cNvSpPr/>
          <p:nvPr/>
        </p:nvSpPr>
        <p:spPr>
          <a:xfrm>
            <a:off x="0" y="6339521"/>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Tips</a:t>
            </a:r>
          </a:p>
        </p:txBody>
      </p:sp>
      <p:sp>
        <p:nvSpPr>
          <p:cNvPr id="15" name="TextBox 14"/>
          <p:cNvSpPr txBox="1"/>
          <p:nvPr/>
        </p:nvSpPr>
        <p:spPr>
          <a:xfrm>
            <a:off x="1364657" y="6458073"/>
            <a:ext cx="624883" cy="307777"/>
          </a:xfrm>
          <a:prstGeom prst="rect">
            <a:avLst/>
          </a:prstGeom>
          <a:noFill/>
        </p:spPr>
        <p:txBody>
          <a:bodyPr wrap="none" rtlCol="0">
            <a:spAutoFit/>
          </a:bodyPr>
          <a:lstStyle/>
          <a:p>
            <a:r>
              <a:rPr lang="en-US" sz="1400" dirty="0">
                <a:solidFill>
                  <a:schemeClr val="bg1"/>
                </a:solidFill>
                <a:latin typeface="Helvetica Neue Light"/>
                <a:cs typeface="Helvetica Neue Light"/>
              </a:rPr>
              <a:t>RTSE</a:t>
            </a:r>
          </a:p>
        </p:txBody>
      </p:sp>
      <p:pic>
        <p:nvPicPr>
          <p:cNvPr id="10" name="Picture 9" descr="SelfCheck_bigger">
            <a:extLst>
              <a:ext uri="{FF2B5EF4-FFF2-40B4-BE49-F238E27FC236}">
                <a16:creationId xmlns:a16="http://schemas.microsoft.com/office/drawing/2014/main" id="{8A363FE8-D05B-9F4E-9AF8-24271F60D56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452213" y="1801707"/>
            <a:ext cx="6070378" cy="2449782"/>
          </a:xfrm>
          <a:prstGeom prst="rect">
            <a:avLst/>
          </a:prstGeom>
          <a:noFill/>
          <a:ln>
            <a:noFill/>
          </a:ln>
        </p:spPr>
      </p:pic>
      <p:sp>
        <p:nvSpPr>
          <p:cNvPr id="2" name="TextBox 1">
            <a:extLst>
              <a:ext uri="{FF2B5EF4-FFF2-40B4-BE49-F238E27FC236}">
                <a16:creationId xmlns:a16="http://schemas.microsoft.com/office/drawing/2014/main" id="{2E991283-53B3-3F40-96F1-8AA1DF492E1F}"/>
              </a:ext>
            </a:extLst>
          </p:cNvPr>
          <p:cNvSpPr txBox="1"/>
          <p:nvPr/>
        </p:nvSpPr>
        <p:spPr>
          <a:xfrm>
            <a:off x="1989540" y="1885361"/>
            <a:ext cx="1032655" cy="369332"/>
          </a:xfrm>
          <a:prstGeom prst="rect">
            <a:avLst/>
          </a:prstGeom>
          <a:noFill/>
        </p:spPr>
        <p:txBody>
          <a:bodyPr wrap="none" rtlCol="0">
            <a:spAutoFit/>
          </a:bodyPr>
          <a:lstStyle/>
          <a:p>
            <a:r>
              <a:rPr lang="en-US" dirty="0"/>
              <a:t>Self-test</a:t>
            </a:r>
          </a:p>
        </p:txBody>
      </p:sp>
      <p:sp>
        <p:nvSpPr>
          <p:cNvPr id="3" name="TextBox 2">
            <a:extLst>
              <a:ext uri="{FF2B5EF4-FFF2-40B4-BE49-F238E27FC236}">
                <a16:creationId xmlns:a16="http://schemas.microsoft.com/office/drawing/2014/main" id="{1F8AF223-61C6-0746-8B5C-C92F9297E3D7}"/>
              </a:ext>
            </a:extLst>
          </p:cNvPr>
          <p:cNvSpPr txBox="1"/>
          <p:nvPr/>
        </p:nvSpPr>
        <p:spPr>
          <a:xfrm>
            <a:off x="1677098" y="2476864"/>
            <a:ext cx="5481116" cy="1477328"/>
          </a:xfrm>
          <a:prstGeom prst="rect">
            <a:avLst/>
          </a:prstGeom>
          <a:noFill/>
        </p:spPr>
        <p:txBody>
          <a:bodyPr wrap="none" rtlCol="0">
            <a:spAutoFit/>
          </a:bodyPr>
          <a:lstStyle/>
          <a:p>
            <a:pPr marL="342900" indent="-342900">
              <a:buAutoNum type="arabicPeriod"/>
            </a:pPr>
            <a:r>
              <a:rPr lang="en-US" dirty="0"/>
              <a:t>What are the relationship between Embedded </a:t>
            </a:r>
          </a:p>
          <a:p>
            <a:r>
              <a:rPr lang="en-US" dirty="0"/>
              <a:t>       Real-time System and IOT, Data analytics and </a:t>
            </a:r>
          </a:p>
          <a:p>
            <a:r>
              <a:rPr lang="en-US" dirty="0"/>
              <a:t>      Artificial Intelligence?</a:t>
            </a:r>
          </a:p>
          <a:p>
            <a:r>
              <a:rPr lang="en-US" dirty="0"/>
              <a:t>2.   What are the possible solutions of ERTS for </a:t>
            </a:r>
          </a:p>
          <a:p>
            <a:r>
              <a:rPr lang="en-US" dirty="0"/>
              <a:t>      healthcare domain?</a:t>
            </a:r>
          </a:p>
        </p:txBody>
      </p:sp>
    </p:spTree>
    <p:extLst>
      <p:ext uri="{BB962C8B-B14F-4D97-AF65-F5344CB8AC3E}">
        <p14:creationId xmlns:p14="http://schemas.microsoft.com/office/powerpoint/2010/main" val="175060832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954"/>
            <a:ext cx="750659" cy="369332"/>
          </a:xfrm>
          <a:prstGeom prst="rect">
            <a:avLst/>
          </a:prstGeom>
          <a:noFill/>
        </p:spPr>
        <p:txBody>
          <a:bodyPr wrap="none" rtlCol="0">
            <a:spAutoFit/>
          </a:bodyPr>
          <a:lstStyle/>
          <a:p>
            <a:r>
              <a:rPr lang="en-US" dirty="0">
                <a:solidFill>
                  <a:schemeClr val="tx1">
                    <a:lumMod val="50000"/>
                    <a:lumOff val="50000"/>
                  </a:schemeClr>
                </a:solidFill>
                <a:latin typeface="Helvetica Neue Light"/>
                <a:cs typeface="Helvetica Neue Light"/>
              </a:rPr>
              <a:t>RTSE</a:t>
            </a:r>
          </a:p>
        </p:txBody>
      </p:sp>
      <p:sp>
        <p:nvSpPr>
          <p:cNvPr id="5" name="Rectangle 4"/>
          <p:cNvSpPr/>
          <p:nvPr/>
        </p:nvSpPr>
        <p:spPr>
          <a:xfrm>
            <a:off x="0" y="373508"/>
            <a:ext cx="9144000" cy="8736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dirty="0">
              <a:latin typeface="Helvetica Neue Light"/>
              <a:cs typeface="Helvetica Neue Light"/>
            </a:endParaRPr>
          </a:p>
        </p:txBody>
      </p:sp>
      <p:sp>
        <p:nvSpPr>
          <p:cNvPr id="6" name="Rectangle 5"/>
          <p:cNvSpPr/>
          <p:nvPr/>
        </p:nvSpPr>
        <p:spPr>
          <a:xfrm>
            <a:off x="0" y="6339521"/>
            <a:ext cx="9144000" cy="518478"/>
          </a:xfrm>
          <a:prstGeom prst="rect">
            <a:avLst/>
          </a:prstGeom>
          <a:solidFill>
            <a:srgbClr val="31859C"/>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nchorCtr="0"/>
          <a:lstStyle/>
          <a:p>
            <a:endParaRPr lang="en-US" sz="2800" dirty="0">
              <a:latin typeface="Helvetica Neue Light"/>
              <a:cs typeface="Helvetica Neue Light"/>
            </a:endParaRPr>
          </a:p>
        </p:txBody>
      </p:sp>
      <p:sp>
        <p:nvSpPr>
          <p:cNvPr id="7" name="Rectangle 6"/>
          <p:cNvSpPr/>
          <p:nvPr/>
        </p:nvSpPr>
        <p:spPr>
          <a:xfrm>
            <a:off x="0" y="6339521"/>
            <a:ext cx="1245810" cy="51847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50000"/>
                    <a:lumOff val="50000"/>
                  </a:schemeClr>
                </a:solidFill>
                <a:latin typeface="Helvetica Neue Light"/>
                <a:cs typeface="Helvetica Neue Light"/>
              </a:rPr>
              <a:t>Tips</a:t>
            </a:r>
          </a:p>
        </p:txBody>
      </p:sp>
      <p:sp>
        <p:nvSpPr>
          <p:cNvPr id="15" name="TextBox 14"/>
          <p:cNvSpPr txBox="1"/>
          <p:nvPr/>
        </p:nvSpPr>
        <p:spPr>
          <a:xfrm>
            <a:off x="1364657" y="6458073"/>
            <a:ext cx="624883" cy="307777"/>
          </a:xfrm>
          <a:prstGeom prst="rect">
            <a:avLst/>
          </a:prstGeom>
          <a:noFill/>
        </p:spPr>
        <p:txBody>
          <a:bodyPr wrap="none" rtlCol="0">
            <a:spAutoFit/>
          </a:bodyPr>
          <a:lstStyle/>
          <a:p>
            <a:r>
              <a:rPr lang="en-US" sz="1400" dirty="0">
                <a:solidFill>
                  <a:schemeClr val="bg1"/>
                </a:solidFill>
                <a:latin typeface="Helvetica Neue Light"/>
                <a:cs typeface="Helvetica Neue Light"/>
              </a:rPr>
              <a:t>RTSE</a:t>
            </a:r>
          </a:p>
        </p:txBody>
      </p:sp>
      <p:grpSp>
        <p:nvGrpSpPr>
          <p:cNvPr id="68" name="Group 67"/>
          <p:cNvGrpSpPr/>
          <p:nvPr/>
        </p:nvGrpSpPr>
        <p:grpSpPr>
          <a:xfrm>
            <a:off x="2819400" y="1676400"/>
            <a:ext cx="3505200" cy="3505200"/>
            <a:chOff x="2819400" y="1676400"/>
            <a:chExt cx="3505200" cy="3505200"/>
          </a:xfrm>
        </p:grpSpPr>
        <p:sp>
          <p:nvSpPr>
            <p:cNvPr id="72" name="Oval 71"/>
            <p:cNvSpPr/>
            <p:nvPr/>
          </p:nvSpPr>
          <p:spPr>
            <a:xfrm>
              <a:off x="2819400" y="1676400"/>
              <a:ext cx="3505200" cy="3505200"/>
            </a:xfrm>
            <a:prstGeom prst="ellipse">
              <a:avLst/>
            </a:pr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3548674" y="3136612"/>
              <a:ext cx="1940531" cy="584775"/>
            </a:xfrm>
            <a:prstGeom prst="rect">
              <a:avLst/>
            </a:prstGeom>
          </p:spPr>
          <p:txBody>
            <a:bodyPr wrap="none">
              <a:spAutoFit/>
            </a:bodyPr>
            <a:lstStyle/>
            <a:p>
              <a:r>
                <a:rPr lang="en-US" sz="3200" b="1" dirty="0">
                  <a:solidFill>
                    <a:schemeClr val="bg1"/>
                  </a:solidFill>
                </a:rPr>
                <a:t>Thank You</a:t>
              </a:r>
            </a:p>
          </p:txBody>
        </p:sp>
      </p:grpSp>
    </p:spTree>
    <p:extLst>
      <p:ext uri="{BB962C8B-B14F-4D97-AF65-F5344CB8AC3E}">
        <p14:creationId xmlns:p14="http://schemas.microsoft.com/office/powerpoint/2010/main" val="502091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dvantage">
      <a:majorFont>
        <a:latin typeface="Rockwell"/>
        <a:ea typeface=""/>
        <a:cs typeface=""/>
        <a:font script="Jpan" typeface="ＭＳ ゴシック"/>
        <a:font script="Hans" typeface="宋体"/>
        <a:font script="Hant" typeface="新細明體"/>
      </a:majorFont>
      <a:minorFont>
        <a:latin typeface="Rockwell"/>
        <a:ea typeface=""/>
        <a:cs typeface=""/>
        <a:font script="Jpan" typeface="ＭＳ ゴシック"/>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Props1.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2.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B6F2769-7194-4217-93D3-3AF3A4742282}">
  <ds:schemaRefs>
    <ds:schemaRef ds:uri="http://schemas.microsoft.com/office/2006/metadata/properties"/>
    <ds:schemaRef ds:uri="http://schemas.microsoft.com/office/infopath/2007/PartnerControls"/>
    <ds:schemaRef ds:uri="http://schemas.microsoft.com/sharepoint/v3/fields"/>
  </ds:schemaRefs>
</ds:datastoreItem>
</file>

<file path=docProps/app.xml><?xml version="1.0" encoding="utf-8"?>
<Properties xmlns="http://schemas.openxmlformats.org/officeDocument/2006/extended-properties" xmlns:vt="http://schemas.openxmlformats.org/officeDocument/2006/docPropsVTypes">
  <Template>FNEMasterTemplateForThemePreview.pptx</Template>
  <TotalTime>8330</TotalTime>
  <Words>900</Words>
  <Application>Microsoft Macintosh PowerPoint</Application>
  <PresentationFormat>On-screen Show (4:3)</PresentationFormat>
  <Paragraphs>188</Paragraphs>
  <Slides>12</Slides>
  <Notes>5</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5" baseType="lpstr">
      <vt:lpstr>ＭＳ Ｐゴシック</vt:lpstr>
      <vt:lpstr>Arial</vt:lpstr>
      <vt:lpstr>Calibri</vt:lpstr>
      <vt:lpstr>Helvetica Neue</vt:lpstr>
      <vt:lpstr>Helvetica Neue Light</vt:lpstr>
      <vt:lpstr>Lucida Bright</vt:lpstr>
      <vt:lpstr>Lucida Calligraphy</vt:lpstr>
      <vt:lpstr>Palatino Linotype</vt:lpstr>
      <vt:lpstr>Rockwell</vt:lpstr>
      <vt:lpstr>Times New Roman</vt:lpstr>
      <vt:lpstr>Wingdings</vt:lpstr>
      <vt:lpstr>Office Theme</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FileNewTemplate</dc:title>
  <dc:creator>Diana</dc:creator>
  <cp:lastModifiedBy>mohd adham isa</cp:lastModifiedBy>
  <cp:revision>114</cp:revision>
  <dcterms:created xsi:type="dcterms:W3CDTF">2010-04-12T23:12:02Z</dcterms:created>
  <dcterms:modified xsi:type="dcterms:W3CDTF">2019-01-28T00:57:50Z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